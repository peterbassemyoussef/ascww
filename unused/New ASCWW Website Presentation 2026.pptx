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256" r:id="rId2"/>
    <p:sldId id="269" r:id="rId3"/>
    <p:sldId id="257" r:id="rId4"/>
    <p:sldId id="258" r:id="rId5"/>
    <p:sldId id="268" r:id="rId6"/>
    <p:sldId id="259" r:id="rId7"/>
    <p:sldId id="260" r:id="rId8"/>
    <p:sldId id="261" r:id="rId9"/>
    <p:sldId id="262" r:id="rId10"/>
    <p:sldId id="263" r:id="rId11"/>
    <p:sldId id="270" r:id="rId12"/>
    <p:sldId id="267" r:id="rId13"/>
    <p:sldId id="265" r:id="rId14"/>
    <p:sldId id="266" r:id="rId15"/>
  </p:sldIdLst>
  <p:sldSz cx="14630400" cy="8229600"/>
  <p:notesSz cx="7559675" cy="10691813"/>
  <p:embeddedFontLst>
    <p:embeddedFont>
      <p:font typeface="Alice" panose="020B0604020202020204" charset="0"/>
      <p:regular r:id="rId17"/>
      <p:bold r:id="rId17"/>
    </p:embeddedFont>
    <p:embeddedFont>
      <p:font typeface="Amiri" panose="00000500000000000000" pitchFamily="2" charset="-78"/>
      <p:regular r:id="rId18"/>
      <p:bold r:id="rId19"/>
      <p:italic r:id="rId20"/>
      <p:boldItalic r:id="rId21"/>
    </p:embeddedFont>
    <p:embeddedFont>
      <p:font typeface="Arial Rounded MT Bold" panose="020F0704030504030204" pitchFamily="34" charset="0"/>
      <p:regular r:id="rId22"/>
      <p:bold r:id="rId22"/>
    </p:embeddedFont>
    <p:embeddedFont>
      <p:font typeface="Script MT Bold" panose="03040602040607080904" pitchFamily="66" charset="0"/>
      <p:bold r:id="rId23"/>
    </p:embeddedFont>
    <p:embeddedFont>
      <p:font typeface="Traditional Arabic" panose="02020603050405020304" pitchFamily="18" charset="-78"/>
      <p:regular r:id="rId24"/>
      <p:bold r:id="rId25"/>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79532" autoAdjust="0"/>
  </p:normalViewPr>
  <p:slideViewPr>
    <p:cSldViewPr snapToGrid="0">
      <p:cViewPr varScale="1">
        <p:scale>
          <a:sx n="73" d="100"/>
          <a:sy n="73" d="100"/>
        </p:scale>
        <p:origin x="8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7T05:45:22.589"/>
    </inkml:context>
    <inkml:brush xml:id="br0">
      <inkml:brushProperty name="width" value="0.035" units="cm"/>
      <inkml:brushProperty name="height" value="0.035" units="cm"/>
    </inkml:brush>
  </inkml:definitions>
  <inkml:trace contextRef="#ctx0" brushRef="#br0">0 0 24345,'0'16366'0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08:14:49.945"/>
    </inkml:context>
    <inkml:brush xml:id="br0">
      <inkml:brushProperty name="width" value="0.035" units="cm"/>
      <inkml:brushProperty name="height" value="0.035" units="cm"/>
      <inkml:brushProperty name="ignorePressure" value="1"/>
    </inkml:brush>
  </inkml:definitions>
  <inkml:trace contextRef="#ctx0" brushRef="#br0">45 44,'-4'-4,"-6"-6,-5-5,0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08:15:51.245"/>
    </inkml:context>
    <inkml:brush xml:id="br0">
      <inkml:brushProperty name="width" value="0.035" units="cm"/>
      <inkml:brushProperty name="height" value="0.035" units="cm"/>
      <inkml:brushProperty name="ignorePressure" value="1"/>
    </inkml:brush>
  </inkml:definitions>
  <inkml:trace contextRef="#ctx0" brushRef="#br0">0 0,'0'13460,"0"-13406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7:20.400"/>
    </inkml:context>
    <inkml:brush xml:id="br0">
      <inkml:brushProperty name="width" value="0.035" units="cm"/>
      <inkml:brushProperty name="height" value="0.035"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8:01.739"/>
    </inkml:context>
    <inkml:brush xml:id="br0">
      <inkml:brushProperty name="width" value="0.035" units="cm"/>
      <inkml:brushProperty name="height" value="0.035" units="cm"/>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18:02.639"/>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tabLst>
                <a:tab pos="0" algn="l"/>
              </a:tabLst>
            </a:pPr>
            <a:r>
              <a:rPr lang="en-US" sz="4400" b="0" u="none" strike="noStrike">
                <a:solidFill>
                  <a:schemeClr val="dk1"/>
                </a:solidFill>
                <a:effectLst/>
                <a:uFillTx/>
                <a:latin typeface="Calibri Light"/>
              </a:rPr>
              <a:t>Click to move the slide</a:t>
            </a:r>
          </a:p>
        </p:txBody>
      </p:sp>
      <p:sp>
        <p:nvSpPr>
          <p:cNvPr id="5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5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5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5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5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AEEA99-DA1C-4EBE-988E-5A4243E45BA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685800" y="1143000"/>
            <a:ext cx="5484813" cy="3084513"/>
          </a:xfrm>
          <a:prstGeom prst="rect">
            <a:avLst/>
          </a:prstGeom>
          <a:ln w="0">
            <a:noFill/>
          </a:ln>
        </p:spPr>
      </p:sp>
      <p:sp>
        <p:nvSpPr>
          <p:cNvPr id="19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95" name="PlaceHolder 3"/>
          <p:cNvSpPr>
            <a:spLocks noGrp="1"/>
          </p:cNvSpPr>
          <p:nvPr>
            <p:ph type="sldNum" idx="4"/>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2D40183-00D3-46C2-8AE0-7E11F5D829F4}"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685800" y="1143000"/>
            <a:ext cx="5484813" cy="3084513"/>
          </a:xfrm>
          <a:prstGeom prst="rect">
            <a:avLst/>
          </a:prstGeom>
          <a:ln w="0">
            <a:noFill/>
          </a:ln>
        </p:spPr>
      </p:sp>
      <p:sp>
        <p:nvSpPr>
          <p:cNvPr id="19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98" name="PlaceHolder 3"/>
          <p:cNvSpPr>
            <a:spLocks noGrp="1"/>
          </p:cNvSpPr>
          <p:nvPr>
            <p:ph type="sldNum" idx="5"/>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235B1FF0-EB22-4AB4-BB5F-85F3258E4DF9}"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noRot="1" noChangeAspect="1"/>
          </p:cNvSpPr>
          <p:nvPr>
            <p:ph type="sldImg"/>
          </p:nvPr>
        </p:nvSpPr>
        <p:spPr>
          <a:xfrm>
            <a:off x="685800" y="1143000"/>
            <a:ext cx="5484240" cy="3084120"/>
          </a:xfrm>
          <a:prstGeom prst="rect">
            <a:avLst/>
          </a:prstGeom>
          <a:ln w="0">
            <a:noFill/>
          </a:ln>
        </p:spPr>
      </p:sp>
      <p:sp>
        <p:nvSpPr>
          <p:cNvPr id="20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1" name="PlaceHolder 3"/>
          <p:cNvSpPr>
            <a:spLocks noGrp="1"/>
          </p:cNvSpPr>
          <p:nvPr>
            <p:ph type="sldNum" idx="6"/>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284D632-24D0-4AF1-86C9-F87E76BBCD8F}"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noRot="1" noChangeAspect="1"/>
          </p:cNvSpPr>
          <p:nvPr>
            <p:ph type="sldImg"/>
          </p:nvPr>
        </p:nvSpPr>
        <p:spPr>
          <a:xfrm>
            <a:off x="685800" y="1143000"/>
            <a:ext cx="5484813" cy="3084513"/>
          </a:xfrm>
          <a:prstGeom prst="rect">
            <a:avLst/>
          </a:prstGeom>
          <a:ln w="0">
            <a:noFill/>
          </a:ln>
        </p:spPr>
      </p:sp>
      <p:sp>
        <p:nvSpPr>
          <p:cNvPr id="20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4" name="PlaceHolder 3"/>
          <p:cNvSpPr>
            <a:spLocks noGrp="1"/>
          </p:cNvSpPr>
          <p:nvPr>
            <p:ph type="sldNum" idx="7"/>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F75B270-6503-462C-BD7A-2225393D3772}"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685800" y="1143000"/>
            <a:ext cx="5484813" cy="3084513"/>
          </a:xfrm>
          <a:prstGeom prst="rect">
            <a:avLst/>
          </a:prstGeom>
          <a:ln w="0">
            <a:noFill/>
          </a:ln>
        </p:spPr>
      </p:sp>
      <p:sp>
        <p:nvSpPr>
          <p:cNvPr id="20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07" name="PlaceHolder 3"/>
          <p:cNvSpPr>
            <a:spLocks noGrp="1"/>
          </p:cNvSpPr>
          <p:nvPr>
            <p:ph type="sldNum" idx="8"/>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2840258-9AAA-4C6F-8F4A-E8DF3F847EC8}"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4813" cy="3084513"/>
          </a:xfrm>
          <a:prstGeom prst="rect">
            <a:avLst/>
          </a:prstGeom>
          <a:ln w="0">
            <a:noFill/>
          </a:ln>
        </p:spPr>
      </p:sp>
      <p:sp>
        <p:nvSpPr>
          <p:cNvPr id="20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0" name="PlaceHolder 3"/>
          <p:cNvSpPr>
            <a:spLocks noGrp="1"/>
          </p:cNvSpPr>
          <p:nvPr>
            <p:ph type="sldNum" idx="9"/>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E360A03-5560-430B-9032-55683D5454BF}"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noRot="1" noChangeAspect="1"/>
          </p:cNvSpPr>
          <p:nvPr>
            <p:ph type="sldImg"/>
          </p:nvPr>
        </p:nvSpPr>
        <p:spPr>
          <a:xfrm>
            <a:off x="685800" y="1143000"/>
            <a:ext cx="5484813" cy="3084513"/>
          </a:xfrm>
          <a:prstGeom prst="rect">
            <a:avLst/>
          </a:prstGeom>
          <a:ln w="0">
            <a:noFill/>
          </a:ln>
        </p:spPr>
      </p:sp>
      <p:sp>
        <p:nvSpPr>
          <p:cNvPr id="21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3" name="PlaceHolder 3"/>
          <p:cNvSpPr>
            <a:spLocks noGrp="1"/>
          </p:cNvSpPr>
          <p:nvPr>
            <p:ph type="sldNum" idx="10"/>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D69DC4C-E56F-4889-8F2B-891BD108EC59}"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noRot="1" noChangeAspect="1"/>
          </p:cNvSpPr>
          <p:nvPr>
            <p:ph type="sldImg"/>
          </p:nvPr>
        </p:nvSpPr>
        <p:spPr>
          <a:xfrm>
            <a:off x="685800" y="1143000"/>
            <a:ext cx="5484240" cy="3084120"/>
          </a:xfrm>
          <a:prstGeom prst="rect">
            <a:avLst/>
          </a:prstGeom>
          <a:ln w="0">
            <a:noFill/>
          </a:ln>
        </p:spPr>
      </p:sp>
      <p:sp>
        <p:nvSpPr>
          <p:cNvPr id="21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219" name="PlaceHolder 3"/>
          <p:cNvSpPr>
            <a:spLocks noGrp="1"/>
          </p:cNvSpPr>
          <p:nvPr>
            <p:ph type="sldNum" idx="12"/>
          </p:nvPr>
        </p:nvSpPr>
        <p:spPr>
          <a:xfrm>
            <a:off x="3884760" y="8685360"/>
            <a:ext cx="2969640" cy="4564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49A454C-0B26-4BC5-8FCD-32E68941D4E8}"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Slide 5 master">
    <p:spTree>
      <p:nvGrpSpPr>
        <p:cNvPr id="1" name=""/>
        <p:cNvGrpSpPr/>
        <p:nvPr/>
      </p:nvGrpSpPr>
      <p:grpSpPr>
        <a:xfrm>
          <a:off x="0" y="0"/>
          <a:ext cx="0" cy="0"/>
          <a:chOff x="0" y="0"/>
          <a:chExt cx="0" cy="0"/>
        </a:xfrm>
      </p:grpSpPr>
      <p:sp>
        <p:nvSpPr>
          <p:cNvPr id="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lide 6 master">
    <p:spTree>
      <p:nvGrpSpPr>
        <p:cNvPr id="1" name=""/>
        <p:cNvGrpSpPr/>
        <p:nvPr/>
      </p:nvGrpSpPr>
      <p:grpSpPr>
        <a:xfrm>
          <a:off x="0" y="0"/>
          <a:ext cx="0" cy="0"/>
          <a:chOff x="0" y="0"/>
          <a:chExt cx="0" cy="0"/>
        </a:xfrm>
      </p:grpSpPr>
      <p:sp>
        <p:nvSpPr>
          <p:cNvPr id="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lide 7 master">
    <p:spTree>
      <p:nvGrpSpPr>
        <p:cNvPr id="1" name=""/>
        <p:cNvGrpSpPr/>
        <p:nvPr/>
      </p:nvGrpSpPr>
      <p:grpSpPr>
        <a:xfrm>
          <a:off x="0" y="0"/>
          <a:ext cx="0" cy="0"/>
          <a:chOff x="0" y="0"/>
          <a:chExt cx="0" cy="0"/>
        </a:xfrm>
      </p:grpSpPr>
      <p:sp>
        <p:nvSpPr>
          <p:cNvPr id="1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1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1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lide 8 master">
    <p:spTree>
      <p:nvGrpSpPr>
        <p:cNvPr id="1" name=""/>
        <p:cNvGrpSpPr/>
        <p:nvPr/>
      </p:nvGrpSpPr>
      <p:grpSpPr>
        <a:xfrm>
          <a:off x="0" y="0"/>
          <a:ext cx="0" cy="0"/>
          <a:chOff x="0" y="0"/>
          <a:chExt cx="0" cy="0"/>
        </a:xfrm>
      </p:grpSpPr>
      <p:sp>
        <p:nvSpPr>
          <p:cNvPr id="1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1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lide 9 master">
    <p:spTree>
      <p:nvGrpSpPr>
        <p:cNvPr id="1" name=""/>
        <p:cNvGrpSpPr/>
        <p:nvPr/>
      </p:nvGrpSpPr>
      <p:grpSpPr>
        <a:xfrm>
          <a:off x="0" y="0"/>
          <a:ext cx="0" cy="0"/>
          <a:chOff x="0" y="0"/>
          <a:chExt cx="0" cy="0"/>
        </a:xfrm>
      </p:grpSpPr>
      <p:sp>
        <p:nvSpPr>
          <p:cNvPr id="2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2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2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Slide 10 master">
    <p:spTree>
      <p:nvGrpSpPr>
        <p:cNvPr id="1" name=""/>
        <p:cNvGrpSpPr/>
        <p:nvPr/>
      </p:nvGrpSpPr>
      <p:grpSpPr>
        <a:xfrm>
          <a:off x="0" y="0"/>
          <a:ext cx="0" cy="0"/>
          <a:chOff x="0" y="0"/>
          <a:chExt cx="0" cy="0"/>
        </a:xfrm>
      </p:grpSpPr>
      <p:sp>
        <p:nvSpPr>
          <p:cNvPr id="2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2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lide 1 master">
    <p:spTree>
      <p:nvGrpSpPr>
        <p:cNvPr id="1" name=""/>
        <p:cNvGrpSpPr/>
        <p:nvPr/>
      </p:nvGrpSpPr>
      <p:grpSpPr>
        <a:xfrm>
          <a:off x="0" y="0"/>
          <a:ext cx="0" cy="0"/>
          <a:chOff x="0" y="0"/>
          <a:chExt cx="0" cy="0"/>
        </a:xfrm>
      </p:grpSpPr>
      <p:sp>
        <p:nvSpPr>
          <p:cNvPr id="3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3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3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lide 2 master">
    <p:spTree>
      <p:nvGrpSpPr>
        <p:cNvPr id="1" name=""/>
        <p:cNvGrpSpPr/>
        <p:nvPr/>
      </p:nvGrpSpPr>
      <p:grpSpPr>
        <a:xfrm>
          <a:off x="0" y="0"/>
          <a:ext cx="0" cy="0"/>
          <a:chOff x="0" y="0"/>
          <a:chExt cx="0" cy="0"/>
        </a:xfrm>
      </p:grpSpPr>
      <p:sp>
        <p:nvSpPr>
          <p:cNvPr id="3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3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lide 3 master">
    <p:spTree>
      <p:nvGrpSpPr>
        <p:cNvPr id="1" name=""/>
        <p:cNvGrpSpPr/>
        <p:nvPr/>
      </p:nvGrpSpPr>
      <p:grpSpPr>
        <a:xfrm>
          <a:off x="0" y="0"/>
          <a:ext cx="0" cy="0"/>
          <a:chOff x="0" y="0"/>
          <a:chExt cx="0" cy="0"/>
        </a:xfrm>
      </p:grpSpPr>
      <p:sp>
        <p:nvSpPr>
          <p:cNvPr id="42"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4"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45"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46"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lide 4 master">
    <p:spTree>
      <p:nvGrpSpPr>
        <p:cNvPr id="1" name=""/>
        <p:cNvGrpSpPr/>
        <p:nvPr/>
      </p:nvGrpSpPr>
      <p:grpSpPr>
        <a:xfrm>
          <a:off x="0" y="0"/>
          <a:ext cx="0" cy="0"/>
          <a:chOff x="0" y="0"/>
          <a:chExt cx="0" cy="0"/>
        </a:xfrm>
      </p:grpSpPr>
      <p:sp>
        <p:nvSpPr>
          <p:cNvPr id="47" name="Shape 0"/>
          <p:cNvSpPr/>
          <p:nvPr/>
        </p:nvSpPr>
        <p:spPr>
          <a:xfrm>
            <a:off x="0" y="0"/>
            <a:ext cx="14628240" cy="8227440"/>
          </a:xfrm>
          <a:prstGeom prst="rect">
            <a:avLst/>
          </a:prstGeom>
          <a:solidFill>
            <a:srgbClr val="F1F2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Shape 1"/>
          <p:cNvSpPr/>
          <p:nvPr/>
        </p:nvSpPr>
        <p:spPr>
          <a:xfrm>
            <a:off x="0" y="0"/>
            <a:ext cx="14628240" cy="8227440"/>
          </a:xfrm>
          <a:prstGeom prst="rect">
            <a:avLst/>
          </a:prstGeom>
          <a:solidFill>
            <a:srgbClr val="FCFBF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pic>
        <p:nvPicPr>
          <p:cNvPr id="49" name="Image 0" descr="preencoded.png">
            <a:hlinkClick r:id="rId2"/>
          </p:cNvPr>
          <p:cNvPicPr/>
          <p:nvPr/>
        </p:nvPicPr>
        <p:blipFill>
          <a:blip r:embed="rId3"/>
          <a:stretch/>
        </p:blipFill>
        <p:spPr>
          <a:xfrm>
            <a:off x="12839040" y="7749720"/>
            <a:ext cx="1720440" cy="409320"/>
          </a:xfrm>
          <a:prstGeom prst="rect">
            <a:avLst/>
          </a:prstGeom>
          <a:noFill/>
          <a:ln w="0">
            <a:noFill/>
          </a:ln>
        </p:spPr>
      </p:pic>
      <p:sp>
        <p:nvSpPr>
          <p:cNvPr id="50" name="PlaceHolder 1"/>
          <p:cNvSpPr>
            <a:spLocks noGrp="1"/>
          </p:cNvSpPr>
          <p:nvPr>
            <p:ph type="title"/>
          </p:nvPr>
        </p:nvSpPr>
        <p:spPr>
          <a:xfrm>
            <a:off x="731520" y="328320"/>
            <a:ext cx="13165200" cy="137196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chemeClr val="dk1"/>
                </a:solidFill>
                <a:effectLst/>
                <a:uFillTx/>
                <a:latin typeface="Calibri Light"/>
              </a:defRPr>
            </a:lvl1pPr>
          </a:lstStyle>
          <a:p>
            <a:pPr indent="0" algn="ctr">
              <a:lnSpc>
                <a:spcPct val="100000"/>
              </a:lnSpc>
              <a:buNone/>
              <a:tabLst>
                <a:tab pos="0" algn="l"/>
              </a:tabLst>
            </a:pPr>
            <a:r>
              <a:rPr lang="en-US" sz="4400" b="0" u="none" strike="noStrike">
                <a:solidFill>
                  <a:schemeClr val="dk1"/>
                </a:solidFill>
                <a:effectLst/>
                <a:uFillTx/>
                <a:latin typeface="Calibri Light"/>
              </a:rPr>
              <a:t>Click to edit the title text format</a:t>
            </a:r>
          </a:p>
        </p:txBody>
      </p:sp>
      <p:sp>
        <p:nvSpPr>
          <p:cNvPr id="51" name="PlaceHolder 2"/>
          <p:cNvSpPr>
            <a:spLocks noGrp="1"/>
          </p:cNvSpPr>
          <p:nvPr>
            <p:ph type="body"/>
          </p:nvPr>
        </p:nvSpPr>
        <p:spPr>
          <a:xfrm>
            <a:off x="731520" y="1925640"/>
            <a:ext cx="13165200" cy="47707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3.png"/><Relationship Id="rId4" Type="http://schemas.openxmlformats.org/officeDocument/2006/relationships/image" Target="../media/image5.sv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10.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png"/><Relationship Id="rId7"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customXml" Target="../ink/ink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9.svg"/><Relationship Id="rId11" Type="http://schemas.openxmlformats.org/officeDocument/2006/relationships/image" Target="../media/image2.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3.png"/><Relationship Id="rId7" Type="http://schemas.openxmlformats.org/officeDocument/2006/relationships/image" Target="../media/image211.png"/><Relationship Id="rId2" Type="http://schemas.openxmlformats.org/officeDocument/2006/relationships/image" Target="../media/image2.png"/><Relationship Id="rId1" Type="http://schemas.openxmlformats.org/officeDocument/2006/relationships/slideLayout" Target="../slideLayouts/slideLayout7.xml"/><Relationship Id="rId10" Type="http://schemas.openxmlformats.org/officeDocument/2006/relationships/customXml" Target="../ink/ink6.xml"/><Relationship Id="rId4" Type="http://schemas.openxmlformats.org/officeDocument/2006/relationships/customXml" Target="../ink/ink4.xml"/><Relationship Id="rId9" Type="http://schemas.openxmlformats.org/officeDocument/2006/relationships/image" Target="../media/image2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14"/>
          <p:cNvSpPr/>
          <p:nvPr/>
        </p:nvSpPr>
        <p:spPr>
          <a:xfrm>
            <a:off x="2745514" y="898200"/>
            <a:ext cx="9631852" cy="384721"/>
          </a:xfrm>
          <a:prstGeom prst="rect">
            <a:avLst/>
          </a:prstGeom>
          <a:noFill/>
          <a:ln w="0">
            <a:noFill/>
            <a:prstDash val="dash"/>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914400" rtl="1">
              <a:lnSpc>
                <a:spcPct val="100000"/>
              </a:lnSpc>
            </a:pPr>
            <a:r>
              <a:rPr lang="en-US" sz="2500" b="1" u="none" strike="noStrike" dirty="0">
                <a:solidFill>
                  <a:schemeClr val="accent5">
                    <a:lumMod val="75000"/>
                  </a:schemeClr>
                </a:solidFill>
                <a:effectLst/>
                <a:uFillTx/>
                <a:latin typeface="Arial Rounded MT Bold"/>
                <a:ea typeface="DejaVu Sans"/>
              </a:rPr>
              <a:t>Information Technology and Digital Transformation </a:t>
            </a:r>
            <a:endParaRPr lang="en-US" sz="2500" b="0" u="none" strike="noStrike" dirty="0">
              <a:solidFill>
                <a:schemeClr val="accent5">
                  <a:lumMod val="75000"/>
                </a:schemeClr>
              </a:solidFill>
              <a:effectLst/>
              <a:uFillTx/>
              <a:latin typeface="Arial"/>
            </a:endParaRPr>
          </a:p>
        </p:txBody>
      </p:sp>
      <p:sp>
        <p:nvSpPr>
          <p:cNvPr id="59" name="TextBox 2"/>
          <p:cNvSpPr/>
          <p:nvPr/>
        </p:nvSpPr>
        <p:spPr>
          <a:xfrm>
            <a:off x="1712340" y="3385543"/>
            <a:ext cx="11698200" cy="110654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ar-EG" sz="4800" b="1" u="none" strike="noStrike" dirty="0">
                <a:solidFill>
                  <a:schemeClr val="accent5">
                    <a:lumMod val="75000"/>
                  </a:schemeClr>
                </a:solidFill>
                <a:effectLst/>
                <a:uFillTx/>
                <a:latin typeface="Amiri"/>
                <a:cs typeface="Amiri"/>
              </a:rPr>
              <a:t>الادارة</a:t>
            </a:r>
            <a:r>
              <a:rPr lang="en-US" sz="4800" b="1" u="none" strike="noStrike" dirty="0">
                <a:solidFill>
                  <a:schemeClr val="accent5">
                    <a:lumMod val="75000"/>
                  </a:schemeClr>
                </a:solidFill>
                <a:effectLst/>
                <a:uFillTx/>
                <a:latin typeface="Amiri"/>
                <a:ea typeface="DejaVu Sans"/>
              </a:rPr>
              <a:t> </a:t>
            </a:r>
            <a:r>
              <a:rPr lang="en-US" sz="4800" b="1" u="none" strike="noStrike" dirty="0" err="1">
                <a:solidFill>
                  <a:schemeClr val="accent5">
                    <a:lumMod val="75000"/>
                  </a:schemeClr>
                </a:solidFill>
                <a:effectLst/>
                <a:uFillTx/>
                <a:latin typeface="Amiri"/>
                <a:ea typeface="DejaVu Sans"/>
              </a:rPr>
              <a:t>العامة</a:t>
            </a:r>
            <a:r>
              <a:rPr lang="en-US" sz="4800" b="1" u="none" strike="noStrike" dirty="0">
                <a:solidFill>
                  <a:schemeClr val="accent5">
                    <a:lumMod val="75000"/>
                  </a:schemeClr>
                </a:solidFill>
                <a:effectLst/>
                <a:uFillTx/>
                <a:latin typeface="Amiri"/>
                <a:ea typeface="DejaVu Sans"/>
              </a:rPr>
              <a:t> </a:t>
            </a:r>
            <a:r>
              <a:rPr lang="en-US" sz="4800" b="1" u="none" strike="noStrike" dirty="0" err="1">
                <a:solidFill>
                  <a:schemeClr val="accent5">
                    <a:lumMod val="75000"/>
                  </a:schemeClr>
                </a:solidFill>
                <a:effectLst/>
                <a:uFillTx/>
                <a:latin typeface="Amiri"/>
                <a:ea typeface="DejaVu Sans"/>
              </a:rPr>
              <a:t>لتكنولوجيا</a:t>
            </a:r>
            <a:r>
              <a:rPr lang="en-US" sz="4800" b="1" u="none" strike="noStrike" dirty="0">
                <a:solidFill>
                  <a:schemeClr val="accent5">
                    <a:lumMod val="75000"/>
                  </a:schemeClr>
                </a:solidFill>
                <a:effectLst/>
                <a:uFillTx/>
                <a:latin typeface="Amiri"/>
                <a:ea typeface="DejaVu Sans"/>
              </a:rPr>
              <a:t> </a:t>
            </a:r>
            <a:r>
              <a:rPr lang="en-US" sz="4800" b="1" u="none" strike="noStrike" dirty="0" err="1">
                <a:solidFill>
                  <a:schemeClr val="accent5">
                    <a:lumMod val="75000"/>
                  </a:schemeClr>
                </a:solidFill>
                <a:effectLst/>
                <a:uFillTx/>
                <a:latin typeface="Amiri"/>
                <a:ea typeface="DejaVu Sans"/>
              </a:rPr>
              <a:t>المعلومات</a:t>
            </a:r>
            <a:r>
              <a:rPr lang="en-US" sz="4800" b="1" u="none" strike="noStrike" dirty="0">
                <a:solidFill>
                  <a:schemeClr val="accent5">
                    <a:lumMod val="75000"/>
                  </a:schemeClr>
                </a:solidFill>
                <a:effectLst/>
                <a:uFillTx/>
                <a:latin typeface="Amiri"/>
                <a:ea typeface="DejaVu Sans"/>
              </a:rPr>
              <a:t> </a:t>
            </a:r>
            <a:r>
              <a:rPr lang="en-US" sz="4800" b="1" u="none" strike="noStrike" dirty="0" err="1">
                <a:solidFill>
                  <a:schemeClr val="accent5">
                    <a:lumMod val="75000"/>
                  </a:schemeClr>
                </a:solidFill>
                <a:effectLst/>
                <a:uFillTx/>
                <a:latin typeface="Amiri"/>
                <a:ea typeface="DejaVu Sans"/>
              </a:rPr>
              <a:t>والتحول</a:t>
            </a:r>
            <a:r>
              <a:rPr lang="en-US" sz="4800" b="1" u="none" strike="noStrike" dirty="0">
                <a:solidFill>
                  <a:schemeClr val="accent5">
                    <a:lumMod val="75000"/>
                  </a:schemeClr>
                </a:solidFill>
                <a:effectLst/>
                <a:uFillTx/>
                <a:latin typeface="Amiri"/>
                <a:ea typeface="DejaVu Sans"/>
              </a:rPr>
              <a:t> </a:t>
            </a:r>
            <a:r>
              <a:rPr lang="en-US" sz="4800" b="1" u="none" strike="noStrike" dirty="0" err="1">
                <a:solidFill>
                  <a:schemeClr val="accent5">
                    <a:lumMod val="75000"/>
                  </a:schemeClr>
                </a:solidFill>
                <a:effectLst/>
                <a:uFillTx/>
                <a:latin typeface="Amiri"/>
                <a:ea typeface="DejaVu Sans"/>
              </a:rPr>
              <a:t>الرقمى</a:t>
            </a:r>
            <a:r>
              <a:rPr lang="en-US" sz="4800" b="1" u="none" strike="noStrike" dirty="0">
                <a:solidFill>
                  <a:schemeClr val="accent5">
                    <a:lumMod val="75000"/>
                  </a:schemeClr>
                </a:solidFill>
                <a:effectLst/>
                <a:uFillTx/>
                <a:latin typeface="Amiri"/>
                <a:ea typeface="DejaVu Sans"/>
              </a:rPr>
              <a:t> </a:t>
            </a:r>
            <a:endParaRPr lang="en-US" sz="4800" b="0" u="none" strike="noStrike" dirty="0">
              <a:solidFill>
                <a:schemeClr val="accent5">
                  <a:lumMod val="75000"/>
                </a:schemeClr>
              </a:solidFill>
              <a:effectLst/>
              <a:uFillTx/>
              <a:latin typeface="Arial"/>
            </a:endParaRPr>
          </a:p>
          <a:p>
            <a:pPr algn="ctr" defTabSz="914400">
              <a:lnSpc>
                <a:spcPct val="100000"/>
              </a:lnSpc>
            </a:pPr>
            <a:endParaRPr lang="en-US" sz="1800" b="0" u="none" strike="noStrike" dirty="0">
              <a:solidFill>
                <a:srgbClr val="000000"/>
              </a:solidFill>
              <a:effectLst/>
              <a:uFillTx/>
              <a:latin typeface="Arial"/>
            </a:endParaRPr>
          </a:p>
        </p:txBody>
      </p:sp>
      <p:sp>
        <p:nvSpPr>
          <p:cNvPr id="60" name="Text 13"/>
          <p:cNvSpPr/>
          <p:nvPr/>
        </p:nvSpPr>
        <p:spPr>
          <a:xfrm>
            <a:off x="3784680" y="5040000"/>
            <a:ext cx="7553520" cy="266206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chorCtr="1">
            <a:noAutofit/>
          </a:bodyPr>
          <a:lstStyle/>
          <a:p>
            <a:pPr algn="ctr" rtl="1">
              <a:lnSpc>
                <a:spcPct val="150000"/>
              </a:lnSpc>
              <a:tabLst>
                <a:tab pos="0" algn="l"/>
              </a:tabLst>
            </a:pPr>
            <a:r>
              <a:rPr lang="ar-EG" sz="3200" b="0" u="none" strike="noStrike" dirty="0">
                <a:solidFill>
                  <a:srgbClr val="272525"/>
                </a:solidFill>
                <a:effectLst/>
                <a:uFillTx/>
                <a:latin typeface="Amiri"/>
                <a:cs typeface="Amiri"/>
              </a:rPr>
              <a:t>دراسة مقارنة شاملة تبرز التحسينات الاستراتيجية للموقع الإلكتروني الجديد وتأثيرها المباشر على تجربة المستخدم وجودة الخدمات الحكومية</a:t>
            </a:r>
            <a:endParaRPr lang="en-US" sz="3200" b="0" u="none" strike="noStrike" dirty="0">
              <a:solidFill>
                <a:srgbClr val="000000"/>
              </a:solidFill>
              <a:effectLst/>
              <a:uFillTx/>
              <a:latin typeface="Arial"/>
            </a:endParaRPr>
          </a:p>
        </p:txBody>
      </p:sp>
      <p:pic>
        <p:nvPicPr>
          <p:cNvPr id="61" name="Picture 9"/>
          <p:cNvPicPr/>
          <p:nvPr/>
        </p:nvPicPr>
        <p:blipFill>
          <a:blip r:embed="rId2"/>
          <a:stretch/>
        </p:blipFill>
        <p:spPr>
          <a:xfrm>
            <a:off x="13257360" y="187560"/>
            <a:ext cx="780840" cy="710640"/>
          </a:xfrm>
          <a:prstGeom prst="rect">
            <a:avLst/>
          </a:prstGeom>
          <a:noFill/>
          <a:ln w="0">
            <a:noFill/>
          </a:ln>
        </p:spPr>
      </p:pic>
      <p:pic>
        <p:nvPicPr>
          <p:cNvPr id="62" name="Picture 11"/>
          <p:cNvPicPr/>
          <p:nvPr/>
        </p:nvPicPr>
        <p:blipFill>
          <a:blip r:embed="rId3"/>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6ED0697C-C4ED-B10C-4142-4A6FFA274858}"/>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6A8E46-C2A4-281E-0A50-95662FA28A92}"/>
              </a:ext>
            </a:extLst>
          </p:cNvPr>
          <p:cNvSpPr>
            <a:spLocks noGrp="1"/>
          </p:cNvSpPr>
          <p:nvPr>
            <p:ph type="body"/>
          </p:nvPr>
        </p:nvSpPr>
        <p:spPr>
          <a:xfrm>
            <a:off x="732600" y="3413313"/>
            <a:ext cx="13165200" cy="1402973"/>
          </a:xfrm>
        </p:spPr>
        <p:txBody>
          <a:bodyPr>
            <a:normAutofit/>
          </a:bodyPr>
          <a:lstStyle/>
          <a:p>
            <a:pPr marL="0" indent="0" algn="ctr" rtl="1">
              <a:buNone/>
            </a:pPr>
            <a:r>
              <a:rPr lang="ar-EG" sz="8800" b="1" dirty="0">
                <a:latin typeface="Amiri" panose="00000500000000000000" pitchFamily="2" charset="-78"/>
                <a:cs typeface="Amiri" panose="00000500000000000000" pitchFamily="2" charset="-78"/>
              </a:rPr>
              <a:t>تاريخ ومراحل</a:t>
            </a:r>
            <a:r>
              <a:rPr lang="ar-SA" sz="8800" b="1" dirty="0">
                <a:latin typeface="Amiri" panose="00000500000000000000" pitchFamily="2" charset="-78"/>
                <a:cs typeface="Amiri" panose="00000500000000000000" pitchFamily="2" charset="-78"/>
              </a:rPr>
              <a:t> إنشاء الموقع</a:t>
            </a:r>
            <a:endParaRPr lang="ar-SA" sz="8800" dirty="0">
              <a:latin typeface="Amiri" panose="00000500000000000000" pitchFamily="2" charset="-78"/>
              <a:cs typeface="Amiri" panose="00000500000000000000" pitchFamily="2" charset="-78"/>
            </a:endParaRPr>
          </a:p>
        </p:txBody>
      </p:sp>
      <p:pic>
        <p:nvPicPr>
          <p:cNvPr id="4" name="Picture 9">
            <a:extLst>
              <a:ext uri="{FF2B5EF4-FFF2-40B4-BE49-F238E27FC236}">
                <a16:creationId xmlns:a16="http://schemas.microsoft.com/office/drawing/2014/main" id="{0EA94402-4E50-B9DE-3B0E-9EA8A703023D}"/>
              </a:ext>
            </a:extLst>
          </p:cNvPr>
          <p:cNvPicPr/>
          <p:nvPr/>
        </p:nvPicPr>
        <p:blipFill>
          <a:blip r:embed="rId2"/>
          <a:stretch/>
        </p:blipFill>
        <p:spPr>
          <a:xfrm>
            <a:off x="13257360" y="187560"/>
            <a:ext cx="780840" cy="710640"/>
          </a:xfrm>
          <a:prstGeom prst="rect">
            <a:avLst/>
          </a:prstGeom>
          <a:noFill/>
          <a:ln w="0">
            <a:noFill/>
          </a:ln>
        </p:spPr>
      </p:pic>
      <p:pic>
        <p:nvPicPr>
          <p:cNvPr id="5" name="Picture 11">
            <a:extLst>
              <a:ext uri="{FF2B5EF4-FFF2-40B4-BE49-F238E27FC236}">
                <a16:creationId xmlns:a16="http://schemas.microsoft.com/office/drawing/2014/main" id="{CDFF0C5E-2866-BC90-AC37-CACFA9B19C6F}"/>
              </a:ext>
            </a:extLst>
          </p:cNvPr>
          <p:cNvPicPr/>
          <p:nvPr/>
        </p:nvPicPr>
        <p:blipFill>
          <a:blip r:embed="rId3"/>
          <a:stretch/>
        </p:blipFill>
        <p:spPr>
          <a:xfrm>
            <a:off x="313200" y="257040"/>
            <a:ext cx="1045080" cy="743400"/>
          </a:xfrm>
          <a:prstGeom prst="rect">
            <a:avLst/>
          </a:prstGeom>
          <a:noFill/>
          <a:ln w="0">
            <a:noFill/>
          </a:ln>
        </p:spPr>
      </p:pic>
      <p:sp>
        <p:nvSpPr>
          <p:cNvPr id="6" name="Rectangle 5">
            <a:extLst>
              <a:ext uri="{FF2B5EF4-FFF2-40B4-BE49-F238E27FC236}">
                <a16:creationId xmlns:a16="http://schemas.microsoft.com/office/drawing/2014/main" id="{01E803E5-2D0B-75C5-AECD-B49689E3384F}"/>
              </a:ext>
            </a:extLst>
          </p:cNvPr>
          <p:cNvSpPr/>
          <p:nvPr/>
        </p:nvSpPr>
        <p:spPr>
          <a:xfrm>
            <a:off x="11983731" y="7663217"/>
            <a:ext cx="2547257" cy="5663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90542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0"/>
          <p:cNvSpPr/>
          <p:nvPr/>
        </p:nvSpPr>
        <p:spPr>
          <a:xfrm>
            <a:off x="8165880" y="3359520"/>
            <a:ext cx="566856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000" b="0" u="none" strike="noStrike" dirty="0">
                <a:solidFill>
                  <a:srgbClr val="355269"/>
                </a:solidFill>
                <a:effectLst/>
                <a:uFillTx/>
                <a:latin typeface="Amiri"/>
                <a:cs typeface="Amiri"/>
              </a:rPr>
              <a:t>نظرة عامة على التحول</a:t>
            </a:r>
            <a:endParaRPr lang="en-US" sz="4000" b="0" u="none" strike="noStrike" dirty="0">
              <a:solidFill>
                <a:srgbClr val="000000"/>
              </a:solidFill>
              <a:effectLst/>
              <a:uFillTx/>
              <a:latin typeface="Arial"/>
            </a:endParaRPr>
          </a:p>
        </p:txBody>
      </p:sp>
      <p:sp>
        <p:nvSpPr>
          <p:cNvPr id="64" name="Shape 1"/>
          <p:cNvSpPr/>
          <p:nvPr/>
        </p:nvSpPr>
        <p:spPr>
          <a:xfrm>
            <a:off x="946008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 name="Shape 2"/>
          <p:cNvSpPr/>
          <p:nvPr/>
        </p:nvSpPr>
        <p:spPr>
          <a:xfrm>
            <a:off x="1274940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6" name="Image 0" descr="preencoded.png"/>
          <p:cNvPicPr/>
          <p:nvPr/>
        </p:nvPicPr>
        <p:blipFill>
          <a:blip r:embed="rId3">
            <a:extLst>
              <a:ext uri="{96DAC541-7B7A-43D3-8B79-37D633B846F1}">
                <asvg:svgBlip xmlns:asvg="http://schemas.microsoft.com/office/drawing/2016/SVG/main" r:embed="rId4"/>
              </a:ext>
            </a:extLst>
          </a:blip>
          <a:stretch/>
        </p:blipFill>
        <p:spPr>
          <a:xfrm>
            <a:off x="12936600" y="5079960"/>
            <a:ext cx="303840" cy="303840"/>
          </a:xfrm>
          <a:prstGeom prst="rect">
            <a:avLst/>
          </a:prstGeom>
          <a:noFill/>
          <a:ln w="0">
            <a:noFill/>
          </a:ln>
        </p:spPr>
      </p:pic>
      <p:sp>
        <p:nvSpPr>
          <p:cNvPr id="67" name="Text 3"/>
          <p:cNvSpPr/>
          <p:nvPr/>
        </p:nvSpPr>
        <p:spPr>
          <a:xfrm>
            <a:off x="1059444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المشكلة</a:t>
            </a:r>
            <a:endParaRPr lang="en-US" sz="2200" b="0" u="none" strike="noStrike">
              <a:solidFill>
                <a:srgbClr val="000000"/>
              </a:solidFill>
              <a:effectLst/>
              <a:uFillTx/>
              <a:latin typeface="Arial"/>
            </a:endParaRPr>
          </a:p>
        </p:txBody>
      </p:sp>
      <p:sp>
        <p:nvSpPr>
          <p:cNvPr id="68" name="Text 4"/>
          <p:cNvSpPr/>
          <p:nvPr/>
        </p:nvSpPr>
        <p:spPr>
          <a:xfrm>
            <a:off x="968724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dirty="0">
                <a:solidFill>
                  <a:srgbClr val="2C2821"/>
                </a:solidFill>
                <a:effectLst/>
                <a:uFillTx/>
                <a:latin typeface="Amiri"/>
                <a:cs typeface="Amiri"/>
              </a:rPr>
              <a:t>موقع إلكتروني قديم يعاني من بطء في الأداء وتصميم غير متجاوب، مما أثر على تجربة المستخدم وانخفاض التفاعل</a:t>
            </a:r>
            <a:endParaRPr lang="en-US" sz="2000" b="0" u="none" strike="noStrike" dirty="0">
              <a:solidFill>
                <a:srgbClr val="000000"/>
              </a:solidFill>
              <a:effectLst/>
              <a:uFillTx/>
              <a:latin typeface="Arial"/>
            </a:endParaRPr>
          </a:p>
        </p:txBody>
      </p:sp>
      <p:sp>
        <p:nvSpPr>
          <p:cNvPr id="69" name="Shape 5"/>
          <p:cNvSpPr/>
          <p:nvPr/>
        </p:nvSpPr>
        <p:spPr>
          <a:xfrm>
            <a:off x="503712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 name="Shape 6"/>
          <p:cNvSpPr/>
          <p:nvPr/>
        </p:nvSpPr>
        <p:spPr>
          <a:xfrm>
            <a:off x="832608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71" name="Image 1" descr="preencoded.png"/>
          <p:cNvPicPr/>
          <p:nvPr/>
        </p:nvPicPr>
        <p:blipFill>
          <a:blip r:embed="rId5">
            <a:extLst>
              <a:ext uri="{96DAC541-7B7A-43D3-8B79-37D633B846F1}">
                <asvg:svgBlip xmlns:asvg="http://schemas.microsoft.com/office/drawing/2016/SVG/main" r:embed="rId6"/>
              </a:ext>
            </a:extLst>
          </a:blip>
          <a:stretch/>
        </p:blipFill>
        <p:spPr>
          <a:xfrm>
            <a:off x="8513280" y="5079960"/>
            <a:ext cx="303840" cy="303840"/>
          </a:xfrm>
          <a:prstGeom prst="rect">
            <a:avLst/>
          </a:prstGeom>
          <a:noFill/>
          <a:ln w="0">
            <a:noFill/>
          </a:ln>
        </p:spPr>
      </p:pic>
      <p:sp>
        <p:nvSpPr>
          <p:cNvPr id="72" name="Text 7"/>
          <p:cNvSpPr/>
          <p:nvPr/>
        </p:nvSpPr>
        <p:spPr>
          <a:xfrm>
            <a:off x="617148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الحل</a:t>
            </a:r>
            <a:endParaRPr lang="en-US" sz="2200" b="0" u="none" strike="noStrike">
              <a:solidFill>
                <a:srgbClr val="000000"/>
              </a:solidFill>
              <a:effectLst/>
              <a:uFillTx/>
              <a:latin typeface="Arial"/>
            </a:endParaRPr>
          </a:p>
        </p:txBody>
      </p:sp>
      <p:sp>
        <p:nvSpPr>
          <p:cNvPr id="73" name="Text 8"/>
          <p:cNvSpPr/>
          <p:nvPr/>
        </p:nvSpPr>
        <p:spPr>
          <a:xfrm>
            <a:off x="526392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dirty="0">
                <a:solidFill>
                  <a:srgbClr val="2C2821"/>
                </a:solidFill>
                <a:effectLst/>
                <a:uFillTx/>
                <a:latin typeface="Amiri"/>
                <a:cs typeface="Amiri"/>
              </a:rPr>
              <a:t>إعادة تصميم شاملة باستخدام تقنيات حديثة، تحسين الأداء بنسبة </a:t>
            </a:r>
            <a:r>
              <a:rPr lang="en-US" sz="2000" b="0" u="none" strike="noStrike" dirty="0">
                <a:solidFill>
                  <a:srgbClr val="2C2821"/>
                </a:solidFill>
                <a:effectLst/>
                <a:uFillTx/>
                <a:latin typeface="Amiri"/>
                <a:ea typeface="Lora"/>
              </a:rPr>
              <a:t>66%، </a:t>
            </a:r>
            <a:r>
              <a:rPr lang="en-US" sz="2000" b="0" u="none" strike="noStrike" dirty="0" err="1">
                <a:solidFill>
                  <a:srgbClr val="2C2821"/>
                </a:solidFill>
                <a:effectLst/>
                <a:uFillTx/>
                <a:latin typeface="Amiri"/>
                <a:ea typeface="Lora"/>
              </a:rPr>
              <a:t>وتصميم</a:t>
            </a:r>
            <a:r>
              <a:rPr lang="en-US" sz="2000" b="0" u="none" strike="noStrike" dirty="0">
                <a:solidFill>
                  <a:srgbClr val="2C2821"/>
                </a:solidFill>
                <a:effectLst/>
                <a:uFillTx/>
                <a:latin typeface="Amiri"/>
                <a:ea typeface="Lora"/>
              </a:rPr>
              <a:t> </a:t>
            </a:r>
            <a:r>
              <a:rPr lang="en-US" sz="2000" b="0" u="none" strike="noStrike" dirty="0" err="1">
                <a:solidFill>
                  <a:srgbClr val="2C2821"/>
                </a:solidFill>
                <a:effectLst/>
                <a:uFillTx/>
                <a:latin typeface="Amiri"/>
                <a:ea typeface="Lora"/>
              </a:rPr>
              <a:t>تجربة</a:t>
            </a:r>
            <a:r>
              <a:rPr lang="en-US" sz="2000" b="0" u="none" strike="noStrike" dirty="0">
                <a:solidFill>
                  <a:srgbClr val="2C2821"/>
                </a:solidFill>
                <a:effectLst/>
                <a:uFillTx/>
                <a:latin typeface="Amiri"/>
                <a:ea typeface="Lora"/>
              </a:rPr>
              <a:t> </a:t>
            </a:r>
            <a:r>
              <a:rPr lang="en-US" sz="2000" b="0" u="none" strike="noStrike" dirty="0" err="1">
                <a:solidFill>
                  <a:srgbClr val="2C2821"/>
                </a:solidFill>
                <a:effectLst/>
                <a:uFillTx/>
                <a:latin typeface="Amiri"/>
                <a:ea typeface="Lora"/>
              </a:rPr>
              <a:t>مستخدم</a:t>
            </a:r>
            <a:r>
              <a:rPr lang="en-US" sz="2000" b="0" u="none" strike="noStrike" dirty="0">
                <a:solidFill>
                  <a:srgbClr val="2C2821"/>
                </a:solidFill>
                <a:effectLst/>
                <a:uFillTx/>
                <a:latin typeface="Amiri"/>
                <a:ea typeface="Lora"/>
              </a:rPr>
              <a:t> </a:t>
            </a:r>
            <a:r>
              <a:rPr lang="en-US" sz="2000" b="0" u="none" strike="noStrike" dirty="0" err="1">
                <a:solidFill>
                  <a:srgbClr val="2C2821"/>
                </a:solidFill>
                <a:effectLst/>
                <a:uFillTx/>
                <a:latin typeface="Amiri"/>
                <a:ea typeface="Lora"/>
              </a:rPr>
              <a:t>محسّنة</a:t>
            </a:r>
            <a:r>
              <a:rPr lang="en-US" sz="2000" b="0" u="none" strike="noStrike" dirty="0">
                <a:solidFill>
                  <a:srgbClr val="2C2821"/>
                </a:solidFill>
                <a:effectLst/>
                <a:uFillTx/>
                <a:latin typeface="Amiri"/>
                <a:ea typeface="Lora"/>
              </a:rPr>
              <a:t> </a:t>
            </a:r>
            <a:r>
              <a:rPr lang="en-US" sz="2000" b="0" u="none" strike="noStrike" dirty="0" err="1">
                <a:solidFill>
                  <a:srgbClr val="2C2821"/>
                </a:solidFill>
                <a:effectLst/>
                <a:uFillTx/>
                <a:latin typeface="Amiri"/>
                <a:ea typeface="Lora"/>
              </a:rPr>
              <a:t>بالكامل</a:t>
            </a:r>
            <a:endParaRPr lang="en-US" sz="2000" b="0" u="none" strike="noStrike" dirty="0">
              <a:solidFill>
                <a:srgbClr val="000000"/>
              </a:solidFill>
              <a:effectLst/>
              <a:uFillTx/>
              <a:latin typeface="Arial"/>
            </a:endParaRPr>
          </a:p>
        </p:txBody>
      </p:sp>
      <p:sp>
        <p:nvSpPr>
          <p:cNvPr id="74" name="Shape 9"/>
          <p:cNvSpPr/>
          <p:nvPr/>
        </p:nvSpPr>
        <p:spPr>
          <a:xfrm>
            <a:off x="613800" y="4665960"/>
            <a:ext cx="4194360" cy="2937960"/>
          </a:xfrm>
          <a:prstGeom prst="roundRect">
            <a:avLst>
              <a:gd name="adj" fmla="val 115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 name="Shape 10"/>
          <p:cNvSpPr/>
          <p:nvPr/>
        </p:nvSpPr>
        <p:spPr>
          <a:xfrm>
            <a:off x="3903120" y="4892760"/>
            <a:ext cx="678240" cy="678240"/>
          </a:xfrm>
          <a:prstGeom prst="roundRect">
            <a:avLst>
              <a:gd name="adj" fmla="val 13436980"/>
            </a:avLst>
          </a:prstGeom>
          <a:solidFill>
            <a:srgbClr val="35526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76" name="Image 2" descr="preencoded.png"/>
          <p:cNvPicPr/>
          <p:nvPr/>
        </p:nvPicPr>
        <p:blipFill>
          <a:blip r:embed="rId7">
            <a:extLst>
              <a:ext uri="{96DAC541-7B7A-43D3-8B79-37D633B846F1}">
                <asvg:svgBlip xmlns:asvg="http://schemas.microsoft.com/office/drawing/2016/SVG/main" r:embed="rId8"/>
              </a:ext>
            </a:extLst>
          </a:blip>
          <a:stretch/>
        </p:blipFill>
        <p:spPr>
          <a:xfrm>
            <a:off x="4090320" y="5079960"/>
            <a:ext cx="303840" cy="303840"/>
          </a:xfrm>
          <a:prstGeom prst="rect">
            <a:avLst/>
          </a:prstGeom>
          <a:noFill/>
          <a:ln w="0">
            <a:noFill/>
          </a:ln>
        </p:spPr>
      </p:pic>
      <p:sp>
        <p:nvSpPr>
          <p:cNvPr id="77" name="Text 11"/>
          <p:cNvSpPr/>
          <p:nvPr/>
        </p:nvSpPr>
        <p:spPr>
          <a:xfrm>
            <a:off x="1748160" y="5799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النتيجة</a:t>
            </a:r>
            <a:endParaRPr lang="en-US" sz="2200" b="0" u="none" strike="noStrike">
              <a:solidFill>
                <a:srgbClr val="000000"/>
              </a:solidFill>
              <a:effectLst/>
              <a:uFillTx/>
              <a:latin typeface="Arial"/>
            </a:endParaRPr>
          </a:p>
        </p:txBody>
      </p:sp>
      <p:sp>
        <p:nvSpPr>
          <p:cNvPr id="78" name="Text 12"/>
          <p:cNvSpPr/>
          <p:nvPr/>
        </p:nvSpPr>
        <p:spPr>
          <a:xfrm>
            <a:off x="840600" y="6290640"/>
            <a:ext cx="374040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تحسن في التفاعل، زيادة في كفاءة الخدمات، وتحسين الصورة الذهنية للمؤسسة</a:t>
            </a:r>
            <a:endParaRPr lang="en-US" sz="2000" b="0" u="none" strike="noStrike">
              <a:solidFill>
                <a:srgbClr val="000000"/>
              </a:solidFill>
              <a:effectLst/>
              <a:uFillTx/>
              <a:latin typeface="Arial"/>
            </a:endParaRPr>
          </a:p>
        </p:txBody>
      </p:sp>
      <p:sp>
        <p:nvSpPr>
          <p:cNvPr id="80" name="TextBox 3"/>
          <p:cNvSpPr/>
          <p:nvPr/>
        </p:nvSpPr>
        <p:spPr>
          <a:xfrm>
            <a:off x="2035029" y="2024018"/>
            <a:ext cx="11044440" cy="110654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ar-EG" sz="4800" b="1" u="none" strike="noStrike" dirty="0">
                <a:solidFill>
                  <a:srgbClr val="0048CD"/>
                </a:solidFill>
                <a:effectLst/>
                <a:uFillTx/>
                <a:latin typeface="Amiri"/>
                <a:cs typeface="Amiri"/>
              </a:rPr>
              <a:t>الادارة</a:t>
            </a:r>
            <a:r>
              <a:rPr lang="en-US" sz="4800" b="1" u="none" strike="noStrike" dirty="0">
                <a:solidFill>
                  <a:srgbClr val="0048CD"/>
                </a:solidFill>
                <a:effectLst/>
                <a:uFillTx/>
                <a:latin typeface="Amiri"/>
                <a:ea typeface="DejaVu Sans"/>
              </a:rPr>
              <a:t> </a:t>
            </a:r>
            <a:r>
              <a:rPr lang="en-US" sz="4800" b="1" u="none" strike="noStrike" dirty="0" err="1">
                <a:solidFill>
                  <a:srgbClr val="0048CD"/>
                </a:solidFill>
                <a:effectLst/>
                <a:uFillTx/>
                <a:latin typeface="Amiri"/>
                <a:ea typeface="DejaVu Sans"/>
              </a:rPr>
              <a:t>العامة</a:t>
            </a:r>
            <a:r>
              <a:rPr lang="en-US" sz="4800" b="1" u="none" strike="noStrike" dirty="0">
                <a:solidFill>
                  <a:srgbClr val="0048CD"/>
                </a:solidFill>
                <a:effectLst/>
                <a:uFillTx/>
                <a:latin typeface="Amiri"/>
                <a:ea typeface="DejaVu Sans"/>
              </a:rPr>
              <a:t> </a:t>
            </a:r>
            <a:r>
              <a:rPr lang="en-US" sz="4800" b="1" u="none" strike="noStrike" dirty="0" err="1">
                <a:solidFill>
                  <a:srgbClr val="0048CD"/>
                </a:solidFill>
                <a:effectLst/>
                <a:uFillTx/>
                <a:latin typeface="Amiri"/>
                <a:ea typeface="DejaVu Sans"/>
              </a:rPr>
              <a:t>لتكنولوجيا</a:t>
            </a:r>
            <a:r>
              <a:rPr lang="en-US" sz="4800" b="1" u="none" strike="noStrike" dirty="0">
                <a:solidFill>
                  <a:srgbClr val="0048CD"/>
                </a:solidFill>
                <a:effectLst/>
                <a:uFillTx/>
                <a:latin typeface="Amiri"/>
                <a:ea typeface="DejaVu Sans"/>
              </a:rPr>
              <a:t> </a:t>
            </a:r>
            <a:r>
              <a:rPr lang="en-US" sz="4800" b="1" u="none" strike="noStrike" dirty="0" err="1">
                <a:solidFill>
                  <a:srgbClr val="0048CD"/>
                </a:solidFill>
                <a:effectLst/>
                <a:uFillTx/>
                <a:latin typeface="Amiri"/>
                <a:ea typeface="DejaVu Sans"/>
              </a:rPr>
              <a:t>المعلومات</a:t>
            </a:r>
            <a:r>
              <a:rPr lang="en-US" sz="4800" b="1" u="none" strike="noStrike" dirty="0">
                <a:solidFill>
                  <a:srgbClr val="0048CD"/>
                </a:solidFill>
                <a:effectLst/>
                <a:uFillTx/>
                <a:latin typeface="Amiri"/>
                <a:ea typeface="DejaVu Sans"/>
              </a:rPr>
              <a:t> </a:t>
            </a:r>
            <a:r>
              <a:rPr lang="en-US" sz="4800" b="1" u="none" strike="noStrike" dirty="0" err="1">
                <a:solidFill>
                  <a:srgbClr val="0048CD"/>
                </a:solidFill>
                <a:effectLst/>
                <a:uFillTx/>
                <a:latin typeface="Amiri"/>
                <a:ea typeface="DejaVu Sans"/>
              </a:rPr>
              <a:t>والتحول</a:t>
            </a:r>
            <a:r>
              <a:rPr lang="en-US" sz="4800" b="1" u="none" strike="noStrike" dirty="0">
                <a:solidFill>
                  <a:srgbClr val="0048CD"/>
                </a:solidFill>
                <a:effectLst/>
                <a:uFillTx/>
                <a:latin typeface="Amiri"/>
                <a:ea typeface="DejaVu Sans"/>
              </a:rPr>
              <a:t> </a:t>
            </a:r>
            <a:r>
              <a:rPr lang="en-US" sz="4800" b="1" u="none" strike="noStrike" dirty="0" err="1">
                <a:solidFill>
                  <a:srgbClr val="0048CD"/>
                </a:solidFill>
                <a:effectLst/>
                <a:uFillTx/>
                <a:latin typeface="Amiri"/>
                <a:ea typeface="DejaVu Sans"/>
              </a:rPr>
              <a:t>الرقمى</a:t>
            </a:r>
            <a:r>
              <a:rPr lang="en-US" sz="4800" b="1" u="none" strike="noStrike" dirty="0">
                <a:solidFill>
                  <a:srgbClr val="0048CD"/>
                </a:solidFill>
                <a:effectLst/>
                <a:uFillTx/>
                <a:latin typeface="Amiri"/>
                <a:ea typeface="DejaVu Sans"/>
              </a:rPr>
              <a:t> </a:t>
            </a:r>
            <a:endParaRPr lang="en-US" sz="4800" b="0" u="none" strike="noStrike" dirty="0">
              <a:solidFill>
                <a:srgbClr val="000000"/>
              </a:solidFill>
              <a:effectLst/>
              <a:uFillTx/>
              <a:latin typeface="Arial"/>
            </a:endParaRPr>
          </a:p>
          <a:p>
            <a:pPr defTabSz="914400">
              <a:lnSpc>
                <a:spcPct val="100000"/>
              </a:lnSpc>
            </a:pPr>
            <a:endParaRPr lang="en-US" sz="1800" b="0" u="none" strike="noStrike" dirty="0">
              <a:solidFill>
                <a:srgbClr val="000000"/>
              </a:solidFill>
              <a:effectLst/>
              <a:uFillTx/>
              <a:latin typeface="Arial"/>
            </a:endParaRPr>
          </a:p>
        </p:txBody>
      </p:sp>
      <p:pic>
        <p:nvPicPr>
          <p:cNvPr id="81" name="Picture 1"/>
          <p:cNvPicPr/>
          <p:nvPr/>
        </p:nvPicPr>
        <p:blipFill>
          <a:blip r:embed="rId9"/>
          <a:stretch/>
        </p:blipFill>
        <p:spPr>
          <a:xfrm>
            <a:off x="13257360" y="187560"/>
            <a:ext cx="780840" cy="710640"/>
          </a:xfrm>
          <a:prstGeom prst="rect">
            <a:avLst/>
          </a:prstGeom>
          <a:noFill/>
          <a:ln w="0">
            <a:noFill/>
          </a:ln>
        </p:spPr>
      </p:pic>
      <p:pic>
        <p:nvPicPr>
          <p:cNvPr id="82" name="Picture 2"/>
          <p:cNvPicPr/>
          <p:nvPr/>
        </p:nvPicPr>
        <p:blipFill>
          <a:blip r:embed="rId10"/>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E0D6C9BB-F3CD-B973-FA0D-2320D643D7A4}"/>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14">
            <a:extLst>
              <a:ext uri="{FF2B5EF4-FFF2-40B4-BE49-F238E27FC236}">
                <a16:creationId xmlns:a16="http://schemas.microsoft.com/office/drawing/2014/main" id="{D9910E59-E23E-8DE6-FD7F-A9A406570D95}"/>
              </a:ext>
            </a:extLst>
          </p:cNvPr>
          <p:cNvSpPr/>
          <p:nvPr/>
        </p:nvSpPr>
        <p:spPr>
          <a:xfrm>
            <a:off x="2745514" y="898200"/>
            <a:ext cx="9631852" cy="384721"/>
          </a:xfrm>
          <a:prstGeom prst="rect">
            <a:avLst/>
          </a:prstGeom>
          <a:noFill/>
          <a:ln w="0">
            <a:noFill/>
            <a:prstDash val="dash"/>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914400" rtl="1">
              <a:lnSpc>
                <a:spcPct val="100000"/>
              </a:lnSpc>
            </a:pPr>
            <a:r>
              <a:rPr lang="en-US" sz="2500" b="1" u="none" strike="noStrike" dirty="0">
                <a:solidFill>
                  <a:schemeClr val="accent5">
                    <a:lumMod val="75000"/>
                  </a:schemeClr>
                </a:solidFill>
                <a:effectLst/>
                <a:uFillTx/>
                <a:latin typeface="Arial Rounded MT Bold"/>
                <a:ea typeface="DejaVu Sans"/>
              </a:rPr>
              <a:t>Information Technology and Digital Transformation </a:t>
            </a:r>
            <a:endParaRPr lang="en-US" sz="2500" b="0" u="none" strike="noStrike" dirty="0">
              <a:solidFill>
                <a:schemeClr val="accent5">
                  <a:lumMod val="75000"/>
                </a:schemeClr>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 name="Image 0" descr="preencoded.png"/>
          <p:cNvPicPr/>
          <p:nvPr/>
        </p:nvPicPr>
        <p:blipFill>
          <a:blip r:embed="rId3"/>
          <a:stretch/>
        </p:blipFill>
        <p:spPr>
          <a:xfrm>
            <a:off x="0" y="0"/>
            <a:ext cx="5484240" cy="8227440"/>
          </a:xfrm>
          <a:prstGeom prst="rect">
            <a:avLst/>
          </a:prstGeom>
          <a:noFill/>
          <a:ln w="0">
            <a:noFill/>
          </a:ln>
        </p:spPr>
      </p:pic>
      <p:sp>
        <p:nvSpPr>
          <p:cNvPr id="84" name="Text 0"/>
          <p:cNvSpPr/>
          <p:nvPr/>
        </p:nvSpPr>
        <p:spPr>
          <a:xfrm>
            <a:off x="7947360" y="767160"/>
            <a:ext cx="588708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dirty="0">
                <a:solidFill>
                  <a:srgbClr val="233E32"/>
                </a:solidFill>
                <a:effectLst/>
                <a:uFillTx/>
                <a:latin typeface="Amiri"/>
                <a:cs typeface="Amiri"/>
              </a:rPr>
              <a:t>التحديات في الموقع القديم</a:t>
            </a:r>
            <a:endParaRPr lang="en-US" sz="4450" b="0" u="none" strike="noStrike" dirty="0">
              <a:solidFill>
                <a:srgbClr val="000000"/>
              </a:solidFill>
              <a:effectLst/>
              <a:uFillTx/>
              <a:latin typeface="Arial"/>
            </a:endParaRPr>
          </a:p>
        </p:txBody>
      </p:sp>
      <p:sp>
        <p:nvSpPr>
          <p:cNvPr id="85" name="Shape 1"/>
          <p:cNvSpPr/>
          <p:nvPr/>
        </p:nvSpPr>
        <p:spPr>
          <a:xfrm>
            <a:off x="6280200" y="181620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 name="Shape 2"/>
          <p:cNvSpPr/>
          <p:nvPr/>
        </p:nvSpPr>
        <p:spPr>
          <a:xfrm>
            <a:off x="6280200" y="181620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87" name="Text 3"/>
          <p:cNvSpPr/>
          <p:nvPr/>
        </p:nvSpPr>
        <p:spPr>
          <a:xfrm>
            <a:off x="10652760" y="20736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dirty="0">
                <a:solidFill>
                  <a:srgbClr val="2C2821"/>
                </a:solidFill>
                <a:effectLst/>
                <a:uFillTx/>
                <a:latin typeface="Amiri"/>
                <a:cs typeface="Amiri"/>
              </a:rPr>
              <a:t>ضعف التصميم البصري</a:t>
            </a:r>
            <a:endParaRPr lang="en-US" sz="2600" b="0" u="none" strike="noStrike" dirty="0">
              <a:solidFill>
                <a:srgbClr val="000000"/>
              </a:solidFill>
              <a:effectLst/>
              <a:uFillTx/>
              <a:latin typeface="Arial"/>
            </a:endParaRPr>
          </a:p>
        </p:txBody>
      </p:sp>
      <p:sp>
        <p:nvSpPr>
          <p:cNvPr id="88" name="Text 4"/>
          <p:cNvSpPr/>
          <p:nvPr/>
        </p:nvSpPr>
        <p:spPr>
          <a:xfrm>
            <a:off x="6537600" y="2563920"/>
            <a:ext cx="69483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chorCtr="1">
            <a:noAutofit/>
          </a:bodyPr>
          <a:lstStyle/>
          <a:p>
            <a:pPr algn="r" rtl="1">
              <a:lnSpc>
                <a:spcPct val="115000"/>
              </a:lnSpc>
              <a:spcBef>
                <a:spcPts val="283"/>
              </a:spcBef>
              <a:spcAft>
                <a:spcPts val="283"/>
              </a:spcAft>
              <a:tabLst>
                <a:tab pos="0" algn="l"/>
              </a:tabLst>
            </a:pPr>
            <a:r>
              <a:rPr lang="ar-EG" sz="2000" b="0" u="none" strike="noStrike" dirty="0">
                <a:solidFill>
                  <a:srgbClr val="2C2821"/>
                </a:solidFill>
                <a:effectLst/>
                <a:uFillTx/>
                <a:latin typeface="Amiri"/>
                <a:cs typeface="Amiri"/>
              </a:rPr>
              <a:t>واجهة تقليدية تفتقر إلى التنظيم البصري الحديث، مما يصعّب على المستخدمين العثور على المعلومات بسرعة</a:t>
            </a:r>
            <a:endParaRPr lang="en-US" sz="2000" b="0" u="none" strike="noStrike" dirty="0">
              <a:solidFill>
                <a:srgbClr val="000000"/>
              </a:solidFill>
              <a:effectLst/>
              <a:uFillTx/>
              <a:latin typeface="Arial"/>
            </a:endParaRPr>
          </a:p>
        </p:txBody>
      </p:sp>
      <p:sp>
        <p:nvSpPr>
          <p:cNvPr id="89" name="Shape 5"/>
          <p:cNvSpPr/>
          <p:nvPr/>
        </p:nvSpPr>
        <p:spPr>
          <a:xfrm>
            <a:off x="6280200" y="377388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90" name="Shape 6"/>
          <p:cNvSpPr/>
          <p:nvPr/>
        </p:nvSpPr>
        <p:spPr>
          <a:xfrm>
            <a:off x="6280200" y="377388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91" name="Text 7"/>
          <p:cNvSpPr/>
          <p:nvPr/>
        </p:nvSpPr>
        <p:spPr>
          <a:xfrm>
            <a:off x="10652760" y="403092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a:solidFill>
                  <a:srgbClr val="2C2821"/>
                </a:solidFill>
                <a:effectLst/>
                <a:uFillTx/>
                <a:latin typeface="Amiri"/>
                <a:cs typeface="Amiri"/>
              </a:rPr>
              <a:t>بطء شديد في الأداء</a:t>
            </a:r>
            <a:endParaRPr lang="en-US" sz="2600" b="0" u="none" strike="noStrike">
              <a:solidFill>
                <a:srgbClr val="000000"/>
              </a:solidFill>
              <a:effectLst/>
              <a:uFillTx/>
              <a:latin typeface="Arial"/>
            </a:endParaRPr>
          </a:p>
        </p:txBody>
      </p:sp>
      <p:sp>
        <p:nvSpPr>
          <p:cNvPr id="92" name="Text 8"/>
          <p:cNvSpPr/>
          <p:nvPr/>
        </p:nvSpPr>
        <p:spPr>
          <a:xfrm>
            <a:off x="7669390" y="4384391"/>
            <a:ext cx="5919890" cy="1077218"/>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chorCtr="1">
            <a:spAutoFit/>
          </a:bodyPr>
          <a:lstStyle/>
          <a:p>
            <a:pPr algn="r" rtl="1">
              <a:lnSpc>
                <a:spcPct val="100000"/>
              </a:lnSpc>
              <a:spcBef>
                <a:spcPts val="283"/>
              </a:spcBef>
              <a:spcAft>
                <a:spcPts val="283"/>
              </a:spcAft>
              <a:tabLst>
                <a:tab pos="0" algn="l"/>
              </a:tabLst>
            </a:pPr>
            <a:r>
              <a:rPr lang="ar-EG" sz="2000" b="0" u="none" strike="noStrike" dirty="0">
                <a:solidFill>
                  <a:srgbClr val="2C2821"/>
                </a:solidFill>
                <a:effectLst/>
                <a:uFillTx/>
                <a:latin typeface="Amiri"/>
                <a:cs typeface="Amiri"/>
              </a:rPr>
              <a:t>زمن تحميل الصفحة يتراوح بين </a:t>
            </a:r>
            <a:r>
              <a:rPr lang="en-US" sz="2000" b="0" u="none" strike="noStrike" dirty="0">
                <a:solidFill>
                  <a:srgbClr val="2C2821"/>
                </a:solidFill>
                <a:effectLst/>
                <a:uFillTx/>
                <a:latin typeface="Amiri"/>
              </a:rPr>
              <a:t>3-5 </a:t>
            </a:r>
            <a:r>
              <a:rPr lang="en-US" sz="2000" b="0" u="none" strike="noStrike" dirty="0" err="1">
                <a:solidFill>
                  <a:srgbClr val="2C2821"/>
                </a:solidFill>
                <a:effectLst/>
                <a:uFillTx/>
                <a:latin typeface="Amiri"/>
              </a:rPr>
              <a:t>ثوانٍ</a:t>
            </a:r>
            <a:r>
              <a:rPr lang="en-US" sz="2000" b="0" u="none" strike="noStrike" dirty="0">
                <a:solidFill>
                  <a:srgbClr val="2C2821"/>
                </a:solidFill>
                <a:effectLst/>
                <a:uFillTx/>
                <a:latin typeface="Amiri"/>
              </a:rPr>
              <a:t>، </a:t>
            </a:r>
            <a:endParaRPr lang="en-US" sz="2000" b="0" u="none" strike="noStrike" dirty="0">
              <a:solidFill>
                <a:srgbClr val="000000"/>
              </a:solidFill>
              <a:effectLst/>
              <a:uFillTx/>
              <a:latin typeface="Arial"/>
            </a:endParaRPr>
          </a:p>
          <a:p>
            <a:pPr algn="r" rtl="1">
              <a:lnSpc>
                <a:spcPct val="100000"/>
              </a:lnSpc>
              <a:spcBef>
                <a:spcPts val="283"/>
              </a:spcBef>
              <a:spcAft>
                <a:spcPts val="283"/>
              </a:spcAft>
              <a:tabLst>
                <a:tab pos="0" algn="l"/>
              </a:tabLst>
            </a:pPr>
            <a:r>
              <a:rPr lang="ar-EG" sz="2000" b="0" u="none" strike="noStrike" dirty="0">
                <a:solidFill>
                  <a:srgbClr val="2C2821"/>
                </a:solidFill>
                <a:effectLst/>
                <a:uFillTx/>
                <a:latin typeface="Amiri"/>
                <a:cs typeface="Amiri"/>
              </a:rPr>
              <a:t>مما يؤدي إلى ارتفاع معدل الارتداد وانخفاض معدلات التحويل</a:t>
            </a:r>
          </a:p>
          <a:p>
            <a:pPr algn="r" rtl="1">
              <a:lnSpc>
                <a:spcPct val="100000"/>
              </a:lnSpc>
              <a:spcBef>
                <a:spcPts val="283"/>
              </a:spcBef>
              <a:spcAft>
                <a:spcPts val="283"/>
              </a:spcAft>
              <a:tabLst>
                <a:tab pos="0" algn="l"/>
              </a:tabLst>
            </a:pPr>
            <a:r>
              <a:rPr lang="ar-EG" sz="2000" dirty="0">
                <a:solidFill>
                  <a:srgbClr val="2C2821"/>
                </a:solidFill>
                <a:latin typeface="Amiri"/>
                <a:cs typeface="Amiri"/>
              </a:rPr>
              <a:t>استخدام صور غير محسنه بدقة عالية مما يؤثر بشكل ملحوظ على اداء الموقع</a:t>
            </a:r>
            <a:endParaRPr lang="en-US" sz="2000" b="0" u="none" strike="noStrike" dirty="0">
              <a:solidFill>
                <a:srgbClr val="000000"/>
              </a:solidFill>
              <a:effectLst/>
              <a:uFillTx/>
              <a:latin typeface="Arial"/>
            </a:endParaRPr>
          </a:p>
        </p:txBody>
      </p:sp>
      <p:sp>
        <p:nvSpPr>
          <p:cNvPr id="93" name="Shape 9"/>
          <p:cNvSpPr/>
          <p:nvPr/>
        </p:nvSpPr>
        <p:spPr>
          <a:xfrm>
            <a:off x="6280200" y="5731560"/>
            <a:ext cx="7554240" cy="1728720"/>
          </a:xfrm>
          <a:prstGeom prst="roundRect">
            <a:avLst>
              <a:gd name="adj" fmla="val 1966"/>
            </a:avLst>
          </a:prstGeom>
          <a:solidFill>
            <a:srgbClr val="FCFBF8"/>
          </a:solidFill>
          <a:ln w="30480">
            <a:solidFill>
              <a:srgbClr val="3465A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Shape 10"/>
          <p:cNvSpPr/>
          <p:nvPr/>
        </p:nvSpPr>
        <p:spPr>
          <a:xfrm>
            <a:off x="6280200" y="5731560"/>
            <a:ext cx="119880" cy="1728720"/>
          </a:xfrm>
          <a:prstGeom prst="rect">
            <a:avLst/>
          </a:prstGeom>
          <a:solidFill>
            <a:srgbClr val="3465A4"/>
          </a:solidFill>
          <a:ln w="0">
            <a:noFill/>
          </a:ln>
        </p:spPr>
        <p:style>
          <a:lnRef idx="0">
            <a:scrgbClr r="0" g="0" b="0"/>
          </a:lnRef>
          <a:fillRef idx="0">
            <a:scrgbClr r="0" g="0" b="0"/>
          </a:fillRef>
          <a:effectRef idx="0">
            <a:scrgbClr r="0" g="0" b="0"/>
          </a:effectRef>
          <a:fontRef idx="minor"/>
        </p:style>
        <p:txBody>
          <a:bodyPr lIns="60120" tIns="45000" rIns="60120" bIns="45000" anchor="t">
            <a:noAutofit/>
          </a:bodyPr>
          <a:lstStyle/>
          <a:p>
            <a:endParaRPr lang="en-US" sz="1800" b="0" u="none" strike="noStrike">
              <a:solidFill>
                <a:srgbClr val="FFFFFF"/>
              </a:solidFill>
              <a:effectLst/>
              <a:uFillTx/>
              <a:latin typeface="Arial"/>
            </a:endParaRPr>
          </a:p>
        </p:txBody>
      </p:sp>
      <p:sp>
        <p:nvSpPr>
          <p:cNvPr id="95" name="Text 11"/>
          <p:cNvSpPr/>
          <p:nvPr/>
        </p:nvSpPr>
        <p:spPr>
          <a:xfrm>
            <a:off x="10652760" y="59886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600" b="0" u="none" strike="noStrike">
                <a:solidFill>
                  <a:srgbClr val="2C2821"/>
                </a:solidFill>
                <a:effectLst/>
                <a:uFillTx/>
                <a:latin typeface="Amiri"/>
                <a:cs typeface="Amiri"/>
              </a:rPr>
              <a:t>عدم التوافق مع الموبايل</a:t>
            </a:r>
            <a:endParaRPr lang="en-US" sz="2600" b="0" u="none" strike="noStrike">
              <a:solidFill>
                <a:srgbClr val="000000"/>
              </a:solidFill>
              <a:effectLst/>
              <a:uFillTx/>
              <a:latin typeface="Arial"/>
            </a:endParaRPr>
          </a:p>
        </p:txBody>
      </p:sp>
      <p:sp>
        <p:nvSpPr>
          <p:cNvPr id="96" name="Text 12"/>
          <p:cNvSpPr/>
          <p:nvPr/>
        </p:nvSpPr>
        <p:spPr>
          <a:xfrm>
            <a:off x="6537600" y="6479280"/>
            <a:ext cx="69483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تصميم غير متجاوب يخلق تجربة سيئة للمستخدمين على الهواتف الذكية، التي تمثل </a:t>
            </a:r>
            <a:r>
              <a:rPr lang="en-US" sz="2000" b="0" u="none" strike="noStrike">
                <a:solidFill>
                  <a:srgbClr val="2C2821"/>
                </a:solidFill>
                <a:effectLst/>
                <a:uFillTx/>
                <a:latin typeface="Amiri"/>
                <a:ea typeface="Lora"/>
              </a:rPr>
              <a:t>60% من الزوار</a:t>
            </a:r>
            <a:endParaRPr lang="en-US" sz="2000" b="0" u="none" strike="noStrike">
              <a:solidFill>
                <a:srgbClr val="000000"/>
              </a:solidFill>
              <a:effectLst/>
              <a:uFillTx/>
              <a:latin typeface="Arial"/>
            </a:endParaRPr>
          </a:p>
        </p:txBody>
      </p:sp>
      <p:pic>
        <p:nvPicPr>
          <p:cNvPr id="97" name="Picture 22"/>
          <p:cNvPicPr/>
          <p:nvPr/>
        </p:nvPicPr>
        <p:blipFill>
          <a:blip r:embed="rId4"/>
          <a:stretch/>
        </p:blipFill>
        <p:spPr>
          <a:xfrm>
            <a:off x="13257360" y="187920"/>
            <a:ext cx="780840" cy="710640"/>
          </a:xfrm>
          <a:prstGeom prst="rect">
            <a:avLst/>
          </a:prstGeom>
          <a:noFill/>
          <a:ln w="0">
            <a:noFill/>
          </a:ln>
        </p:spPr>
      </p:pic>
      <p:pic>
        <p:nvPicPr>
          <p:cNvPr id="98" name="Picture 23"/>
          <p:cNvPicPr/>
          <p:nvPr/>
        </p:nvPicPr>
        <p:blipFill>
          <a:blip r:embed="rId5"/>
          <a:stretch/>
        </p:blipFill>
        <p:spPr>
          <a:xfrm>
            <a:off x="5785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1A2A1938-1196-39CA-8E82-7722D22A3D0C}"/>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E74A588-A87B-98B8-CFC1-6CF2E5BF04C3}"/>
                  </a:ext>
                </a:extLst>
              </p14:cNvPr>
              <p14:cNvContentPartPr/>
              <p14:nvPr/>
            </p14:nvContentPartPr>
            <p14:xfrm>
              <a:off x="6907832" y="2162907"/>
              <a:ext cx="720" cy="5892037"/>
            </p14:xfrm>
          </p:contentPart>
        </mc:Choice>
        <mc:Fallback>
          <p:pic>
            <p:nvPicPr>
              <p:cNvPr id="5" name="Ink 4">
                <a:extLst>
                  <a:ext uri="{FF2B5EF4-FFF2-40B4-BE49-F238E27FC236}">
                    <a16:creationId xmlns:a16="http://schemas.microsoft.com/office/drawing/2014/main" id="{1E74A588-A87B-98B8-CFC1-6CF2E5BF04C3}"/>
                  </a:ext>
                </a:extLst>
              </p:cNvPr>
              <p:cNvPicPr/>
              <p:nvPr/>
            </p:nvPicPr>
            <p:blipFill>
              <a:blip r:embed="rId3"/>
              <a:stretch>
                <a:fillRect/>
              </a:stretch>
            </p:blipFill>
            <p:spPr>
              <a:xfrm>
                <a:off x="6895592" y="2156787"/>
                <a:ext cx="25200" cy="5904277"/>
              </a:xfrm>
              <a:prstGeom prst="rect">
                <a:avLst/>
              </a:prstGeom>
            </p:spPr>
          </p:pic>
        </mc:Fallback>
      </mc:AlternateContent>
      <p:sp>
        <p:nvSpPr>
          <p:cNvPr id="6" name="TextBox 5">
            <a:extLst>
              <a:ext uri="{FF2B5EF4-FFF2-40B4-BE49-F238E27FC236}">
                <a16:creationId xmlns:a16="http://schemas.microsoft.com/office/drawing/2014/main" id="{FE41F793-61AD-C7F9-F259-545A7C909B50}"/>
              </a:ext>
            </a:extLst>
          </p:cNvPr>
          <p:cNvSpPr txBox="1"/>
          <p:nvPr/>
        </p:nvSpPr>
        <p:spPr>
          <a:xfrm>
            <a:off x="8420782" y="1808964"/>
            <a:ext cx="4685899" cy="830997"/>
          </a:xfrm>
          <a:prstGeom prst="rect">
            <a:avLst/>
          </a:prstGeom>
          <a:noFill/>
        </p:spPr>
        <p:txBody>
          <a:bodyPr wrap="none" rtlCol="0">
            <a:spAutoFit/>
          </a:bodyPr>
          <a:lstStyle/>
          <a:p>
            <a:pPr algn="ctr" rtl="1"/>
            <a:r>
              <a:rPr lang="ar-EG" sz="4800" b="1" dirty="0">
                <a:latin typeface="Amiri" panose="00000500000000000000" pitchFamily="2" charset="-78"/>
                <a:cs typeface="Amiri" panose="00000500000000000000" pitchFamily="2" charset="-78"/>
              </a:rPr>
              <a:t>التحديات التى تم حلها </a:t>
            </a:r>
            <a:endParaRPr lang="en-US" sz="4800" b="1" dirty="0">
              <a:latin typeface="Amiri" panose="00000500000000000000" pitchFamily="2" charset="-78"/>
              <a:cs typeface="Amiri" panose="00000500000000000000" pitchFamily="2" charset="-78"/>
            </a:endParaRPr>
          </a:p>
        </p:txBody>
      </p:sp>
      <p:sp>
        <p:nvSpPr>
          <p:cNvPr id="8" name="TextBox 7">
            <a:extLst>
              <a:ext uri="{FF2B5EF4-FFF2-40B4-BE49-F238E27FC236}">
                <a16:creationId xmlns:a16="http://schemas.microsoft.com/office/drawing/2014/main" id="{5945F8FB-E52A-481F-A37C-AF1790188271}"/>
              </a:ext>
            </a:extLst>
          </p:cNvPr>
          <p:cNvSpPr txBox="1"/>
          <p:nvPr/>
        </p:nvSpPr>
        <p:spPr>
          <a:xfrm>
            <a:off x="917057" y="1894171"/>
            <a:ext cx="5399235" cy="830997"/>
          </a:xfrm>
          <a:prstGeom prst="rect">
            <a:avLst/>
          </a:prstGeom>
          <a:noFill/>
        </p:spPr>
        <p:txBody>
          <a:bodyPr wrap="none" rtlCol="0">
            <a:spAutoFit/>
          </a:bodyPr>
          <a:lstStyle/>
          <a:p>
            <a:pPr algn="ctr" rtl="1"/>
            <a:r>
              <a:rPr lang="ar-EG" sz="4800" b="1" dirty="0">
                <a:latin typeface="Amiri" panose="00000500000000000000" pitchFamily="2" charset="-78"/>
                <a:cs typeface="Amiri" panose="00000500000000000000" pitchFamily="2" charset="-78"/>
              </a:rPr>
              <a:t>التحديات التى ماذلت قائمة</a:t>
            </a:r>
            <a:endParaRPr lang="en-US" sz="4800" b="1" dirty="0">
              <a:latin typeface="Amiri" panose="00000500000000000000" pitchFamily="2" charset="-78"/>
              <a:cs typeface="Amiri" panose="00000500000000000000" pitchFamily="2" charset="-78"/>
            </a:endParaRPr>
          </a:p>
        </p:txBody>
      </p:sp>
      <p:pic>
        <p:nvPicPr>
          <p:cNvPr id="11" name="Picture 1">
            <a:extLst>
              <a:ext uri="{FF2B5EF4-FFF2-40B4-BE49-F238E27FC236}">
                <a16:creationId xmlns:a16="http://schemas.microsoft.com/office/drawing/2014/main" id="{BA6922D7-886A-EB76-02F4-6F40FE45A58E}"/>
              </a:ext>
            </a:extLst>
          </p:cNvPr>
          <p:cNvPicPr/>
          <p:nvPr/>
        </p:nvPicPr>
        <p:blipFill>
          <a:blip r:embed="rId4"/>
          <a:stretch/>
        </p:blipFill>
        <p:spPr>
          <a:xfrm>
            <a:off x="13257360" y="187560"/>
            <a:ext cx="780840" cy="710640"/>
          </a:xfrm>
          <a:prstGeom prst="rect">
            <a:avLst/>
          </a:prstGeom>
          <a:noFill/>
          <a:ln w="0">
            <a:noFill/>
          </a:ln>
        </p:spPr>
      </p:pic>
      <p:pic>
        <p:nvPicPr>
          <p:cNvPr id="13" name="Picture 2">
            <a:extLst>
              <a:ext uri="{FF2B5EF4-FFF2-40B4-BE49-F238E27FC236}">
                <a16:creationId xmlns:a16="http://schemas.microsoft.com/office/drawing/2014/main" id="{EFC33446-909C-753E-4FD8-61D448380767}"/>
              </a:ext>
            </a:extLst>
          </p:cNvPr>
          <p:cNvPicPr/>
          <p:nvPr/>
        </p:nvPicPr>
        <p:blipFill>
          <a:blip r:embed="rId5"/>
          <a:stretch/>
        </p:blipFill>
        <p:spPr>
          <a:xfrm>
            <a:off x="313200" y="257040"/>
            <a:ext cx="1045080" cy="743400"/>
          </a:xfrm>
          <a:prstGeom prst="rect">
            <a:avLst/>
          </a:prstGeom>
          <a:noFill/>
          <a:ln w="0">
            <a:noFill/>
          </a:ln>
        </p:spPr>
      </p:pic>
      <p:sp>
        <p:nvSpPr>
          <p:cNvPr id="15" name="TextBox 3">
            <a:extLst>
              <a:ext uri="{FF2B5EF4-FFF2-40B4-BE49-F238E27FC236}">
                <a16:creationId xmlns:a16="http://schemas.microsoft.com/office/drawing/2014/main" id="{A8BFB781-3E52-818F-EA08-29434C04D863}"/>
              </a:ext>
            </a:extLst>
          </p:cNvPr>
          <p:cNvSpPr/>
          <p:nvPr/>
        </p:nvSpPr>
        <p:spPr>
          <a:xfrm>
            <a:off x="5207923" y="639676"/>
            <a:ext cx="3399818" cy="129120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rtl="1">
              <a:lnSpc>
                <a:spcPct val="100000"/>
              </a:lnSpc>
            </a:pPr>
            <a:r>
              <a:rPr lang="ar-EG" sz="6000" b="1" dirty="0">
                <a:latin typeface="Amiri" panose="00000500000000000000" pitchFamily="2" charset="-78"/>
                <a:cs typeface="Amiri" panose="00000500000000000000" pitchFamily="2" charset="-78"/>
              </a:rPr>
              <a:t>التحديـــات</a:t>
            </a:r>
            <a:endParaRPr lang="en-US" sz="6000" b="1" dirty="0">
              <a:latin typeface="Amiri" panose="00000500000000000000" pitchFamily="2" charset="-78"/>
              <a:cs typeface="Amiri" panose="00000500000000000000" pitchFamily="2" charset="-78"/>
            </a:endParaRPr>
          </a:p>
          <a:p>
            <a:pPr algn="r" defTabSz="914400" rtl="1">
              <a:lnSpc>
                <a:spcPct val="100000"/>
              </a:lnSpc>
            </a:pPr>
            <a:endParaRPr lang="en-US" sz="1800" b="0" u="none" strike="noStrike" dirty="0">
              <a:solidFill>
                <a:srgbClr val="000000"/>
              </a:solidFill>
              <a:effectLst/>
              <a:uFillTx/>
              <a:latin typeface="Arial"/>
            </a:endParaRPr>
          </a:p>
        </p:txBody>
      </p:sp>
      <p:sp>
        <p:nvSpPr>
          <p:cNvPr id="16" name="Rectangle 15">
            <a:extLst>
              <a:ext uri="{FF2B5EF4-FFF2-40B4-BE49-F238E27FC236}">
                <a16:creationId xmlns:a16="http://schemas.microsoft.com/office/drawing/2014/main" id="{040F83D0-C71B-CA55-B805-52ACBC7BE30A}"/>
              </a:ext>
            </a:extLst>
          </p:cNvPr>
          <p:cNvSpPr/>
          <p:nvPr/>
        </p:nvSpPr>
        <p:spPr>
          <a:xfrm>
            <a:off x="12028597" y="7280031"/>
            <a:ext cx="2601803" cy="9495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r" rtl="1"/>
            <a:endParaRPr lang="en-US"/>
          </a:p>
        </p:txBody>
      </p:sp>
      <p:sp>
        <p:nvSpPr>
          <p:cNvPr id="2" name="TextBox 1">
            <a:extLst>
              <a:ext uri="{FF2B5EF4-FFF2-40B4-BE49-F238E27FC236}">
                <a16:creationId xmlns:a16="http://schemas.microsoft.com/office/drawing/2014/main" id="{05672465-37D5-CAB4-FA51-1707B43CC68C}"/>
              </a:ext>
            </a:extLst>
          </p:cNvPr>
          <p:cNvSpPr txBox="1"/>
          <p:nvPr/>
        </p:nvSpPr>
        <p:spPr>
          <a:xfrm>
            <a:off x="6942137" y="2602057"/>
            <a:ext cx="7308721" cy="5357236"/>
          </a:xfrm>
          <a:prstGeom prst="rect">
            <a:avLst/>
          </a:prstGeom>
          <a:noFill/>
        </p:spPr>
        <p:txBody>
          <a:bodyPr wrap="square" rtlCol="0">
            <a:spAutoFit/>
          </a:bodyPr>
          <a:lstStyle/>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تحسين اداء الموقع من حيث السرعة و خبرة المستخدم.</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تحسين تحميل الصور.</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دعم الصم والبكم.</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دعم اللغتين العربية / الانجليزية.</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ديناميكية تقديم المدرسة.</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طريقة عرض الاخبار وسهولتها ومشاركة بصورة الخبر. </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سهولة البحث داخل الموقع.</a:t>
            </a:r>
          </a:p>
          <a:p>
            <a:pPr marL="339725" indent="-339725" algn="r" rtl="1">
              <a:lnSpc>
                <a:spcPct val="150000"/>
              </a:lnSpc>
              <a:buFont typeface="+mj-lt"/>
              <a:buAutoNum type="arabicPeriod"/>
            </a:pPr>
            <a:r>
              <a:rPr lang="ar-EG" sz="2300" b="1" dirty="0">
                <a:latin typeface="Amiri" panose="020B0604020202020204" charset="-78"/>
                <a:cs typeface="Amiri" panose="020B0604020202020204" charset="-78"/>
              </a:rPr>
              <a:t>وضع خطة ربع سنوية لتحديث المشاريع التي يمكن عرضها داخل الموقع الالكتروني من الإدارات والقطاعات المعنية "قطاع التخطيط – قطاع المشرعات – وحدة التعاون الدولي – الإدارة العامة للمكتب الفني".</a:t>
            </a:r>
            <a:endParaRPr lang="en-US" sz="2300" b="1" dirty="0">
              <a:latin typeface="Amiri" panose="020B0604020202020204" charset="-78"/>
              <a:cs typeface="Amiri" panose="020B0604020202020204" charset="-78"/>
            </a:endParaRPr>
          </a:p>
        </p:txBody>
      </p:sp>
      <p:sp>
        <p:nvSpPr>
          <p:cNvPr id="4" name="TextBox 3">
            <a:extLst>
              <a:ext uri="{FF2B5EF4-FFF2-40B4-BE49-F238E27FC236}">
                <a16:creationId xmlns:a16="http://schemas.microsoft.com/office/drawing/2014/main" id="{5911F058-ADA1-BC60-D4D8-DA038DFCD8C3}"/>
              </a:ext>
            </a:extLst>
          </p:cNvPr>
          <p:cNvSpPr txBox="1"/>
          <p:nvPr/>
        </p:nvSpPr>
        <p:spPr>
          <a:xfrm>
            <a:off x="0" y="2776307"/>
            <a:ext cx="6332350" cy="1640834"/>
          </a:xfrm>
          <a:prstGeom prst="rect">
            <a:avLst/>
          </a:prstGeom>
          <a:noFill/>
        </p:spPr>
        <p:txBody>
          <a:bodyPr wrap="square" rtlCol="0">
            <a:spAutoFit/>
          </a:bodyPr>
          <a:lstStyle/>
          <a:p>
            <a:pPr marL="457200" indent="-457200" algn="r" rtl="1">
              <a:lnSpc>
                <a:spcPct val="150000"/>
              </a:lnSpc>
              <a:buFont typeface="+mj-lt"/>
              <a:buAutoNum type="arabicPeriod"/>
            </a:pPr>
            <a:r>
              <a:rPr lang="ar-EG" sz="2300" b="1" dirty="0">
                <a:latin typeface="Amiri" panose="020B0604020202020204" charset="-78"/>
                <a:cs typeface="Amiri" panose="020B0604020202020204" charset="-78"/>
              </a:rPr>
              <a:t>إضافة امكان الدفع الإلكتروني.</a:t>
            </a:r>
          </a:p>
          <a:p>
            <a:pPr marL="457200" indent="-457200" algn="r" rtl="1">
              <a:lnSpc>
                <a:spcPct val="150000"/>
              </a:lnSpc>
              <a:buFont typeface="+mj-lt"/>
              <a:buAutoNum type="arabicPeriod"/>
            </a:pPr>
            <a:r>
              <a:rPr lang="ar-EG" sz="2300" b="1" dirty="0">
                <a:latin typeface="Amiri" panose="020B0604020202020204" charset="-78"/>
                <a:cs typeface="Amiri" panose="020B0604020202020204" charset="-78"/>
              </a:rPr>
              <a:t>ادخال القراءة.</a:t>
            </a:r>
          </a:p>
          <a:p>
            <a:pPr marL="457200" indent="-457200" algn="r" rtl="1">
              <a:lnSpc>
                <a:spcPct val="150000"/>
              </a:lnSpc>
              <a:buFont typeface="+mj-lt"/>
              <a:buAutoNum type="arabicPeriod"/>
            </a:pPr>
            <a:r>
              <a:rPr lang="ar-EG" sz="2300" b="1" dirty="0">
                <a:latin typeface="Amiri" panose="020B0604020202020204" charset="-78"/>
                <a:cs typeface="Amiri" panose="020B0604020202020204" charset="-78"/>
              </a:rPr>
              <a:t>الاستعلام عن الفاتورة.</a:t>
            </a:r>
          </a:p>
        </p:txBody>
      </p:sp>
    </p:spTree>
    <p:extLst>
      <p:ext uri="{BB962C8B-B14F-4D97-AF65-F5344CB8AC3E}">
        <p14:creationId xmlns:p14="http://schemas.microsoft.com/office/powerpoint/2010/main" val="1313845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Image 0" descr="preencoded.png"/>
          <p:cNvPicPr/>
          <p:nvPr/>
        </p:nvPicPr>
        <p:blipFill>
          <a:blip r:embed="rId3"/>
          <a:stretch/>
        </p:blipFill>
        <p:spPr>
          <a:xfrm>
            <a:off x="9144000" y="0"/>
            <a:ext cx="5484240" cy="8227440"/>
          </a:xfrm>
          <a:prstGeom prst="rect">
            <a:avLst/>
          </a:prstGeom>
          <a:noFill/>
          <a:ln w="0">
            <a:noFill/>
          </a:ln>
        </p:spPr>
      </p:pic>
      <p:sp>
        <p:nvSpPr>
          <p:cNvPr id="100" name="Text 0"/>
          <p:cNvSpPr/>
          <p:nvPr/>
        </p:nvSpPr>
        <p:spPr>
          <a:xfrm>
            <a:off x="793800" y="1707480"/>
            <a:ext cx="7554240" cy="141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المقارنة البصرية: التحول في الواجهة</a:t>
            </a:r>
            <a:endParaRPr lang="en-US" sz="4450" b="0" u="none" strike="noStrike">
              <a:solidFill>
                <a:srgbClr val="000000"/>
              </a:solidFill>
              <a:effectLst/>
              <a:uFillTx/>
              <a:latin typeface="Arial"/>
            </a:endParaRPr>
          </a:p>
        </p:txBody>
      </p:sp>
      <p:sp>
        <p:nvSpPr>
          <p:cNvPr id="101" name="Shape 1"/>
          <p:cNvSpPr/>
          <p:nvPr/>
        </p:nvSpPr>
        <p:spPr>
          <a:xfrm>
            <a:off x="7840080" y="3465000"/>
            <a:ext cx="508320" cy="508320"/>
          </a:xfrm>
          <a:prstGeom prst="roundRect">
            <a:avLst>
              <a:gd name="adj" fmla="val 666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 name="Text 2"/>
          <p:cNvSpPr/>
          <p:nvPr/>
        </p:nvSpPr>
        <p:spPr>
          <a:xfrm>
            <a:off x="7925040" y="3507480"/>
            <a:ext cx="338040" cy="423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650"/>
              </a:lnSpc>
              <a:tabLst>
                <a:tab pos="0" algn="l"/>
              </a:tabLst>
            </a:pPr>
            <a:r>
              <a:rPr lang="en-US" sz="2650" b="0" u="none" strike="noStrike">
                <a:solidFill>
                  <a:srgbClr val="2C2821"/>
                </a:solidFill>
                <a:effectLst/>
                <a:uFillTx/>
                <a:latin typeface="Alice"/>
                <a:ea typeface="Alice"/>
              </a:rPr>
              <a:t>1</a:t>
            </a:r>
            <a:endParaRPr lang="en-US" sz="2650" b="0" u="none" strike="noStrike">
              <a:solidFill>
                <a:srgbClr val="000000"/>
              </a:solidFill>
              <a:effectLst/>
              <a:uFillTx/>
              <a:latin typeface="Arial"/>
            </a:endParaRPr>
          </a:p>
        </p:txBody>
      </p:sp>
      <p:sp>
        <p:nvSpPr>
          <p:cNvPr id="103" name="Text 3"/>
          <p:cNvSpPr/>
          <p:nvPr/>
        </p:nvSpPr>
        <p:spPr>
          <a:xfrm>
            <a:off x="4777920" y="35431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2600" b="0" u="none" strike="noStrike" dirty="0">
                <a:solidFill>
                  <a:srgbClr val="000000"/>
                </a:solidFill>
                <a:effectLst/>
                <a:uFillTx/>
                <a:latin typeface="Amiri"/>
                <a:ea typeface="Alice"/>
              </a:rPr>
              <a:t>❌</a:t>
            </a:r>
            <a:r>
              <a:rPr lang="en-US" sz="2600" b="0" u="none" strike="noStrike" dirty="0">
                <a:solidFill>
                  <a:srgbClr val="2C2821"/>
                </a:solidFill>
                <a:effectLst/>
                <a:uFillTx/>
                <a:latin typeface="Amiri"/>
                <a:ea typeface="Alice"/>
              </a:rPr>
              <a:t> </a:t>
            </a:r>
            <a:r>
              <a:rPr lang="ar-EG" sz="3600" b="0" u="none" strike="noStrike" dirty="0">
                <a:solidFill>
                  <a:srgbClr val="000000"/>
                </a:solidFill>
                <a:effectLst/>
                <a:uFillTx/>
                <a:latin typeface="Traditional Arabic"/>
                <a:cs typeface="Traditional Arabic"/>
              </a:rPr>
              <a:t>الموقع</a:t>
            </a:r>
            <a:r>
              <a:rPr lang="en-US" sz="2600" b="0" u="none" strike="noStrike" dirty="0">
                <a:solidFill>
                  <a:srgbClr val="2C2821"/>
                </a:solidFill>
                <a:effectLst/>
                <a:uFillTx/>
                <a:latin typeface="Amiri"/>
                <a:ea typeface="Alice"/>
              </a:rPr>
              <a:t> </a:t>
            </a:r>
            <a:r>
              <a:rPr lang="ar-EG" sz="3600" b="0" u="none" strike="noStrike" dirty="0">
                <a:solidFill>
                  <a:srgbClr val="000000"/>
                </a:solidFill>
                <a:effectLst/>
                <a:uFillTx/>
                <a:latin typeface="Traditional Arabic"/>
                <a:cs typeface="Traditional Arabic"/>
              </a:rPr>
              <a:t>القديم</a:t>
            </a:r>
            <a:endParaRPr lang="en-US" sz="3600" b="0" u="none" strike="noStrike" dirty="0">
              <a:solidFill>
                <a:srgbClr val="000000"/>
              </a:solidFill>
              <a:effectLst/>
              <a:uFillTx/>
              <a:latin typeface="Arial"/>
            </a:endParaRPr>
          </a:p>
        </p:txBody>
      </p:sp>
      <p:sp>
        <p:nvSpPr>
          <p:cNvPr id="104" name="Text 4"/>
          <p:cNvSpPr/>
          <p:nvPr/>
        </p:nvSpPr>
        <p:spPr>
          <a:xfrm>
            <a:off x="793800" y="4041000"/>
            <a:ext cx="681732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400" b="0" u="none" strike="noStrike" dirty="0">
                <a:solidFill>
                  <a:srgbClr val="2C2821"/>
                </a:solidFill>
                <a:effectLst/>
                <a:uFillTx/>
                <a:latin typeface="Amiri"/>
                <a:cs typeface="Amiri"/>
              </a:rPr>
              <a:t>تصميم متشتت، ألوان غير متناسقة، تسلسل هرمي غير واضح، صعوبة في التنقل والوصول للمحتوى المطلوب</a:t>
            </a:r>
            <a:endParaRPr lang="en-US" sz="2400" b="0" u="none" strike="noStrike" dirty="0">
              <a:solidFill>
                <a:srgbClr val="000000"/>
              </a:solidFill>
              <a:effectLst/>
              <a:uFillTx/>
              <a:latin typeface="Arial"/>
            </a:endParaRPr>
          </a:p>
        </p:txBody>
      </p:sp>
      <p:sp>
        <p:nvSpPr>
          <p:cNvPr id="105" name="Shape 5"/>
          <p:cNvSpPr/>
          <p:nvPr/>
        </p:nvSpPr>
        <p:spPr>
          <a:xfrm>
            <a:off x="7840080" y="5220360"/>
            <a:ext cx="508320" cy="508320"/>
          </a:xfrm>
          <a:prstGeom prst="roundRect">
            <a:avLst>
              <a:gd name="adj" fmla="val 6667"/>
            </a:avLst>
          </a:prstGeom>
          <a:solidFill>
            <a:srgbClr val="F0ED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Text 6"/>
          <p:cNvSpPr/>
          <p:nvPr/>
        </p:nvSpPr>
        <p:spPr>
          <a:xfrm>
            <a:off x="7925040" y="5262840"/>
            <a:ext cx="338040" cy="423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650"/>
              </a:lnSpc>
              <a:tabLst>
                <a:tab pos="0" algn="l"/>
              </a:tabLst>
            </a:pPr>
            <a:r>
              <a:rPr lang="en-US" sz="2650" b="0" u="none" strike="noStrike">
                <a:solidFill>
                  <a:srgbClr val="2C2821"/>
                </a:solidFill>
                <a:effectLst/>
                <a:uFillTx/>
                <a:latin typeface="Alice"/>
                <a:ea typeface="Alice"/>
              </a:rPr>
              <a:t>2</a:t>
            </a:r>
            <a:endParaRPr lang="en-US" sz="2650" b="0" u="none" strike="noStrike">
              <a:solidFill>
                <a:srgbClr val="000000"/>
              </a:solidFill>
              <a:effectLst/>
              <a:uFillTx/>
              <a:latin typeface="Arial"/>
            </a:endParaRPr>
          </a:p>
        </p:txBody>
      </p:sp>
      <p:sp>
        <p:nvSpPr>
          <p:cNvPr id="107" name="Text 7"/>
          <p:cNvSpPr/>
          <p:nvPr/>
        </p:nvSpPr>
        <p:spPr>
          <a:xfrm>
            <a:off x="4777920" y="52981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600" b="0" u="none" strike="noStrike">
                <a:solidFill>
                  <a:srgbClr val="000000"/>
                </a:solidFill>
                <a:effectLst/>
                <a:uFillTx/>
                <a:latin typeface="Traditional Arabic"/>
                <a:ea typeface="Alice"/>
              </a:rPr>
              <a:t>✅</a:t>
            </a:r>
            <a:r>
              <a:rPr lang="en-US" sz="3600" b="0" u="none" strike="noStrike">
                <a:solidFill>
                  <a:srgbClr val="2C2821"/>
                </a:solidFill>
                <a:effectLst/>
                <a:uFillTx/>
                <a:latin typeface="Traditional Arabic"/>
                <a:ea typeface="Alice"/>
              </a:rPr>
              <a:t> الموقع الجديد</a:t>
            </a:r>
            <a:endParaRPr lang="en-US" sz="3600" b="0" u="none" strike="noStrike">
              <a:solidFill>
                <a:srgbClr val="000000"/>
              </a:solidFill>
              <a:effectLst/>
              <a:uFillTx/>
              <a:latin typeface="Arial"/>
            </a:endParaRPr>
          </a:p>
        </p:txBody>
      </p:sp>
      <p:sp>
        <p:nvSpPr>
          <p:cNvPr id="108" name="Text 8"/>
          <p:cNvSpPr/>
          <p:nvPr/>
        </p:nvSpPr>
        <p:spPr>
          <a:xfrm>
            <a:off x="793800" y="5796360"/>
            <a:ext cx="681732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400" b="0" u="none" strike="noStrike">
                <a:solidFill>
                  <a:srgbClr val="2C2821"/>
                </a:solidFill>
                <a:effectLst/>
                <a:uFillTx/>
                <a:latin typeface="Amiri"/>
                <a:cs typeface="Amiri"/>
              </a:rPr>
              <a:t>تصميم عصري ومنظم، ألوان متناسقة، تسلسل هرمي واضح، سهولة في التنقل والوصول الفوري للمحتوى</a:t>
            </a:r>
            <a:endParaRPr lang="en-US" sz="2400" b="0" u="none" strike="noStrike">
              <a:solidFill>
                <a:srgbClr val="000000"/>
              </a:solidFill>
              <a:effectLst/>
              <a:uFillTx/>
              <a:latin typeface="Arial"/>
            </a:endParaRPr>
          </a:p>
        </p:txBody>
      </p:sp>
      <p:pic>
        <p:nvPicPr>
          <p:cNvPr id="109" name="Picture 20"/>
          <p:cNvPicPr/>
          <p:nvPr/>
        </p:nvPicPr>
        <p:blipFill>
          <a:blip r:embed="rId4"/>
          <a:stretch/>
        </p:blipFill>
        <p:spPr>
          <a:xfrm>
            <a:off x="7821360" y="187920"/>
            <a:ext cx="780840" cy="710640"/>
          </a:xfrm>
          <a:prstGeom prst="rect">
            <a:avLst/>
          </a:prstGeom>
          <a:noFill/>
          <a:ln w="0">
            <a:noFill/>
          </a:ln>
        </p:spPr>
      </p:pic>
      <p:pic>
        <p:nvPicPr>
          <p:cNvPr id="110" name="Picture 21"/>
          <p:cNvPicPr/>
          <p:nvPr/>
        </p:nvPicPr>
        <p:blipFill>
          <a:blip r:embed="rId5"/>
          <a:stretch/>
        </p:blipFill>
        <p:spPr>
          <a:xfrm>
            <a:off x="313200" y="257400"/>
            <a:ext cx="1045080" cy="7434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 0"/>
          <p:cNvSpPr/>
          <p:nvPr/>
        </p:nvSpPr>
        <p:spPr>
          <a:xfrm>
            <a:off x="8165880" y="1104458"/>
            <a:ext cx="566856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000" b="0" u="none" strike="noStrike" dirty="0">
                <a:solidFill>
                  <a:srgbClr val="233E32"/>
                </a:solidFill>
                <a:effectLst/>
                <a:uFillTx/>
                <a:latin typeface="Amiri"/>
                <a:cs typeface="Amiri"/>
              </a:rPr>
              <a:t>نسب التحسن في الأداء</a:t>
            </a:r>
            <a:endParaRPr lang="en-US" sz="4000" b="0" u="none" strike="noStrike" dirty="0">
              <a:solidFill>
                <a:srgbClr val="000000"/>
              </a:solidFill>
              <a:effectLst/>
              <a:uFillTx/>
              <a:latin typeface="Arial"/>
            </a:endParaRPr>
          </a:p>
        </p:txBody>
      </p:sp>
      <p:sp>
        <p:nvSpPr>
          <p:cNvPr id="112" name="Text 1"/>
          <p:cNvSpPr/>
          <p:nvPr/>
        </p:nvSpPr>
        <p:spPr>
          <a:xfrm>
            <a:off x="10788480" y="36288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miri" panose="00000500000000000000" pitchFamily="2" charset="-78"/>
                <a:ea typeface="Alice"/>
                <a:cs typeface="Amiri" panose="00000500000000000000" pitchFamily="2" charset="-78"/>
              </a:rPr>
              <a:t>3.5s</a:t>
            </a:r>
            <a:endParaRPr lang="en-US" sz="5850" b="0" u="none" strike="noStrike" dirty="0">
              <a:solidFill>
                <a:srgbClr val="000000"/>
              </a:solidFill>
              <a:effectLst/>
              <a:uFillTx/>
              <a:latin typeface="Amiri" panose="00000500000000000000" pitchFamily="2" charset="-78"/>
              <a:cs typeface="Amiri" panose="00000500000000000000" pitchFamily="2" charset="-78"/>
            </a:endParaRPr>
          </a:p>
        </p:txBody>
      </p:sp>
      <p:sp>
        <p:nvSpPr>
          <p:cNvPr id="113" name="Text 2"/>
          <p:cNvSpPr/>
          <p:nvPr/>
        </p:nvSpPr>
        <p:spPr>
          <a:xfrm>
            <a:off x="10895040" y="46605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زمن التحميل القديم</a:t>
            </a:r>
            <a:endParaRPr lang="en-US" sz="2800" b="0" u="none" strike="noStrike">
              <a:solidFill>
                <a:srgbClr val="000000"/>
              </a:solidFill>
              <a:effectLst/>
              <a:uFillTx/>
              <a:latin typeface="Arial"/>
            </a:endParaRPr>
          </a:p>
        </p:txBody>
      </p:sp>
      <p:sp>
        <p:nvSpPr>
          <p:cNvPr id="114" name="Text 3"/>
          <p:cNvSpPr/>
          <p:nvPr/>
        </p:nvSpPr>
        <p:spPr>
          <a:xfrm>
            <a:off x="10788480" y="5150880"/>
            <a:ext cx="30459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وقت انتظار طويل يدفع المستخدمين للخروج</a:t>
            </a:r>
            <a:endParaRPr lang="en-US" sz="2400" b="0" u="none" strike="noStrike">
              <a:solidFill>
                <a:srgbClr val="000000"/>
              </a:solidFill>
              <a:effectLst/>
              <a:uFillTx/>
              <a:latin typeface="Arial"/>
            </a:endParaRPr>
          </a:p>
        </p:txBody>
      </p:sp>
      <p:sp>
        <p:nvSpPr>
          <p:cNvPr id="115" name="Text 4"/>
          <p:cNvSpPr/>
          <p:nvPr/>
        </p:nvSpPr>
        <p:spPr>
          <a:xfrm>
            <a:off x="3160150" y="155664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miri" panose="00000500000000000000" pitchFamily="2" charset="-78"/>
                <a:ea typeface="Alice"/>
                <a:cs typeface="Amiri" panose="00000500000000000000" pitchFamily="2" charset="-78"/>
              </a:rPr>
              <a:t>1.2s</a:t>
            </a:r>
            <a:endParaRPr lang="en-US" sz="5850" b="0" u="none" strike="noStrike" dirty="0">
              <a:solidFill>
                <a:srgbClr val="000000"/>
              </a:solidFill>
              <a:effectLst/>
              <a:uFillTx/>
              <a:latin typeface="Amiri" panose="00000500000000000000" pitchFamily="2" charset="-78"/>
              <a:cs typeface="Amiri" panose="00000500000000000000" pitchFamily="2" charset="-78"/>
            </a:endParaRPr>
          </a:p>
        </p:txBody>
      </p:sp>
      <p:sp>
        <p:nvSpPr>
          <p:cNvPr id="116" name="Text 5"/>
          <p:cNvSpPr/>
          <p:nvPr/>
        </p:nvSpPr>
        <p:spPr>
          <a:xfrm>
            <a:off x="3266710" y="258840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زمن التحميل الجديد</a:t>
            </a:r>
            <a:endParaRPr lang="en-US" sz="2800" b="0" u="none" strike="noStrike">
              <a:solidFill>
                <a:srgbClr val="000000"/>
              </a:solidFill>
              <a:effectLst/>
              <a:uFillTx/>
              <a:latin typeface="Arial"/>
            </a:endParaRPr>
          </a:p>
        </p:txBody>
      </p:sp>
      <p:sp>
        <p:nvSpPr>
          <p:cNvPr id="117" name="Text 6"/>
          <p:cNvSpPr/>
          <p:nvPr/>
        </p:nvSpPr>
        <p:spPr>
          <a:xfrm>
            <a:off x="3160150" y="3078720"/>
            <a:ext cx="304596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dirty="0">
                <a:solidFill>
                  <a:srgbClr val="2C2821"/>
                </a:solidFill>
                <a:effectLst/>
                <a:uFillTx/>
                <a:latin typeface="Amiri"/>
                <a:cs typeface="Amiri"/>
              </a:rPr>
              <a:t>سرعة فائقة تعزز من تجربة المستخدم</a:t>
            </a:r>
            <a:endParaRPr lang="en-US" sz="2400" b="0" u="none" strike="noStrike" dirty="0">
              <a:solidFill>
                <a:srgbClr val="000000"/>
              </a:solidFill>
              <a:effectLst/>
              <a:uFillTx/>
              <a:latin typeface="Arial"/>
            </a:endParaRPr>
          </a:p>
        </p:txBody>
      </p:sp>
      <p:sp>
        <p:nvSpPr>
          <p:cNvPr id="118" name="Text 7"/>
          <p:cNvSpPr/>
          <p:nvPr/>
        </p:nvSpPr>
        <p:spPr>
          <a:xfrm>
            <a:off x="5736671" y="44046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miri" panose="00000500000000000000" pitchFamily="2" charset="-78"/>
                <a:ea typeface="Alice"/>
                <a:cs typeface="Amiri" panose="00000500000000000000" pitchFamily="2" charset="-78"/>
              </a:rPr>
              <a:t>+66%</a:t>
            </a:r>
            <a:endParaRPr lang="en-US" sz="5850" b="0" u="none" strike="noStrike" dirty="0">
              <a:solidFill>
                <a:srgbClr val="000000"/>
              </a:solidFill>
              <a:effectLst/>
              <a:uFillTx/>
              <a:latin typeface="Amiri" panose="00000500000000000000" pitchFamily="2" charset="-78"/>
              <a:cs typeface="Amiri" panose="00000500000000000000" pitchFamily="2" charset="-78"/>
            </a:endParaRPr>
          </a:p>
        </p:txBody>
      </p:sp>
      <p:sp>
        <p:nvSpPr>
          <p:cNvPr id="119" name="Text 8"/>
          <p:cNvSpPr/>
          <p:nvPr/>
        </p:nvSpPr>
        <p:spPr>
          <a:xfrm>
            <a:off x="5843231" y="54363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تحسن في الأداء</a:t>
            </a:r>
            <a:endParaRPr lang="en-US" sz="2800" b="0" u="none" strike="noStrike">
              <a:solidFill>
                <a:srgbClr val="000000"/>
              </a:solidFill>
              <a:effectLst/>
              <a:uFillTx/>
              <a:latin typeface="Arial"/>
            </a:endParaRPr>
          </a:p>
        </p:txBody>
      </p:sp>
      <p:sp>
        <p:nvSpPr>
          <p:cNvPr id="120" name="Text 9"/>
          <p:cNvSpPr/>
          <p:nvPr/>
        </p:nvSpPr>
        <p:spPr>
          <a:xfrm>
            <a:off x="5736671" y="5926680"/>
            <a:ext cx="304596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زيادة ملحوظة في سرعة الاستجابة</a:t>
            </a:r>
            <a:endParaRPr lang="en-US" sz="2400" b="0" u="none" strike="noStrike">
              <a:solidFill>
                <a:srgbClr val="000000"/>
              </a:solidFill>
              <a:effectLst/>
              <a:uFillTx/>
              <a:latin typeface="Arial"/>
            </a:endParaRPr>
          </a:p>
        </p:txBody>
      </p:sp>
      <p:sp>
        <p:nvSpPr>
          <p:cNvPr id="121" name="Text 10"/>
          <p:cNvSpPr/>
          <p:nvPr/>
        </p:nvSpPr>
        <p:spPr>
          <a:xfrm>
            <a:off x="1296085" y="4404600"/>
            <a:ext cx="3045960" cy="746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5851"/>
              </a:lnSpc>
              <a:tabLst>
                <a:tab pos="0" algn="l"/>
              </a:tabLst>
            </a:pPr>
            <a:r>
              <a:rPr lang="en-US" sz="5850" b="0" u="none" strike="noStrike" dirty="0">
                <a:solidFill>
                  <a:srgbClr val="2C2821"/>
                </a:solidFill>
                <a:effectLst/>
                <a:uFillTx/>
                <a:latin typeface="Amiri" panose="00000500000000000000" pitchFamily="2" charset="-78"/>
                <a:ea typeface="Alice"/>
                <a:cs typeface="Amiri" panose="00000500000000000000" pitchFamily="2" charset="-78"/>
              </a:rPr>
              <a:t>+40%</a:t>
            </a:r>
            <a:endParaRPr lang="en-US" sz="5850" b="0" u="none" strike="noStrike" dirty="0">
              <a:solidFill>
                <a:srgbClr val="000000"/>
              </a:solidFill>
              <a:effectLst/>
              <a:uFillTx/>
              <a:latin typeface="Amiri" panose="00000500000000000000" pitchFamily="2" charset="-78"/>
              <a:cs typeface="Amiri" panose="00000500000000000000" pitchFamily="2" charset="-78"/>
            </a:endParaRPr>
          </a:p>
        </p:txBody>
      </p:sp>
      <p:sp>
        <p:nvSpPr>
          <p:cNvPr id="122" name="Text 11"/>
          <p:cNvSpPr/>
          <p:nvPr/>
        </p:nvSpPr>
        <p:spPr>
          <a:xfrm>
            <a:off x="1402645" y="54363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0" u="none" strike="noStrike">
                <a:solidFill>
                  <a:srgbClr val="2C2821"/>
                </a:solidFill>
                <a:effectLst/>
                <a:uFillTx/>
                <a:latin typeface="Amiri"/>
                <a:cs typeface="Amiri"/>
              </a:rPr>
              <a:t>زيادة التفاعل</a:t>
            </a:r>
            <a:endParaRPr lang="en-US" sz="2800" b="0" u="none" strike="noStrike">
              <a:solidFill>
                <a:srgbClr val="000000"/>
              </a:solidFill>
              <a:effectLst/>
              <a:uFillTx/>
              <a:latin typeface="Arial"/>
            </a:endParaRPr>
          </a:p>
        </p:txBody>
      </p:sp>
      <p:sp>
        <p:nvSpPr>
          <p:cNvPr id="123" name="Text 12"/>
          <p:cNvSpPr/>
          <p:nvPr/>
        </p:nvSpPr>
        <p:spPr>
          <a:xfrm>
            <a:off x="791782" y="5896697"/>
            <a:ext cx="4054566"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rtl="1">
              <a:lnSpc>
                <a:spcPts val="2849"/>
              </a:lnSpc>
              <a:tabLst>
                <a:tab pos="0" algn="l"/>
              </a:tabLst>
            </a:pPr>
            <a:r>
              <a:rPr lang="ar-EG" sz="2400" b="0" u="none" strike="noStrike" dirty="0">
                <a:solidFill>
                  <a:srgbClr val="2C2821"/>
                </a:solidFill>
                <a:effectLst/>
                <a:uFillTx/>
                <a:latin typeface="Amiri"/>
                <a:cs typeface="Amiri"/>
              </a:rPr>
              <a:t>تحسن في معدلات التحويل والارتباط</a:t>
            </a:r>
            <a:endParaRPr lang="en-US" sz="2400" b="0" u="none" strike="noStrike" dirty="0">
              <a:solidFill>
                <a:srgbClr val="000000"/>
              </a:solidFill>
              <a:effectLst/>
              <a:uFillTx/>
              <a:latin typeface="Arial"/>
            </a:endParaRPr>
          </a:p>
        </p:txBody>
      </p:sp>
      <p:pic>
        <p:nvPicPr>
          <p:cNvPr id="124" name="Picture 18"/>
          <p:cNvPicPr/>
          <p:nvPr/>
        </p:nvPicPr>
        <p:blipFill>
          <a:blip r:embed="rId3"/>
          <a:stretch/>
        </p:blipFill>
        <p:spPr>
          <a:xfrm>
            <a:off x="13257360" y="187920"/>
            <a:ext cx="780840" cy="710640"/>
          </a:xfrm>
          <a:prstGeom prst="rect">
            <a:avLst/>
          </a:prstGeom>
          <a:noFill/>
          <a:ln w="0">
            <a:noFill/>
          </a:ln>
        </p:spPr>
      </p:pic>
      <p:pic>
        <p:nvPicPr>
          <p:cNvPr id="125" name="Picture 19"/>
          <p:cNvPicPr/>
          <p:nvPr/>
        </p:nvPicPr>
        <p:blipFill>
          <a:blip r:embed="rId4"/>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26C84C5-5AB6-DE31-3867-BDF96A060A15}"/>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980CDA6-99C4-F9CF-404B-41663E65C0E8}"/>
                  </a:ext>
                </a:extLst>
              </p14:cNvPr>
              <p14:cNvContentPartPr/>
              <p14:nvPr/>
            </p14:nvContentPartPr>
            <p14:xfrm>
              <a:off x="7876108" y="3011705"/>
              <a:ext cx="16200" cy="16200"/>
            </p14:xfrm>
          </p:contentPart>
        </mc:Choice>
        <mc:Fallback xmlns="">
          <p:pic>
            <p:nvPicPr>
              <p:cNvPr id="6" name="Ink 5">
                <a:extLst>
                  <a:ext uri="{FF2B5EF4-FFF2-40B4-BE49-F238E27FC236}">
                    <a16:creationId xmlns:a16="http://schemas.microsoft.com/office/drawing/2014/main" id="{3980CDA6-99C4-F9CF-404B-41663E65C0E8}"/>
                  </a:ext>
                </a:extLst>
              </p:cNvPr>
              <p:cNvPicPr/>
              <p:nvPr/>
            </p:nvPicPr>
            <p:blipFill>
              <a:blip r:embed="rId6"/>
              <a:stretch>
                <a:fillRect/>
              </a:stretch>
            </p:blipFill>
            <p:spPr>
              <a:xfrm>
                <a:off x="7869988" y="3005585"/>
                <a:ext cx="284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B250E9D6-81C2-2952-2150-9705659043BD}"/>
                  </a:ext>
                </a:extLst>
              </p14:cNvPr>
              <p14:cNvContentPartPr/>
              <p14:nvPr/>
            </p14:nvContentPartPr>
            <p14:xfrm>
              <a:off x="9672954" y="2249189"/>
              <a:ext cx="360" cy="4865400"/>
            </p14:xfrm>
          </p:contentPart>
        </mc:Choice>
        <mc:Fallback xmlns="">
          <p:pic>
            <p:nvPicPr>
              <p:cNvPr id="8" name="Ink 7">
                <a:extLst>
                  <a:ext uri="{FF2B5EF4-FFF2-40B4-BE49-F238E27FC236}">
                    <a16:creationId xmlns:a16="http://schemas.microsoft.com/office/drawing/2014/main" id="{B250E9D6-81C2-2952-2150-9705659043BD}"/>
                  </a:ext>
                </a:extLst>
              </p:cNvPr>
              <p:cNvPicPr/>
              <p:nvPr/>
            </p:nvPicPr>
            <p:blipFill>
              <a:blip r:embed="rId8"/>
              <a:stretch>
                <a:fillRect/>
              </a:stretch>
            </p:blipFill>
            <p:spPr>
              <a:xfrm>
                <a:off x="9666834" y="2243069"/>
                <a:ext cx="12600" cy="48776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Image 0" descr="preencoded.png"/>
          <p:cNvPicPr/>
          <p:nvPr/>
        </p:nvPicPr>
        <p:blipFill>
          <a:blip r:embed="rId3"/>
          <a:stretch/>
        </p:blipFill>
        <p:spPr>
          <a:xfrm>
            <a:off x="0" y="0"/>
            <a:ext cx="5484240" cy="8227440"/>
          </a:xfrm>
          <a:prstGeom prst="rect">
            <a:avLst/>
          </a:prstGeom>
          <a:noFill/>
          <a:ln w="0">
            <a:noFill/>
          </a:ln>
        </p:spPr>
      </p:pic>
      <p:sp>
        <p:nvSpPr>
          <p:cNvPr id="127" name="Text 0"/>
          <p:cNvSpPr/>
          <p:nvPr/>
        </p:nvSpPr>
        <p:spPr>
          <a:xfrm>
            <a:off x="7105320" y="2298240"/>
            <a:ext cx="67291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a:solidFill>
                  <a:srgbClr val="233E32"/>
                </a:solidFill>
                <a:effectLst/>
                <a:uFillTx/>
                <a:latin typeface="Amiri"/>
                <a:cs typeface="Amiri"/>
              </a:rPr>
              <a:t>تجربة مستخدم محسّنة بالكامل</a:t>
            </a:r>
            <a:endParaRPr lang="en-US" sz="4450" b="0" u="none" strike="noStrike">
              <a:solidFill>
                <a:srgbClr val="000000"/>
              </a:solidFill>
              <a:effectLst/>
              <a:uFillTx/>
              <a:latin typeface="Arial"/>
            </a:endParaRPr>
          </a:p>
        </p:txBody>
      </p:sp>
      <p:sp>
        <p:nvSpPr>
          <p:cNvPr id="128" name="Text 1"/>
          <p:cNvSpPr/>
          <p:nvPr/>
        </p:nvSpPr>
        <p:spPr>
          <a:xfrm>
            <a:off x="11001240" y="35737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القديم</a:t>
            </a:r>
            <a:endParaRPr lang="en-US" sz="3200" b="0" u="none" strike="noStrike">
              <a:solidFill>
                <a:srgbClr val="000000"/>
              </a:solidFill>
              <a:effectLst/>
              <a:uFillTx/>
              <a:latin typeface="Arial"/>
            </a:endParaRPr>
          </a:p>
        </p:txBody>
      </p:sp>
      <p:sp>
        <p:nvSpPr>
          <p:cNvPr id="129" name="Text 2"/>
          <p:cNvSpPr/>
          <p:nvPr/>
        </p:nvSpPr>
        <p:spPr>
          <a:xfrm>
            <a:off x="10335240" y="4162680"/>
            <a:ext cx="3499200" cy="168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تعقيد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تشتت في التصميم والهيكل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صعوبة في الوصول للمحتوى</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غير متناسقة عبر الأجهزة</a:t>
            </a:r>
            <a:endParaRPr lang="en-US" sz="2400" b="0" u="none" strike="noStrike">
              <a:solidFill>
                <a:srgbClr val="000000"/>
              </a:solidFill>
              <a:effectLst/>
              <a:uFillTx/>
              <a:latin typeface="Arial"/>
            </a:endParaRPr>
          </a:p>
        </p:txBody>
      </p:sp>
      <p:sp>
        <p:nvSpPr>
          <p:cNvPr id="130" name="Text 3"/>
          <p:cNvSpPr/>
          <p:nvPr/>
        </p:nvSpPr>
        <p:spPr>
          <a:xfrm>
            <a:off x="6939000" y="3573720"/>
            <a:ext cx="2833200" cy="359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en-US" sz="3200" b="0" u="none" strike="noStrike">
                <a:solidFill>
                  <a:srgbClr val="000000"/>
                </a:solidFill>
                <a:effectLst/>
                <a:uFillTx/>
                <a:latin typeface="Arial"/>
                <a:ea typeface="Alice"/>
              </a:rPr>
              <a:t>✅</a:t>
            </a:r>
            <a:r>
              <a:rPr lang="en-US" sz="3200" b="0" u="none" strike="noStrike">
                <a:solidFill>
                  <a:srgbClr val="233E32"/>
                </a:solidFill>
                <a:effectLst/>
                <a:uFillTx/>
                <a:latin typeface="Arial"/>
                <a:ea typeface="Alice"/>
              </a:rPr>
              <a:t> التصميم الجديد</a:t>
            </a:r>
            <a:endParaRPr lang="en-US" sz="3200" b="0" u="none" strike="noStrike">
              <a:solidFill>
                <a:srgbClr val="000000"/>
              </a:solidFill>
              <a:effectLst/>
              <a:uFillTx/>
              <a:latin typeface="Arial"/>
            </a:endParaRPr>
          </a:p>
        </p:txBody>
      </p:sp>
      <p:sp>
        <p:nvSpPr>
          <p:cNvPr id="131" name="Text 4"/>
          <p:cNvSpPr/>
          <p:nvPr/>
        </p:nvSpPr>
        <p:spPr>
          <a:xfrm>
            <a:off x="6272640" y="4162680"/>
            <a:ext cx="3499200" cy="168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سهولة في التنقل والبحث</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تنظيم متناسق في الهيكل</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وصول سريع للمحتوى المطلوب</a:t>
            </a:r>
            <a:endParaRPr lang="en-US" sz="2400" b="0" u="none" strike="noStrike">
              <a:solidFill>
                <a:srgbClr val="000000"/>
              </a:solidFill>
              <a:effectLst/>
              <a:uFillTx/>
              <a:latin typeface="Arial"/>
            </a:endParaRPr>
          </a:p>
          <a:p>
            <a:pPr marL="343080" indent="-343080" algn="r" rtl="1">
              <a:lnSpc>
                <a:spcPct val="150000"/>
              </a:lnSpc>
              <a:buClr>
                <a:srgbClr val="2C2821"/>
              </a:buClr>
              <a:buFont typeface="Symbol" charset="2"/>
              <a:buChar char=""/>
            </a:pPr>
            <a:r>
              <a:rPr lang="ar-EG" sz="2400" b="0" u="none" strike="noStrike">
                <a:solidFill>
                  <a:srgbClr val="2C2821"/>
                </a:solidFill>
                <a:effectLst/>
                <a:uFillTx/>
                <a:latin typeface="Amiri"/>
                <a:cs typeface="Amiri"/>
              </a:rPr>
              <a:t>تجربة موحدة عبر جميع الأجهزة</a:t>
            </a:r>
            <a:endParaRPr lang="en-US" sz="2400" b="0" u="none" strike="noStrike">
              <a:solidFill>
                <a:srgbClr val="000000"/>
              </a:solidFill>
              <a:effectLst/>
              <a:uFillTx/>
              <a:latin typeface="Arial"/>
            </a:endParaRPr>
          </a:p>
        </p:txBody>
      </p:sp>
      <p:pic>
        <p:nvPicPr>
          <p:cNvPr id="132" name="Picture 16"/>
          <p:cNvPicPr/>
          <p:nvPr/>
        </p:nvPicPr>
        <p:blipFill>
          <a:blip r:embed="rId4"/>
          <a:stretch/>
        </p:blipFill>
        <p:spPr>
          <a:xfrm>
            <a:off x="13257360" y="187920"/>
            <a:ext cx="780840" cy="710640"/>
          </a:xfrm>
          <a:prstGeom prst="rect">
            <a:avLst/>
          </a:prstGeom>
          <a:noFill/>
          <a:ln w="0">
            <a:noFill/>
          </a:ln>
        </p:spPr>
      </p:pic>
      <p:pic>
        <p:nvPicPr>
          <p:cNvPr id="133" name="Picture 17"/>
          <p:cNvPicPr/>
          <p:nvPr/>
        </p:nvPicPr>
        <p:blipFill>
          <a:blip r:embed="rId5"/>
          <a:stretch/>
        </p:blipFill>
        <p:spPr>
          <a:xfrm>
            <a:off x="5749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0B1F6BB-36A7-4F40-F962-8975997E4850}"/>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 0"/>
          <p:cNvSpPr/>
          <p:nvPr/>
        </p:nvSpPr>
        <p:spPr>
          <a:xfrm>
            <a:off x="3649063" y="664740"/>
            <a:ext cx="58093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dirty="0">
                <a:solidFill>
                  <a:srgbClr val="233E32"/>
                </a:solidFill>
                <a:effectLst/>
                <a:uFillTx/>
                <a:latin typeface="Amiri"/>
                <a:cs typeface="Amiri"/>
              </a:rPr>
              <a:t>التوافق الكامل مع الموبايل</a:t>
            </a:r>
            <a:endParaRPr lang="en-US" sz="4450" b="0" u="none" strike="noStrike" dirty="0">
              <a:solidFill>
                <a:srgbClr val="000000"/>
              </a:solidFill>
              <a:effectLst/>
              <a:uFillTx/>
              <a:latin typeface="Arial"/>
            </a:endParaRPr>
          </a:p>
        </p:txBody>
      </p:sp>
      <p:sp>
        <p:nvSpPr>
          <p:cNvPr id="135" name="Text 1"/>
          <p:cNvSpPr/>
          <p:nvPr/>
        </p:nvSpPr>
        <p:spPr>
          <a:xfrm>
            <a:off x="9252000" y="3563280"/>
            <a:ext cx="2787840" cy="564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4450"/>
              </a:lnSpc>
              <a:tabLst>
                <a:tab pos="0" algn="l"/>
              </a:tabLst>
            </a:pPr>
            <a:r>
              <a:rPr lang="en-US" sz="4450" b="0" u="none" strike="noStrike" dirty="0">
                <a:solidFill>
                  <a:srgbClr val="2C2821"/>
                </a:solidFill>
                <a:effectLst/>
                <a:uFillTx/>
                <a:latin typeface="Amiri" panose="00000500000000000000" pitchFamily="2" charset="-78"/>
                <a:ea typeface="Alice"/>
                <a:cs typeface="Amiri" panose="00000500000000000000" pitchFamily="2" charset="-78"/>
              </a:rPr>
              <a:t>60%</a:t>
            </a:r>
            <a:endParaRPr lang="en-US" sz="4450" b="0" u="none" strike="noStrike" dirty="0">
              <a:solidFill>
                <a:srgbClr val="000000"/>
              </a:solidFill>
              <a:effectLst/>
              <a:uFillTx/>
              <a:latin typeface="Amiri" panose="00000500000000000000" pitchFamily="2" charset="-78"/>
              <a:cs typeface="Amiri" panose="00000500000000000000" pitchFamily="2" charset="-78"/>
            </a:endParaRPr>
          </a:p>
        </p:txBody>
      </p:sp>
      <p:pic>
        <p:nvPicPr>
          <p:cNvPr id="136" name="Image 0" descr="preencoded.png"/>
          <p:cNvPicPr/>
          <p:nvPr/>
        </p:nvPicPr>
        <p:blipFill>
          <a:blip r:embed="rId3"/>
          <a:stretch/>
        </p:blipFill>
        <p:spPr>
          <a:xfrm>
            <a:off x="8945641" y="1969920"/>
            <a:ext cx="3400200" cy="3400200"/>
          </a:xfrm>
          <a:prstGeom prst="rect">
            <a:avLst/>
          </a:prstGeom>
          <a:noFill/>
          <a:ln w="0">
            <a:noFill/>
          </a:ln>
        </p:spPr>
      </p:pic>
      <p:sp>
        <p:nvSpPr>
          <p:cNvPr id="137" name="Text 2"/>
          <p:cNvSpPr/>
          <p:nvPr/>
        </p:nvSpPr>
        <p:spPr>
          <a:xfrm>
            <a:off x="9229320" y="5831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1" u="none" strike="noStrike">
                <a:solidFill>
                  <a:srgbClr val="2C2821"/>
                </a:solidFill>
                <a:effectLst/>
                <a:uFillTx/>
                <a:latin typeface="Amiri"/>
                <a:cs typeface="Amiri"/>
              </a:rPr>
              <a:t>نسبة المستخدمين</a:t>
            </a:r>
            <a:endParaRPr lang="en-US" sz="2800" b="0" u="none" strike="noStrike">
              <a:solidFill>
                <a:srgbClr val="000000"/>
              </a:solidFill>
              <a:effectLst/>
              <a:uFillTx/>
              <a:latin typeface="Arial"/>
            </a:endParaRPr>
          </a:p>
        </p:txBody>
      </p:sp>
      <p:sp>
        <p:nvSpPr>
          <p:cNvPr id="138" name="Text 3"/>
          <p:cNvSpPr/>
          <p:nvPr/>
        </p:nvSpPr>
        <p:spPr>
          <a:xfrm>
            <a:off x="7457040" y="6321960"/>
            <a:ext cx="637740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يستخدمون الهواتف الذكية للوصول للموقع</a:t>
            </a:r>
            <a:endParaRPr lang="en-US" sz="2400" b="0" u="none" strike="noStrike">
              <a:solidFill>
                <a:srgbClr val="000000"/>
              </a:solidFill>
              <a:effectLst/>
              <a:uFillTx/>
              <a:latin typeface="Arial"/>
            </a:endParaRPr>
          </a:p>
        </p:txBody>
      </p:sp>
      <p:sp>
        <p:nvSpPr>
          <p:cNvPr id="139" name="Text 4"/>
          <p:cNvSpPr/>
          <p:nvPr/>
        </p:nvSpPr>
        <p:spPr>
          <a:xfrm>
            <a:off x="2588760" y="3563280"/>
            <a:ext cx="2787840" cy="5648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4450"/>
              </a:lnSpc>
              <a:tabLst>
                <a:tab pos="0" algn="l"/>
              </a:tabLst>
            </a:pPr>
            <a:r>
              <a:rPr lang="en-US" sz="4450" b="0" u="none" strike="noStrike" dirty="0">
                <a:solidFill>
                  <a:srgbClr val="2C2821"/>
                </a:solidFill>
                <a:effectLst/>
                <a:uFillTx/>
                <a:latin typeface="Amiri" panose="00000500000000000000" pitchFamily="2" charset="-78"/>
                <a:ea typeface="Alice"/>
                <a:cs typeface="Amiri" panose="00000500000000000000" pitchFamily="2" charset="-78"/>
              </a:rPr>
              <a:t>100%</a:t>
            </a:r>
            <a:endParaRPr lang="en-US" sz="4450" b="0" u="none" strike="noStrike" dirty="0">
              <a:solidFill>
                <a:srgbClr val="000000"/>
              </a:solidFill>
              <a:effectLst/>
              <a:uFillTx/>
              <a:latin typeface="Amiri" panose="00000500000000000000" pitchFamily="2" charset="-78"/>
              <a:cs typeface="Amiri" panose="00000500000000000000" pitchFamily="2" charset="-78"/>
            </a:endParaRPr>
          </a:p>
        </p:txBody>
      </p:sp>
      <p:pic>
        <p:nvPicPr>
          <p:cNvPr id="140" name="Image 1" descr="preencoded.png"/>
          <p:cNvPicPr/>
          <p:nvPr/>
        </p:nvPicPr>
        <p:blipFill>
          <a:blip r:embed="rId4"/>
          <a:stretch/>
        </p:blipFill>
        <p:spPr>
          <a:xfrm>
            <a:off x="2284561" y="1969920"/>
            <a:ext cx="3400200" cy="3400200"/>
          </a:xfrm>
          <a:prstGeom prst="rect">
            <a:avLst/>
          </a:prstGeom>
          <a:noFill/>
          <a:ln w="0">
            <a:noFill/>
          </a:ln>
        </p:spPr>
      </p:pic>
      <p:sp>
        <p:nvSpPr>
          <p:cNvPr id="141" name="Text 5"/>
          <p:cNvSpPr/>
          <p:nvPr/>
        </p:nvSpPr>
        <p:spPr>
          <a:xfrm>
            <a:off x="2566080" y="5831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750"/>
              </a:lnSpc>
              <a:tabLst>
                <a:tab pos="0" algn="l"/>
              </a:tabLst>
            </a:pPr>
            <a:r>
              <a:rPr lang="ar-EG" sz="2800" b="1" u="none" strike="noStrike">
                <a:solidFill>
                  <a:srgbClr val="2C2821"/>
                </a:solidFill>
                <a:effectLst/>
                <a:uFillTx/>
                <a:latin typeface="Amiri"/>
                <a:cs typeface="Amiri"/>
              </a:rPr>
              <a:t>التوافق</a:t>
            </a:r>
            <a:endParaRPr lang="en-US" sz="2800" b="0" u="none" strike="noStrike">
              <a:solidFill>
                <a:srgbClr val="000000"/>
              </a:solidFill>
              <a:effectLst/>
              <a:uFillTx/>
              <a:latin typeface="Arial"/>
            </a:endParaRPr>
          </a:p>
        </p:txBody>
      </p:sp>
      <p:sp>
        <p:nvSpPr>
          <p:cNvPr id="142" name="Text 6"/>
          <p:cNvSpPr/>
          <p:nvPr/>
        </p:nvSpPr>
        <p:spPr>
          <a:xfrm>
            <a:off x="793800" y="6321960"/>
            <a:ext cx="637740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ctr" rtl="1">
              <a:lnSpc>
                <a:spcPts val="2849"/>
              </a:lnSpc>
              <a:tabLst>
                <a:tab pos="0" algn="l"/>
              </a:tabLst>
            </a:pPr>
            <a:r>
              <a:rPr lang="ar-EG" sz="2400" b="0" u="none" strike="noStrike">
                <a:solidFill>
                  <a:srgbClr val="2C2821"/>
                </a:solidFill>
                <a:effectLst/>
                <a:uFillTx/>
                <a:latin typeface="Amiri"/>
                <a:cs typeface="Amiri"/>
              </a:rPr>
              <a:t>تصميم متجاوب يتناسب مع جميع الشاشات</a:t>
            </a:r>
            <a:endParaRPr lang="en-US" sz="2400" b="0" u="none" strike="noStrike">
              <a:solidFill>
                <a:srgbClr val="000000"/>
              </a:solidFill>
              <a:effectLst/>
              <a:uFillTx/>
              <a:latin typeface="Arial"/>
            </a:endParaRPr>
          </a:p>
        </p:txBody>
      </p:sp>
      <p:sp>
        <p:nvSpPr>
          <p:cNvPr id="143" name="Text 7"/>
          <p:cNvSpPr/>
          <p:nvPr/>
        </p:nvSpPr>
        <p:spPr>
          <a:xfrm>
            <a:off x="793800" y="7302960"/>
            <a:ext cx="13040640" cy="36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chorCtr="1">
            <a:noAutofit/>
          </a:bodyPr>
          <a:lstStyle/>
          <a:p>
            <a:pPr algn="ctr" rtl="1">
              <a:lnSpc>
                <a:spcPts val="2849"/>
              </a:lnSpc>
              <a:tabLst>
                <a:tab pos="0" algn="l"/>
              </a:tabLst>
            </a:pPr>
            <a:r>
              <a:rPr lang="ar-EG" sz="2600" b="0" u="none" strike="noStrike">
                <a:solidFill>
                  <a:srgbClr val="2C2821"/>
                </a:solidFill>
                <a:effectLst/>
                <a:uFillTx/>
                <a:latin typeface="Amiri"/>
                <a:cs typeface="Amiri"/>
              </a:rPr>
              <a:t>تصميم متجاوب يوفر تجربة مثالية على الهواتف الذكية والأجهزة اللوحية، مع الحفاظ على جميع الوظائف والتصميم الكامل للموقع</a:t>
            </a:r>
            <a:endParaRPr lang="en-US" sz="2600" b="0" u="none" strike="noStrike">
              <a:solidFill>
                <a:srgbClr val="000000"/>
              </a:solidFill>
              <a:effectLst/>
              <a:uFillTx/>
              <a:latin typeface="Arial"/>
            </a:endParaRPr>
          </a:p>
        </p:txBody>
      </p:sp>
      <p:pic>
        <p:nvPicPr>
          <p:cNvPr id="144" name="Picture 14"/>
          <p:cNvPicPr/>
          <p:nvPr/>
        </p:nvPicPr>
        <p:blipFill>
          <a:blip r:embed="rId5"/>
          <a:stretch/>
        </p:blipFill>
        <p:spPr>
          <a:xfrm>
            <a:off x="13257360" y="187920"/>
            <a:ext cx="780840" cy="710640"/>
          </a:xfrm>
          <a:prstGeom prst="rect">
            <a:avLst/>
          </a:prstGeom>
          <a:noFill/>
          <a:ln w="0">
            <a:noFill/>
          </a:ln>
        </p:spPr>
      </p:pic>
      <p:pic>
        <p:nvPicPr>
          <p:cNvPr id="145" name="Picture 15"/>
          <p:cNvPicPr/>
          <p:nvPr/>
        </p:nvPicPr>
        <p:blipFill>
          <a:blip r:embed="rId6"/>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9927605F-6108-8EC6-CF31-3ED0E2C82DE5}"/>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0"/>
          <p:cNvSpPr/>
          <p:nvPr/>
        </p:nvSpPr>
        <p:spPr>
          <a:xfrm>
            <a:off x="7650720" y="2090520"/>
            <a:ext cx="6183720" cy="706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5550"/>
              </a:lnSpc>
              <a:tabLst>
                <a:tab pos="0" algn="l"/>
              </a:tabLst>
            </a:pPr>
            <a:r>
              <a:rPr lang="ar-EG" sz="4450" b="0" u="none" strike="noStrike" dirty="0">
                <a:solidFill>
                  <a:srgbClr val="233E32"/>
                </a:solidFill>
                <a:effectLst/>
                <a:uFillTx/>
                <a:latin typeface="Amiri"/>
                <a:cs typeface="Amiri"/>
              </a:rPr>
              <a:t>المميزات </a:t>
            </a:r>
            <a:r>
              <a:rPr lang="ar-EG" sz="4450" dirty="0">
                <a:solidFill>
                  <a:srgbClr val="233E32"/>
                </a:solidFill>
                <a:latin typeface="Amiri"/>
                <a:cs typeface="Amiri"/>
              </a:rPr>
              <a:t>الجديدة</a:t>
            </a:r>
            <a:r>
              <a:rPr lang="ar-EG" sz="4450" b="0" u="none" strike="noStrike" dirty="0">
                <a:solidFill>
                  <a:srgbClr val="233E32"/>
                </a:solidFill>
                <a:effectLst/>
                <a:uFillTx/>
                <a:latin typeface="Amiri"/>
                <a:cs typeface="Amiri"/>
              </a:rPr>
              <a:t> في الموقع</a:t>
            </a:r>
            <a:endParaRPr lang="en-US" sz="4450" b="0" u="none" strike="noStrike" dirty="0">
              <a:solidFill>
                <a:srgbClr val="000000"/>
              </a:solidFill>
              <a:effectLst/>
              <a:uFillTx/>
              <a:latin typeface="Arial"/>
            </a:endParaRPr>
          </a:p>
        </p:txBody>
      </p:sp>
      <p:pic>
        <p:nvPicPr>
          <p:cNvPr id="147" name="Image 0" descr="preencoded.png"/>
          <p:cNvPicPr/>
          <p:nvPr/>
        </p:nvPicPr>
        <p:blipFill>
          <a:blip r:embed="rId3">
            <a:extLst>
              <a:ext uri="{96DAC541-7B7A-43D3-8B79-37D633B846F1}">
                <asvg:svgBlip xmlns:asvg="http://schemas.microsoft.com/office/drawing/2016/SVG/main" r:embed="rId4"/>
              </a:ext>
            </a:extLst>
          </a:blip>
          <a:stretch/>
        </p:blipFill>
        <p:spPr>
          <a:xfrm>
            <a:off x="13269600" y="3252960"/>
            <a:ext cx="564840" cy="564840"/>
          </a:xfrm>
          <a:prstGeom prst="rect">
            <a:avLst/>
          </a:prstGeom>
          <a:noFill/>
          <a:ln w="0">
            <a:noFill/>
          </a:ln>
        </p:spPr>
      </p:pic>
      <p:sp>
        <p:nvSpPr>
          <p:cNvPr id="148" name="Text 1"/>
          <p:cNvSpPr/>
          <p:nvPr/>
        </p:nvSpPr>
        <p:spPr>
          <a:xfrm>
            <a:off x="10150920" y="3252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الأخبار</a:t>
            </a:r>
            <a:endParaRPr lang="en-US" sz="2200" b="0" u="none" strike="noStrike">
              <a:solidFill>
                <a:srgbClr val="000000"/>
              </a:solidFill>
              <a:effectLst/>
              <a:uFillTx/>
              <a:latin typeface="Arial"/>
            </a:endParaRPr>
          </a:p>
        </p:txBody>
      </p:sp>
      <p:sp>
        <p:nvSpPr>
          <p:cNvPr id="149" name="Text 2"/>
          <p:cNvSpPr/>
          <p:nvPr/>
        </p:nvSpPr>
        <p:spPr>
          <a:xfrm>
            <a:off x="7457040" y="374328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نظام متكامل للأخبار والبيانات الصحفية مع إمكانية البحث والتصفية حسب التواريخ والأقسام</a:t>
            </a:r>
            <a:endParaRPr lang="en-US" sz="2000" b="0" u="none" strike="noStrike">
              <a:solidFill>
                <a:srgbClr val="000000"/>
              </a:solidFill>
              <a:effectLst/>
              <a:uFillTx/>
              <a:latin typeface="Arial"/>
            </a:endParaRPr>
          </a:p>
        </p:txBody>
      </p:sp>
      <p:pic>
        <p:nvPicPr>
          <p:cNvPr id="150" name="Image 1" descr="preencoded.png"/>
          <p:cNvPicPr/>
          <p:nvPr/>
        </p:nvPicPr>
        <p:blipFill>
          <a:blip r:embed="rId5">
            <a:extLst>
              <a:ext uri="{96DAC541-7B7A-43D3-8B79-37D633B846F1}">
                <asvg:svgBlip xmlns:asvg="http://schemas.microsoft.com/office/drawing/2016/SVG/main" r:embed="rId6"/>
              </a:ext>
            </a:extLst>
          </a:blip>
          <a:stretch/>
        </p:blipFill>
        <p:spPr>
          <a:xfrm>
            <a:off x="6606720" y="3252960"/>
            <a:ext cx="564840" cy="564840"/>
          </a:xfrm>
          <a:prstGeom prst="rect">
            <a:avLst/>
          </a:prstGeom>
          <a:noFill/>
          <a:ln w="0">
            <a:noFill/>
          </a:ln>
        </p:spPr>
      </p:pic>
      <p:sp>
        <p:nvSpPr>
          <p:cNvPr id="151" name="Text 3"/>
          <p:cNvSpPr/>
          <p:nvPr/>
        </p:nvSpPr>
        <p:spPr>
          <a:xfrm>
            <a:off x="3487680" y="325296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المشروعات</a:t>
            </a:r>
            <a:endParaRPr lang="en-US" sz="2200" b="0" u="none" strike="noStrike">
              <a:solidFill>
                <a:srgbClr val="000000"/>
              </a:solidFill>
              <a:effectLst/>
              <a:uFillTx/>
              <a:latin typeface="Arial"/>
            </a:endParaRPr>
          </a:p>
        </p:txBody>
      </p:sp>
      <p:sp>
        <p:nvSpPr>
          <p:cNvPr id="152" name="Text 4"/>
          <p:cNvSpPr/>
          <p:nvPr/>
        </p:nvSpPr>
        <p:spPr>
          <a:xfrm>
            <a:off x="793800" y="374328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قاعدة بيانات شاملة للمشروعات مع معلومات مفصلة عن كل مشروع ووثائق مرفقة</a:t>
            </a:r>
            <a:endParaRPr lang="en-US" sz="2000" b="0" u="none" strike="noStrike">
              <a:solidFill>
                <a:srgbClr val="000000"/>
              </a:solidFill>
              <a:effectLst/>
              <a:uFillTx/>
              <a:latin typeface="Arial"/>
            </a:endParaRPr>
          </a:p>
        </p:txBody>
      </p:sp>
      <p:pic>
        <p:nvPicPr>
          <p:cNvPr id="153" name="Image 2" descr="preencoded.png"/>
          <p:cNvPicPr/>
          <p:nvPr/>
        </p:nvPicPr>
        <p:blipFill>
          <a:blip r:embed="rId7">
            <a:extLst>
              <a:ext uri="{96DAC541-7B7A-43D3-8B79-37D633B846F1}">
                <asvg:svgBlip xmlns:asvg="http://schemas.microsoft.com/office/drawing/2016/SVG/main" r:embed="rId8"/>
              </a:ext>
            </a:extLst>
          </a:blip>
          <a:stretch/>
        </p:blipFill>
        <p:spPr>
          <a:xfrm>
            <a:off x="13269600" y="4922640"/>
            <a:ext cx="564840" cy="564840"/>
          </a:xfrm>
          <a:prstGeom prst="rect">
            <a:avLst/>
          </a:prstGeom>
          <a:noFill/>
          <a:ln w="0">
            <a:noFill/>
          </a:ln>
        </p:spPr>
      </p:pic>
      <p:sp>
        <p:nvSpPr>
          <p:cNvPr id="154" name="Text 5"/>
          <p:cNvSpPr/>
          <p:nvPr/>
        </p:nvSpPr>
        <p:spPr>
          <a:xfrm>
            <a:off x="10150920" y="4922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أرشيف المناقصات</a:t>
            </a:r>
            <a:endParaRPr lang="en-US" sz="2200" b="0" u="none" strike="noStrike">
              <a:solidFill>
                <a:srgbClr val="000000"/>
              </a:solidFill>
              <a:effectLst/>
              <a:uFillTx/>
              <a:latin typeface="Arial"/>
            </a:endParaRPr>
          </a:p>
        </p:txBody>
      </p:sp>
      <p:sp>
        <p:nvSpPr>
          <p:cNvPr id="155" name="Text 6"/>
          <p:cNvSpPr/>
          <p:nvPr/>
        </p:nvSpPr>
        <p:spPr>
          <a:xfrm>
            <a:off x="7457040" y="541332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نظام إلكتروني لعرض وتحميل وثائق المناقصات والفرص الاستثمارية المتاحة</a:t>
            </a:r>
            <a:endParaRPr lang="en-US" sz="2000" b="0" u="none" strike="noStrike">
              <a:solidFill>
                <a:srgbClr val="000000"/>
              </a:solidFill>
              <a:effectLst/>
              <a:uFillTx/>
              <a:latin typeface="Arial"/>
            </a:endParaRPr>
          </a:p>
        </p:txBody>
      </p:sp>
      <p:pic>
        <p:nvPicPr>
          <p:cNvPr id="156" name="Image 3" descr="preencoded.png"/>
          <p:cNvPicPr/>
          <p:nvPr/>
        </p:nvPicPr>
        <p:blipFill>
          <a:blip r:embed="rId9">
            <a:extLst>
              <a:ext uri="{96DAC541-7B7A-43D3-8B79-37D633B846F1}">
                <asvg:svgBlip xmlns:asvg="http://schemas.microsoft.com/office/drawing/2016/SVG/main" r:embed="rId10"/>
              </a:ext>
            </a:extLst>
          </a:blip>
          <a:stretch/>
        </p:blipFill>
        <p:spPr>
          <a:xfrm>
            <a:off x="6606720" y="4922640"/>
            <a:ext cx="564840" cy="564840"/>
          </a:xfrm>
          <a:prstGeom prst="rect">
            <a:avLst/>
          </a:prstGeom>
          <a:noFill/>
          <a:ln w="0">
            <a:noFill/>
          </a:ln>
        </p:spPr>
      </p:pic>
      <p:sp>
        <p:nvSpPr>
          <p:cNvPr id="157" name="Text 7"/>
          <p:cNvSpPr/>
          <p:nvPr/>
        </p:nvSpPr>
        <p:spPr>
          <a:xfrm>
            <a:off x="3487680" y="4922640"/>
            <a:ext cx="2833200" cy="352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noAutofit/>
          </a:bodyPr>
          <a:lstStyle/>
          <a:p>
            <a:pPr algn="r" rtl="1">
              <a:lnSpc>
                <a:spcPts val="2750"/>
              </a:lnSpc>
              <a:tabLst>
                <a:tab pos="0" algn="l"/>
              </a:tabLst>
            </a:pPr>
            <a:r>
              <a:rPr lang="ar-EG" sz="2200" b="0" u="none" strike="noStrike">
                <a:solidFill>
                  <a:srgbClr val="2C2821"/>
                </a:solidFill>
                <a:effectLst/>
                <a:uFillTx/>
                <a:latin typeface="Amiri"/>
                <a:cs typeface="Amiri"/>
              </a:rPr>
              <a:t>عرض </a:t>
            </a:r>
            <a:r>
              <a:rPr lang="en-US" sz="2200" b="0" u="none" strike="noStrike">
                <a:solidFill>
                  <a:srgbClr val="2C2821"/>
                </a:solidFill>
                <a:effectLst/>
                <a:uFillTx/>
                <a:latin typeface="Amiri"/>
                <a:ea typeface="Alice"/>
              </a:rPr>
              <a:t>PDF داخل الموقع</a:t>
            </a:r>
            <a:endParaRPr lang="en-US" sz="2200" b="0" u="none" strike="noStrike">
              <a:solidFill>
                <a:srgbClr val="000000"/>
              </a:solidFill>
              <a:effectLst/>
              <a:uFillTx/>
              <a:latin typeface="Arial"/>
            </a:endParaRPr>
          </a:p>
        </p:txBody>
      </p:sp>
      <p:sp>
        <p:nvSpPr>
          <p:cNvPr id="158" name="Text 8"/>
          <p:cNvSpPr/>
          <p:nvPr/>
        </p:nvSpPr>
        <p:spPr>
          <a:xfrm>
            <a:off x="793800" y="5413320"/>
            <a:ext cx="552708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ts val="2849"/>
              </a:lnSpc>
              <a:tabLst>
                <a:tab pos="0" algn="l"/>
              </a:tabLst>
            </a:pPr>
            <a:r>
              <a:rPr lang="ar-EG" sz="2000" b="0" u="none" strike="noStrike">
                <a:solidFill>
                  <a:srgbClr val="2C2821"/>
                </a:solidFill>
                <a:effectLst/>
                <a:uFillTx/>
                <a:latin typeface="Amiri"/>
                <a:cs typeface="Amiri"/>
              </a:rPr>
              <a:t>إمكانية عرض وثائق </a:t>
            </a:r>
            <a:r>
              <a:rPr lang="en-US" sz="2000" b="0" u="none" strike="noStrike">
                <a:solidFill>
                  <a:srgbClr val="2C2821"/>
                </a:solidFill>
                <a:effectLst/>
                <a:uFillTx/>
                <a:latin typeface="Amiri"/>
                <a:ea typeface="Lora"/>
              </a:rPr>
              <a:t>PDF مباشرة دون الحاجة للتنزيل، مع خيارات البحث والتصفح</a:t>
            </a:r>
            <a:endParaRPr lang="en-US" sz="2000" b="0" u="none" strike="noStrike">
              <a:solidFill>
                <a:srgbClr val="000000"/>
              </a:solidFill>
              <a:effectLst/>
              <a:uFillTx/>
              <a:latin typeface="Arial"/>
            </a:endParaRPr>
          </a:p>
        </p:txBody>
      </p:sp>
      <p:pic>
        <p:nvPicPr>
          <p:cNvPr id="159" name="Picture 5"/>
          <p:cNvPicPr/>
          <p:nvPr/>
        </p:nvPicPr>
        <p:blipFill>
          <a:blip r:embed="rId11"/>
          <a:stretch/>
        </p:blipFill>
        <p:spPr>
          <a:xfrm>
            <a:off x="13257360" y="187920"/>
            <a:ext cx="780840" cy="710640"/>
          </a:xfrm>
          <a:prstGeom prst="rect">
            <a:avLst/>
          </a:prstGeom>
          <a:noFill/>
          <a:ln w="0">
            <a:noFill/>
          </a:ln>
        </p:spPr>
      </p:pic>
      <p:pic>
        <p:nvPicPr>
          <p:cNvPr id="160" name="Picture 7"/>
          <p:cNvPicPr/>
          <p:nvPr/>
        </p:nvPicPr>
        <p:blipFill>
          <a:blip r:embed="rId12"/>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CA3CE435-1B1C-6444-AF85-65A4E10EBBE4}"/>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81252-1153-C297-A8BE-7F51D942E345}"/>
              </a:ext>
            </a:extLst>
          </p:cNvPr>
          <p:cNvSpPr>
            <a:spLocks noGrp="1"/>
          </p:cNvSpPr>
          <p:nvPr>
            <p:ph type="title"/>
          </p:nvPr>
        </p:nvSpPr>
        <p:spPr/>
        <p:txBody>
          <a:bodyPr/>
          <a:lstStyle/>
          <a:p>
            <a:r>
              <a:rPr lang="ar-SA" b="1" dirty="0">
                <a:latin typeface="Amiri" panose="00000500000000000000" pitchFamily="2" charset="-78"/>
                <a:cs typeface="Amiri" panose="00000500000000000000" pitchFamily="2" charset="-78"/>
              </a:rPr>
              <a:t>الخدمات الرقمية المتاحة عبر الموقع الإلكتروني</a:t>
            </a:r>
          </a:p>
        </p:txBody>
      </p:sp>
      <p:sp>
        <p:nvSpPr>
          <p:cNvPr id="3" name="Text Placeholder 2">
            <a:extLst>
              <a:ext uri="{FF2B5EF4-FFF2-40B4-BE49-F238E27FC236}">
                <a16:creationId xmlns:a16="http://schemas.microsoft.com/office/drawing/2014/main" id="{B54A286A-C443-16FE-151F-66DA3EACED45}"/>
              </a:ext>
            </a:extLst>
          </p:cNvPr>
          <p:cNvSpPr>
            <a:spLocks noGrp="1"/>
          </p:cNvSpPr>
          <p:nvPr>
            <p:ph type="body"/>
          </p:nvPr>
        </p:nvSpPr>
        <p:spPr>
          <a:xfrm>
            <a:off x="731520" y="2011680"/>
            <a:ext cx="13165200" cy="5889600"/>
          </a:xfrm>
        </p:spPr>
        <p:txBody>
          <a:bodyPr>
            <a:normAutofit fontScale="77500" lnSpcReduction="20000"/>
          </a:bodyPr>
          <a:lstStyle/>
          <a:p>
            <a:pPr algn="r" rtl="1">
              <a:lnSpc>
                <a:spcPct val="170000"/>
              </a:lnSpc>
            </a:pPr>
            <a:r>
              <a:rPr lang="ar-SA" sz="2800" b="1" dirty="0">
                <a:latin typeface="Amiri" panose="00000500000000000000" pitchFamily="2" charset="-78"/>
                <a:cs typeface="Amiri" panose="00000500000000000000" pitchFamily="2" charset="-78"/>
              </a:rPr>
              <a:t>• للمواطنين: </a:t>
            </a:r>
            <a:endParaRPr lang="ar-EG" sz="2800" b="1" dirty="0">
              <a:latin typeface="Amiri" panose="00000500000000000000" pitchFamily="2" charset="-78"/>
              <a:cs typeface="Amiri" panose="00000500000000000000" pitchFamily="2" charset="-78"/>
            </a:endParaRPr>
          </a:p>
          <a:p>
            <a:pPr marL="744538" lvl="6" indent="-285750" algn="r" rtl="1">
              <a:lnSpc>
                <a:spcPct val="18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الوصول إلى أرشيف الأخبار</a:t>
            </a:r>
            <a:endParaRPr lang="ar-EG" sz="2100" b="1" dirty="0">
              <a:latin typeface="Amiri" panose="00000500000000000000" pitchFamily="2" charset="-78"/>
              <a:cs typeface="Amiri" panose="00000500000000000000" pitchFamily="2" charset="-78"/>
            </a:endParaRPr>
          </a:p>
          <a:p>
            <a:pPr marL="744538" lvl="6" indent="-285750" algn="r" rtl="1">
              <a:lnSpc>
                <a:spcPct val="18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مشاركة الأخبار عبر الروابط المباشرة</a:t>
            </a:r>
            <a:endParaRPr lang="ar-EG" sz="2100" b="1" dirty="0">
              <a:latin typeface="Amiri" panose="00000500000000000000" pitchFamily="2" charset="-78"/>
              <a:cs typeface="Amiri" panose="00000500000000000000" pitchFamily="2" charset="-78"/>
            </a:endParaRPr>
          </a:p>
          <a:p>
            <a:pPr marL="744538" lvl="6" indent="-285750" algn="r" rtl="1">
              <a:lnSpc>
                <a:spcPct val="18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متابعة أحدث المشروعات</a:t>
            </a:r>
            <a:endParaRPr lang="ar-EG" sz="2100" b="1" dirty="0">
              <a:latin typeface="Amiri" panose="00000500000000000000" pitchFamily="2" charset="-78"/>
              <a:cs typeface="Amiri" panose="00000500000000000000" pitchFamily="2" charset="-78"/>
            </a:endParaRPr>
          </a:p>
          <a:p>
            <a:pPr marL="744538" lvl="6" indent="-285750" algn="r" rtl="1">
              <a:lnSpc>
                <a:spcPct val="18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والاستعلام عن الفواتير (الخدمة متاحة مع وجود بعض التحديات التقنية الحالية).</a:t>
            </a:r>
          </a:p>
          <a:p>
            <a:pPr marL="0" indent="0" algn="r" rtl="1">
              <a:lnSpc>
                <a:spcPct val="160000"/>
              </a:lnSpc>
              <a:buNone/>
            </a:pPr>
            <a:r>
              <a:rPr lang="ar-SA" sz="2800" dirty="0">
                <a:latin typeface="Amiri" panose="00000500000000000000" pitchFamily="2" charset="-78"/>
                <a:cs typeface="Amiri" panose="00000500000000000000" pitchFamily="2" charset="-78"/>
              </a:rPr>
              <a:t>• </a:t>
            </a:r>
            <a:r>
              <a:rPr lang="ar-SA" sz="2800" b="1" dirty="0">
                <a:latin typeface="Amiri" panose="00000500000000000000" pitchFamily="2" charset="-78"/>
                <a:cs typeface="Amiri" panose="00000500000000000000" pitchFamily="2" charset="-78"/>
              </a:rPr>
              <a:t>للمقاولين:</a:t>
            </a:r>
            <a:r>
              <a:rPr lang="ar-SA" sz="2800" dirty="0">
                <a:latin typeface="Amiri" panose="00000500000000000000" pitchFamily="2" charset="-78"/>
                <a:cs typeface="Amiri" panose="00000500000000000000" pitchFamily="2" charset="-78"/>
              </a:rPr>
              <a:t> </a:t>
            </a:r>
            <a:endParaRPr lang="ar-EG" sz="2800" dirty="0">
              <a:latin typeface="Amiri" panose="00000500000000000000" pitchFamily="2" charset="-78"/>
              <a:cs typeface="Amiri" panose="00000500000000000000" pitchFamily="2" charset="-78"/>
            </a:endParaRPr>
          </a:p>
          <a:p>
            <a:pPr marL="744538" lvl="6" indent="-285750" algn="r" rtl="1">
              <a:lnSpc>
                <a:spcPct val="18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الاطلاع على مواعيد المناقصات وتحميل كراسات الشروط والمواصفات بصيغة </a:t>
            </a:r>
            <a:r>
              <a:rPr lang="en-US" sz="2100" b="1" dirty="0">
                <a:latin typeface="Amiri" panose="00000500000000000000" pitchFamily="2" charset="-78"/>
                <a:cs typeface="Amiri" panose="00000500000000000000" pitchFamily="2" charset="-78"/>
              </a:rPr>
              <a:t>PDF</a:t>
            </a:r>
          </a:p>
          <a:p>
            <a:pPr algn="r" rtl="1">
              <a:lnSpc>
                <a:spcPct val="170000"/>
              </a:lnSpc>
            </a:pPr>
            <a:r>
              <a:rPr lang="en-US" sz="2800" b="1" dirty="0">
                <a:latin typeface="Amiri" panose="00000500000000000000" pitchFamily="2" charset="-78"/>
                <a:cs typeface="Amiri" panose="00000500000000000000" pitchFamily="2" charset="-78"/>
              </a:rPr>
              <a:t>•</a:t>
            </a:r>
            <a:r>
              <a:rPr lang="ar-EG" sz="2800" b="1" dirty="0">
                <a:latin typeface="Amiri" panose="00000500000000000000" pitchFamily="2" charset="-78"/>
                <a:cs typeface="Amiri" panose="00000500000000000000" pitchFamily="2" charset="-78"/>
              </a:rPr>
              <a:t> </a:t>
            </a:r>
            <a:r>
              <a:rPr lang="ar-SA" sz="2800" b="1" dirty="0">
                <a:latin typeface="Amiri" panose="00000500000000000000" pitchFamily="2" charset="-78"/>
                <a:cs typeface="Amiri" panose="00000500000000000000" pitchFamily="2" charset="-78"/>
              </a:rPr>
              <a:t>للطلاب:</a:t>
            </a:r>
            <a:endParaRPr lang="ar-EG" sz="2800" b="1" dirty="0">
              <a:latin typeface="Amiri" panose="00000500000000000000" pitchFamily="2" charset="-78"/>
              <a:cs typeface="Amiri" panose="00000500000000000000" pitchFamily="2" charset="-78"/>
            </a:endParaRPr>
          </a:p>
          <a:p>
            <a:pPr marL="744538" lvl="6" indent="-285750" algn="r" rtl="1">
              <a:lnSpc>
                <a:spcPct val="17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التقديم للمدرسة الفنية إلكترونيًا</a:t>
            </a:r>
            <a:endParaRPr lang="ar-EG" sz="2100" b="1" dirty="0">
              <a:latin typeface="Amiri" panose="00000500000000000000" pitchFamily="2" charset="-78"/>
              <a:cs typeface="Amiri" panose="00000500000000000000" pitchFamily="2" charset="-78"/>
            </a:endParaRPr>
          </a:p>
          <a:p>
            <a:pPr marL="744538" lvl="6" indent="-285750" algn="r" rtl="1">
              <a:lnSpc>
                <a:spcPct val="17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ومتابعة نتائج فحص الأوراق وعمليات القبول.</a:t>
            </a:r>
          </a:p>
          <a:p>
            <a:pPr algn="r" rtl="1">
              <a:lnSpc>
                <a:spcPct val="170000"/>
              </a:lnSpc>
            </a:pPr>
            <a:r>
              <a:rPr lang="ar-SA" sz="2800" b="1" dirty="0">
                <a:latin typeface="Amiri" panose="00000500000000000000" pitchFamily="2" charset="-78"/>
                <a:cs typeface="Amiri" panose="00000500000000000000" pitchFamily="2" charset="-78"/>
              </a:rPr>
              <a:t>• للباحثين عن عمل: </a:t>
            </a:r>
            <a:endParaRPr lang="ar-EG" sz="2800" b="1" dirty="0">
              <a:latin typeface="Amiri" panose="00000500000000000000" pitchFamily="2" charset="-78"/>
              <a:cs typeface="Amiri" panose="00000500000000000000" pitchFamily="2" charset="-78"/>
            </a:endParaRPr>
          </a:p>
          <a:p>
            <a:pPr marL="744538" lvl="6" indent="-285750" algn="r" rtl="1">
              <a:lnSpc>
                <a:spcPct val="17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استعراض الوظائف الشاغرة</a:t>
            </a:r>
            <a:endParaRPr lang="ar-EG" sz="2100" b="1" dirty="0">
              <a:latin typeface="Amiri" panose="00000500000000000000" pitchFamily="2" charset="-78"/>
              <a:cs typeface="Amiri" panose="00000500000000000000" pitchFamily="2" charset="-78"/>
            </a:endParaRPr>
          </a:p>
          <a:p>
            <a:pPr marL="744538" lvl="6" indent="-285750" algn="r" rtl="1">
              <a:lnSpc>
                <a:spcPct val="170000"/>
              </a:lnSpc>
              <a:buFont typeface="Arial" panose="020B0604020202020204" pitchFamily="34" charset="0"/>
              <a:buChar char="•"/>
            </a:pPr>
            <a:r>
              <a:rPr lang="ar-SA" sz="2100" b="1" dirty="0">
                <a:latin typeface="Amiri" panose="00000500000000000000" pitchFamily="2" charset="-78"/>
                <a:cs typeface="Amiri" panose="00000500000000000000" pitchFamily="2" charset="-78"/>
              </a:rPr>
              <a:t>ومتابعة نتائج فحص الأوراق والإعلانات المتعلقة بالتوظيف.</a:t>
            </a:r>
          </a:p>
        </p:txBody>
      </p:sp>
      <p:sp>
        <p:nvSpPr>
          <p:cNvPr id="6" name="Rectangle: Rounded Corners 5">
            <a:extLst>
              <a:ext uri="{FF2B5EF4-FFF2-40B4-BE49-F238E27FC236}">
                <a16:creationId xmlns:a16="http://schemas.microsoft.com/office/drawing/2014/main" id="{17A0C872-49C4-1A1A-FCC8-B7DC9C48F586}"/>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2560888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771C8D-9CB4-477B-EF9B-EC90A7843D0D}"/>
              </a:ext>
            </a:extLst>
          </p:cNvPr>
          <p:cNvSpPr/>
          <p:nvPr/>
        </p:nvSpPr>
        <p:spPr>
          <a:xfrm>
            <a:off x="2777744" y="3653135"/>
            <a:ext cx="9074920" cy="1862048"/>
          </a:xfrm>
          <a:prstGeom prst="rect">
            <a:avLst/>
          </a:prstGeom>
          <a:noFill/>
        </p:spPr>
        <p:txBody>
          <a:bodyPr wrap="none" lIns="91440" tIns="45720" rIns="91440" bIns="45720">
            <a:spAutoFit/>
          </a:bodyPr>
          <a:lstStyle/>
          <a:p>
            <a:pPr algn="ctr"/>
            <a:r>
              <a:rPr lang="ar-EG" sz="11500" dirty="0">
                <a:ln w="0"/>
                <a:effectLst>
                  <a:outerShdw blurRad="38100" dist="19050" dir="2700000" algn="tl" rotWithShape="0">
                    <a:schemeClr val="dk1">
                      <a:alpha val="40000"/>
                    </a:schemeClr>
                  </a:outerShdw>
                </a:effectLst>
                <a:latin typeface="Amiri" panose="00000500000000000000" pitchFamily="2" charset="-78"/>
                <a:cs typeface="Amiri" panose="00000500000000000000" pitchFamily="2" charset="-78"/>
              </a:rPr>
              <a:t>الاسئلة والمناقشات</a:t>
            </a:r>
            <a:endParaRPr lang="en-US" sz="11500" b="0" cap="none" spc="0" dirty="0">
              <a:ln w="0"/>
              <a:solidFill>
                <a:schemeClr val="tx1"/>
              </a:solidFill>
              <a:effectLst>
                <a:outerShdw blurRad="38100" dist="19050" dir="2700000" algn="tl" rotWithShape="0">
                  <a:schemeClr val="dk1">
                    <a:alpha val="40000"/>
                  </a:schemeClr>
                </a:outerShdw>
              </a:effectLst>
              <a:latin typeface="Amiri" panose="00000500000000000000" pitchFamily="2" charset="-78"/>
              <a:cs typeface="Amiri" panose="00000500000000000000" pitchFamily="2" charset="-78"/>
            </a:endParaRPr>
          </a:p>
        </p:txBody>
      </p:sp>
      <p:pic>
        <p:nvPicPr>
          <p:cNvPr id="7" name="Picture 5">
            <a:extLst>
              <a:ext uri="{FF2B5EF4-FFF2-40B4-BE49-F238E27FC236}">
                <a16:creationId xmlns:a16="http://schemas.microsoft.com/office/drawing/2014/main" id="{80158656-D236-6D76-B8C5-A932530B5890}"/>
              </a:ext>
            </a:extLst>
          </p:cNvPr>
          <p:cNvPicPr/>
          <p:nvPr/>
        </p:nvPicPr>
        <p:blipFill>
          <a:blip r:embed="rId2"/>
          <a:stretch/>
        </p:blipFill>
        <p:spPr>
          <a:xfrm>
            <a:off x="13257360" y="187920"/>
            <a:ext cx="780840" cy="710640"/>
          </a:xfrm>
          <a:prstGeom prst="rect">
            <a:avLst/>
          </a:prstGeom>
          <a:noFill/>
          <a:ln w="0">
            <a:noFill/>
          </a:ln>
        </p:spPr>
      </p:pic>
      <p:pic>
        <p:nvPicPr>
          <p:cNvPr id="9" name="Picture 7">
            <a:extLst>
              <a:ext uri="{FF2B5EF4-FFF2-40B4-BE49-F238E27FC236}">
                <a16:creationId xmlns:a16="http://schemas.microsoft.com/office/drawing/2014/main" id="{06E55D8C-2984-FB18-EBED-E7F435F4E42A}"/>
              </a:ext>
            </a:extLst>
          </p:cNvPr>
          <p:cNvPicPr/>
          <p:nvPr/>
        </p:nvPicPr>
        <p:blipFill>
          <a:blip r:embed="rId3"/>
          <a:stretch/>
        </p:blipFill>
        <p:spPr>
          <a:xfrm>
            <a:off x="313200" y="257400"/>
            <a:ext cx="1045080" cy="743400"/>
          </a:xfrm>
          <a:prstGeom prst="rect">
            <a:avLst/>
          </a:prstGeom>
          <a:noFill/>
          <a:ln w="0">
            <a:noFill/>
          </a:ln>
        </p:spPr>
      </p:pic>
      <p:sp>
        <p:nvSpPr>
          <p:cNvPr id="2" name="Rectangle: Rounded Corners 1">
            <a:extLst>
              <a:ext uri="{FF2B5EF4-FFF2-40B4-BE49-F238E27FC236}">
                <a16:creationId xmlns:a16="http://schemas.microsoft.com/office/drawing/2014/main" id="{73A4807D-4D3A-E16B-FF17-CCD747C3E825}"/>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3626739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 name="Image 0" descr="preencoded.png"/>
          <p:cNvPicPr/>
          <p:nvPr/>
        </p:nvPicPr>
        <p:blipFill>
          <a:blip r:embed="rId3"/>
          <a:stretch/>
        </p:blipFill>
        <p:spPr>
          <a:xfrm>
            <a:off x="9144000" y="0"/>
            <a:ext cx="5484240" cy="8227440"/>
          </a:xfrm>
          <a:prstGeom prst="rect">
            <a:avLst/>
          </a:prstGeom>
          <a:noFill/>
          <a:ln w="0">
            <a:noFill/>
          </a:ln>
        </p:spPr>
      </p:pic>
      <p:sp>
        <p:nvSpPr>
          <p:cNvPr id="178" name="Text 0"/>
          <p:cNvSpPr/>
          <p:nvPr/>
        </p:nvSpPr>
        <p:spPr>
          <a:xfrm>
            <a:off x="793800" y="2926800"/>
            <a:ext cx="755424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ct val="150000"/>
              </a:lnSpc>
              <a:tabLst>
                <a:tab pos="0" algn="l"/>
              </a:tabLst>
            </a:pPr>
            <a:r>
              <a:rPr lang="ar-EG" sz="2400" b="0" u="none" strike="noStrike">
                <a:solidFill>
                  <a:srgbClr val="2C2821"/>
                </a:solidFill>
                <a:effectLst/>
                <a:uFillTx/>
                <a:latin typeface="Amiri"/>
                <a:cs typeface="Amiri"/>
              </a:rPr>
              <a:t>في عصرنا الحالي، أصبح التحول الرقمي عنصرًا حيويًا لاستدامة المؤسسات وتعزيز كفاءتها. هذا المشروع يمثل خطوة استباقية نحو مستقبل رقمي متكامل يخدم جميع المعنيين ويعزز من قدرة المؤسسة على تحقيق أهدافها الاستراتيجية</a:t>
            </a:r>
            <a:endParaRPr lang="en-US" sz="2400" b="0" u="none" strike="noStrike">
              <a:solidFill>
                <a:srgbClr val="000000"/>
              </a:solidFill>
              <a:effectLst/>
              <a:uFillTx/>
              <a:latin typeface="Arial"/>
            </a:endParaRPr>
          </a:p>
        </p:txBody>
      </p:sp>
      <p:sp>
        <p:nvSpPr>
          <p:cNvPr id="179" name="Text 1"/>
          <p:cNvSpPr/>
          <p:nvPr/>
        </p:nvSpPr>
        <p:spPr>
          <a:xfrm>
            <a:off x="793800" y="5497920"/>
            <a:ext cx="7214040" cy="72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rtl="1">
              <a:lnSpc>
                <a:spcPct val="150000"/>
              </a:lnSpc>
              <a:tabLst>
                <a:tab pos="0" algn="l"/>
              </a:tabLst>
            </a:pPr>
            <a:r>
              <a:rPr lang="ar-EG" sz="2600" b="1" u="none" strike="noStrike">
                <a:solidFill>
                  <a:srgbClr val="2C2821"/>
                </a:solidFill>
                <a:effectLst/>
                <a:uFillTx/>
                <a:latin typeface="Amiri"/>
                <a:cs typeface="Amiri"/>
              </a:rPr>
              <a:t>الاستثمار في التحول الرقمي اليوم هو استثمار في مستقبل المؤسسة وتميزها في المستقبل</a:t>
            </a:r>
            <a:endParaRPr lang="en-US" sz="2600" b="0" u="none" strike="noStrike">
              <a:solidFill>
                <a:srgbClr val="000000"/>
              </a:solidFill>
              <a:effectLst/>
              <a:uFillTx/>
              <a:latin typeface="Arial"/>
            </a:endParaRPr>
          </a:p>
        </p:txBody>
      </p:sp>
      <p:sp>
        <p:nvSpPr>
          <p:cNvPr id="180" name="Shape 2"/>
          <p:cNvSpPr/>
          <p:nvPr/>
        </p:nvSpPr>
        <p:spPr>
          <a:xfrm>
            <a:off x="8319600" y="5638680"/>
            <a:ext cx="28440" cy="1234080"/>
          </a:xfrm>
          <a:prstGeom prst="rect">
            <a:avLst/>
          </a:prstGeom>
          <a:solidFill>
            <a:srgbClr val="729FCF"/>
          </a:solidFill>
          <a:ln w="0">
            <a:noFill/>
          </a:ln>
        </p:spPr>
        <p:style>
          <a:lnRef idx="0">
            <a:scrgbClr r="0" g="0" b="0"/>
          </a:lnRef>
          <a:fillRef idx="0">
            <a:scrgbClr r="0" g="0" b="0"/>
          </a:fillRef>
          <a:effectRef idx="0">
            <a:scrgbClr r="0" g="0" b="0"/>
          </a:effectRef>
          <a:fontRef idx="minor"/>
        </p:style>
        <p:txBody>
          <a:bodyPr lIns="14400" tIns="45000" rIns="14400" bIns="45000" anchor="t">
            <a:noAutofit/>
          </a:bodyPr>
          <a:lstStyle/>
          <a:p>
            <a:endParaRPr lang="en-US" sz="1800" b="0" u="none" strike="noStrike">
              <a:solidFill>
                <a:srgbClr val="000000"/>
              </a:solidFill>
              <a:effectLst/>
              <a:uFillTx/>
              <a:latin typeface="Arial"/>
            </a:endParaRPr>
          </a:p>
        </p:txBody>
      </p:sp>
      <p:pic>
        <p:nvPicPr>
          <p:cNvPr id="181" name="Picture 12"/>
          <p:cNvPicPr/>
          <p:nvPr/>
        </p:nvPicPr>
        <p:blipFill>
          <a:blip r:embed="rId4"/>
          <a:stretch/>
        </p:blipFill>
        <p:spPr>
          <a:xfrm>
            <a:off x="7929360" y="187920"/>
            <a:ext cx="780840" cy="710640"/>
          </a:xfrm>
          <a:prstGeom prst="rect">
            <a:avLst/>
          </a:prstGeom>
          <a:noFill/>
          <a:ln w="0">
            <a:noFill/>
          </a:ln>
        </p:spPr>
      </p:pic>
      <p:pic>
        <p:nvPicPr>
          <p:cNvPr id="182" name="Picture 13"/>
          <p:cNvPicPr/>
          <p:nvPr/>
        </p:nvPicPr>
        <p:blipFill>
          <a:blip r:embed="rId5"/>
          <a:stretch/>
        </p:blipFill>
        <p:spPr>
          <a:xfrm>
            <a:off x="313200" y="257400"/>
            <a:ext cx="1045080" cy="74340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Box 11"/>
          <p:cNvSpPr/>
          <p:nvPr/>
        </p:nvSpPr>
        <p:spPr>
          <a:xfrm>
            <a:off x="732680" y="2693780"/>
            <a:ext cx="12224470" cy="1563698"/>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defTabSz="914400">
              <a:lnSpc>
                <a:spcPts val="10735"/>
              </a:lnSpc>
            </a:pPr>
            <a:r>
              <a:rPr lang="en-US" sz="16600" b="0" u="none" strike="noStrike" spc="-456" dirty="0">
                <a:solidFill>
                  <a:srgbClr val="002060"/>
                </a:solidFill>
                <a:effectLst/>
                <a:uFillTx/>
                <a:latin typeface="Script MT Bold" panose="03040602040607080904" pitchFamily="66" charset="0"/>
                <a:ea typeface="DejaVu Sans"/>
              </a:rPr>
              <a:t>Thank You</a:t>
            </a:r>
            <a:endParaRPr lang="en-US" sz="16600" b="0" u="none" strike="noStrike" dirty="0">
              <a:solidFill>
                <a:srgbClr val="002060"/>
              </a:solidFill>
              <a:effectLst/>
              <a:uFillTx/>
              <a:latin typeface="Script MT Bold" panose="03040602040607080904" pitchFamily="66" charset="0"/>
            </a:endParaRPr>
          </a:p>
        </p:txBody>
      </p:sp>
      <p:sp>
        <p:nvSpPr>
          <p:cNvPr id="185" name="TextBox 7"/>
          <p:cNvSpPr/>
          <p:nvPr/>
        </p:nvSpPr>
        <p:spPr>
          <a:xfrm>
            <a:off x="3341215" y="5780770"/>
            <a:ext cx="7007400" cy="88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ar-EG" sz="2600" b="0" u="none" strike="noStrike" dirty="0">
                <a:solidFill>
                  <a:srgbClr val="0048CD"/>
                </a:solidFill>
                <a:effectLst/>
                <a:uFillTx/>
                <a:latin typeface="Amiri"/>
                <a:cs typeface="Amiri"/>
              </a:rPr>
              <a:t>مع تحيات الإدارة العامة لتكنولوجيا المعلومات والتحول الرقمى بشركة مياه الشرب والصرف الصحى بأسيوط والوادى الجديد</a:t>
            </a:r>
            <a:endParaRPr lang="en-US" sz="2600" b="0" u="none" strike="noStrike" dirty="0">
              <a:solidFill>
                <a:srgbClr val="000000"/>
              </a:solidFill>
              <a:effectLst/>
              <a:uFillTx/>
              <a:latin typeface="Arial"/>
            </a:endParaRPr>
          </a:p>
        </p:txBody>
      </p:sp>
      <p:pic>
        <p:nvPicPr>
          <p:cNvPr id="191" name="Picture 3"/>
          <p:cNvPicPr/>
          <p:nvPr/>
        </p:nvPicPr>
        <p:blipFill>
          <a:blip r:embed="rId2"/>
          <a:stretch/>
        </p:blipFill>
        <p:spPr>
          <a:xfrm>
            <a:off x="13257360" y="187560"/>
            <a:ext cx="780840" cy="710640"/>
          </a:xfrm>
          <a:prstGeom prst="rect">
            <a:avLst/>
          </a:prstGeom>
          <a:noFill/>
          <a:ln w="0">
            <a:noFill/>
          </a:ln>
        </p:spPr>
      </p:pic>
      <p:pic>
        <p:nvPicPr>
          <p:cNvPr id="192" name="Picture 4"/>
          <p:cNvPicPr/>
          <p:nvPr/>
        </p:nvPicPr>
        <p:blipFill>
          <a:blip r:embed="rId3"/>
          <a:stretch/>
        </p:blipFill>
        <p:spPr>
          <a:xfrm>
            <a:off x="313200" y="257040"/>
            <a:ext cx="1045080" cy="743400"/>
          </a:xfrm>
          <a:prstGeom prst="rect">
            <a:avLst/>
          </a:prstGeom>
          <a:noFill/>
          <a:ln w="0">
            <a:noFill/>
          </a:ln>
        </p:spPr>
      </p:pic>
      <p:sp>
        <p:nvSpPr>
          <p:cNvPr id="2" name="Rectangle: Rounded Corners 1">
            <a:extLst>
              <a:ext uri="{FF2B5EF4-FFF2-40B4-BE49-F238E27FC236}">
                <a16:creationId xmlns:a16="http://schemas.microsoft.com/office/drawing/2014/main" id="{D68F8595-56E6-5D5F-FF46-115F55D5EA0E}"/>
              </a:ext>
            </a:extLst>
          </p:cNvPr>
          <p:cNvSpPr/>
          <p:nvPr/>
        </p:nvSpPr>
        <p:spPr>
          <a:xfrm>
            <a:off x="12643338" y="7702062"/>
            <a:ext cx="1987062" cy="5275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5495FBD-1762-0F1D-0AEF-82525C7076B7}"/>
                  </a:ext>
                </a:extLst>
              </p14:cNvPr>
              <p14:cNvContentPartPr/>
              <p14:nvPr/>
            </p14:nvContentPartPr>
            <p14:xfrm>
              <a:off x="3973488" y="3122173"/>
              <a:ext cx="360" cy="360"/>
            </p14:xfrm>
          </p:contentPart>
        </mc:Choice>
        <mc:Fallback xmlns="">
          <p:pic>
            <p:nvPicPr>
              <p:cNvPr id="3" name="Ink 2">
                <a:extLst>
                  <a:ext uri="{FF2B5EF4-FFF2-40B4-BE49-F238E27FC236}">
                    <a16:creationId xmlns:a16="http://schemas.microsoft.com/office/drawing/2014/main" id="{55495FBD-1762-0F1D-0AEF-82525C7076B7}"/>
                  </a:ext>
                </a:extLst>
              </p:cNvPr>
              <p:cNvPicPr/>
              <p:nvPr/>
            </p:nvPicPr>
            <p:blipFill>
              <a:blip r:embed="rId7"/>
              <a:stretch>
                <a:fillRect/>
              </a:stretch>
            </p:blipFill>
            <p:spPr>
              <a:xfrm>
                <a:off x="3967368" y="311605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DED6CD89-09E9-6C97-BF49-B4DB3A1A9A45}"/>
                  </a:ext>
                </a:extLst>
              </p14:cNvPr>
              <p14:cNvContentPartPr/>
              <p14:nvPr/>
            </p14:nvContentPartPr>
            <p14:xfrm>
              <a:off x="11785074" y="1407354"/>
              <a:ext cx="360" cy="360"/>
            </p14:xfrm>
          </p:contentPart>
        </mc:Choice>
        <mc:Fallback xmlns="">
          <p:pic>
            <p:nvPicPr>
              <p:cNvPr id="13" name="Ink 12">
                <a:extLst>
                  <a:ext uri="{FF2B5EF4-FFF2-40B4-BE49-F238E27FC236}">
                    <a16:creationId xmlns:a16="http://schemas.microsoft.com/office/drawing/2014/main" id="{DED6CD89-09E9-6C97-BF49-B4DB3A1A9A45}"/>
                  </a:ext>
                </a:extLst>
              </p:cNvPr>
              <p:cNvPicPr/>
              <p:nvPr/>
            </p:nvPicPr>
            <p:blipFill>
              <a:blip r:embed="rId9"/>
              <a:stretch>
                <a:fillRect/>
              </a:stretch>
            </p:blipFill>
            <p:spPr>
              <a:xfrm>
                <a:off x="11778954" y="140123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B2A8C40B-0648-7B8A-3531-973CA29267EE}"/>
                  </a:ext>
                </a:extLst>
              </p14:cNvPr>
              <p14:cNvContentPartPr/>
              <p14:nvPr/>
            </p14:nvContentPartPr>
            <p14:xfrm>
              <a:off x="8533914" y="1508874"/>
              <a:ext cx="360" cy="360"/>
            </p14:xfrm>
          </p:contentPart>
        </mc:Choice>
        <mc:Fallback xmlns="">
          <p:pic>
            <p:nvPicPr>
              <p:cNvPr id="14" name="Ink 13">
                <a:extLst>
                  <a:ext uri="{FF2B5EF4-FFF2-40B4-BE49-F238E27FC236}">
                    <a16:creationId xmlns:a16="http://schemas.microsoft.com/office/drawing/2014/main" id="{B2A8C40B-0648-7B8A-3531-973CA29267EE}"/>
                  </a:ext>
                </a:extLst>
              </p:cNvPr>
              <p:cNvPicPr/>
              <p:nvPr/>
            </p:nvPicPr>
            <p:blipFill>
              <a:blip r:embed="rId9"/>
              <a:stretch>
                <a:fillRect/>
              </a:stretch>
            </p:blipFill>
            <p:spPr>
              <a:xfrm>
                <a:off x="8527794" y="1502754"/>
                <a:ext cx="12600" cy="126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512</TotalTime>
  <Words>662</Words>
  <Application>Microsoft Office PowerPoint</Application>
  <PresentationFormat>Custom</PresentationFormat>
  <Paragraphs>111</Paragraphs>
  <Slides>14</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Wingdings</vt:lpstr>
      <vt:lpstr>Alice</vt:lpstr>
      <vt:lpstr>Arial</vt:lpstr>
      <vt:lpstr>Calibri Light</vt:lpstr>
      <vt:lpstr>Symbol</vt:lpstr>
      <vt:lpstr>Arial Rounded MT Bold</vt:lpstr>
      <vt:lpstr>Calibri</vt:lpstr>
      <vt:lpstr>Script MT Bold</vt:lpstr>
      <vt:lpstr>Times New Roman</vt:lpstr>
      <vt:lpstr>Amiri</vt:lpstr>
      <vt:lpstr>Traditional Arabic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الخدمات الرقمية المتاحة عبر الموقع الإلكتروني</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Peter B. Youssef</dc:creator>
  <dc:description/>
  <cp:lastModifiedBy>Peter Kostandy</cp:lastModifiedBy>
  <cp:revision>54</cp:revision>
  <dcterms:created xsi:type="dcterms:W3CDTF">2026-03-28T16:17:59Z</dcterms:created>
  <dcterms:modified xsi:type="dcterms:W3CDTF">2026-06-17T11:42:22Z</dcterms:modified>
  <dc:language>ar-EG</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
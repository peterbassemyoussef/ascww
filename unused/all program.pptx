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Layouts/slideLayout7.xml" ContentType="application/vnd.openxmlformats-officedocument.presentationml.slideLayout+xml"/>
  <Override PartName="/ppt/slideLayouts/slideLayout8.xml" ContentType="application/vnd.openxmlformats-officedocument.presentationml.slideLayout+xml"/>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theme/themeOverride3.xml" ContentType="application/vnd.openxmlformats-officedocument.themeOverride+xml"/>
  <Default Extension="rels" ContentType="application/vnd.openxmlformats-package.relationships+xml"/>
  <Default Extension="xml" ContentType="application/xml"/>
  <Override PartName="/ppt/presentation.xml" ContentType="application/vnd.openxmlformats-officedocument.presentationml.presentation.main+xml"/>
  <Default Extension="fntdata" ContentType="application/x-fontdata"/>
  <Override PartName="/ppt/slideLayouts/slideLayout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89" r:id="rId5"/>
    <p:sldId id="275" r:id="rId6"/>
    <p:sldId id="292" r:id="rId7"/>
    <p:sldId id="287" r:id="rId8"/>
    <p:sldId id="288" r:id="rId9"/>
    <p:sldId id="291" r:id="rId10"/>
  </p:sldIdLst>
  <p:sldSz cx="18288000" cy="10287000"/>
  <p:notesSz cx="6858000" cy="9144000"/>
  <p:embeddedFontLst>
    <p:embeddedFont>
      <p:font typeface="Calibri" pitchFamily="34" charset="0"/>
      <p:regular r:id="rId11"/>
      <p:bold r:id="rId12"/>
    </p:embeddedFont>
    <p:embeddedFont>
      <p:font typeface="Arial Bold" pitchFamily="34" charset="0"/>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718BA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65" autoAdjust="0"/>
    <p:restoredTop sz="96057" autoAdjust="0"/>
  </p:normalViewPr>
  <p:slideViewPr>
    <p:cSldViewPr snapToGrid="0">
      <p:cViewPr varScale="1">
        <p:scale>
          <a:sx n="45" d="100"/>
          <a:sy n="45" d="100"/>
        </p:scale>
        <p:origin x="-564" y="-3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39327138" cy="3932713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18/09/2025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18/09/2025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18/09/2025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18/09/2025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18/09/2025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8.pn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8.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Freeform 2"/>
          <p:cNvSpPr/>
          <p:nvPr/>
        </p:nvSpPr>
        <p:spPr>
          <a:xfrm>
            <a:off x="-2466927" y="-4280359"/>
            <a:ext cx="10812392" cy="10812392"/>
          </a:xfrm>
          <a:custGeom>
            <a:avLst/>
            <a:gdLst/>
            <a:ahLst/>
            <a:cxnLst/>
            <a:rect l="l" t="t" r="r" b="b"/>
            <a:pathLst>
              <a:path w="10812392" h="10812392">
                <a:moveTo>
                  <a:pt x="0" y="0"/>
                </a:moveTo>
                <a:lnTo>
                  <a:pt x="10812393" y="0"/>
                </a:lnTo>
                <a:lnTo>
                  <a:pt x="10812393" y="10812392"/>
                </a:lnTo>
                <a:lnTo>
                  <a:pt x="0" y="10812392"/>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grpSp>
        <p:nvGrpSpPr>
          <p:cNvPr id="3" name="Group 3"/>
          <p:cNvGrpSpPr/>
          <p:nvPr/>
        </p:nvGrpSpPr>
        <p:grpSpPr>
          <a:xfrm>
            <a:off x="1028700" y="1125837"/>
            <a:ext cx="4702618" cy="618185"/>
            <a:chOff x="0" y="0"/>
            <a:chExt cx="6270157" cy="824246"/>
          </a:xfrm>
        </p:grpSpPr>
        <p:sp>
          <p:nvSpPr>
            <p:cNvPr id="4" name="Freeform 4"/>
            <p:cNvSpPr/>
            <p:nvPr/>
          </p:nvSpPr>
          <p:spPr>
            <a:xfrm>
              <a:off x="0" y="0"/>
              <a:ext cx="785282" cy="824246"/>
            </a:xfrm>
            <a:custGeom>
              <a:avLst/>
              <a:gdLst/>
              <a:ahLst/>
              <a:cxnLst/>
              <a:rect l="l" t="t" r="r" b="b"/>
              <a:pathLst>
                <a:path w="785282" h="824246">
                  <a:moveTo>
                    <a:pt x="0" y="0"/>
                  </a:moveTo>
                  <a:lnTo>
                    <a:pt x="785282" y="0"/>
                  </a:lnTo>
                  <a:lnTo>
                    <a:pt x="785282" y="824246"/>
                  </a:lnTo>
                  <a:lnTo>
                    <a:pt x="0" y="824246"/>
                  </a:lnTo>
                  <a:lnTo>
                    <a:pt x="0" y="0"/>
                  </a:lnTo>
                  <a:close/>
                </a:path>
              </a:pathLst>
            </a:custGeom>
            <a:blipFill>
              <a:blip r:embed="rId4" cstate="print">
                <a:extLst>
                  <a:ext uri="{96DAC541-7B7A-43D3-8B79-37D633B846F1}">
                    <asvg:svgBlip xmlns:asvg="http://schemas.microsoft.com/office/drawing/2016/SVG/main" xmlns="" r:embed="rId5"/>
                  </a:ext>
                </a:extLst>
              </a:blip>
              <a:stretch>
                <a:fillRect/>
              </a:stretch>
            </a:blipFill>
          </p:spPr>
        </p:sp>
        <p:sp>
          <p:nvSpPr>
            <p:cNvPr id="5" name="TextBox 5"/>
            <p:cNvSpPr txBox="1"/>
            <p:nvPr/>
          </p:nvSpPr>
          <p:spPr>
            <a:xfrm>
              <a:off x="1119714" y="116233"/>
              <a:ext cx="5150443" cy="534630"/>
            </a:xfrm>
            <a:prstGeom prst="rect">
              <a:avLst/>
            </a:prstGeom>
          </p:spPr>
          <p:txBody>
            <a:bodyPr lIns="0" tIns="0" rIns="0" bIns="0" rtlCol="0" anchor="t">
              <a:spAutoFit/>
            </a:bodyPr>
            <a:lstStyle/>
            <a:p>
              <a:pPr algn="l">
                <a:lnSpc>
                  <a:spcPts val="3361"/>
                </a:lnSpc>
                <a:spcBef>
                  <a:spcPct val="0"/>
                </a:spcBef>
              </a:pPr>
              <a:r>
                <a:rPr lang="en-US" sz="2401" dirty="0">
                  <a:solidFill>
                    <a:srgbClr val="F4F4F4"/>
                  </a:solidFill>
                  <a:latin typeface="Helios"/>
                  <a:ea typeface="Helios"/>
                  <a:sym typeface="Helios"/>
                </a:rPr>
                <a:t>ADD COPANY NAME</a:t>
              </a:r>
            </a:p>
          </p:txBody>
        </p:sp>
      </p:grpSp>
      <p:sp>
        <p:nvSpPr>
          <p:cNvPr id="6" name="Freeform 6"/>
          <p:cNvSpPr/>
          <p:nvPr/>
        </p:nvSpPr>
        <p:spPr>
          <a:xfrm>
            <a:off x="-3407200" y="4432068"/>
            <a:ext cx="5764383" cy="5764383"/>
          </a:xfrm>
          <a:custGeom>
            <a:avLst/>
            <a:gdLst/>
            <a:ahLst/>
            <a:cxnLst/>
            <a:rect l="l" t="t" r="r" b="b"/>
            <a:pathLst>
              <a:path w="5764383" h="5764383">
                <a:moveTo>
                  <a:pt x="0" y="0"/>
                </a:moveTo>
                <a:lnTo>
                  <a:pt x="5764383" y="0"/>
                </a:lnTo>
                <a:lnTo>
                  <a:pt x="5764383" y="5764383"/>
                </a:lnTo>
                <a:lnTo>
                  <a:pt x="0" y="5764383"/>
                </a:lnTo>
                <a:lnTo>
                  <a:pt x="0" y="0"/>
                </a:lnTo>
                <a:close/>
              </a:path>
            </a:pathLst>
          </a:custGeom>
          <a:blipFill>
            <a:blip r:embed="rId2" cstate="print">
              <a:alphaModFix amt="30000"/>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57078" y="7902203"/>
            <a:ext cx="5764383" cy="5764383"/>
          </a:xfrm>
          <a:custGeom>
            <a:avLst/>
            <a:gdLst/>
            <a:ahLst/>
            <a:cxnLst/>
            <a:rect l="l" t="t" r="r" b="b"/>
            <a:pathLst>
              <a:path w="5764383" h="5764383">
                <a:moveTo>
                  <a:pt x="0" y="0"/>
                </a:moveTo>
                <a:lnTo>
                  <a:pt x="5764383" y="0"/>
                </a:lnTo>
                <a:lnTo>
                  <a:pt x="5764383" y="5764382"/>
                </a:lnTo>
                <a:lnTo>
                  <a:pt x="0" y="5764382"/>
                </a:lnTo>
                <a:lnTo>
                  <a:pt x="0" y="0"/>
                </a:lnTo>
                <a:close/>
              </a:path>
            </a:pathLst>
          </a:custGeom>
          <a:blipFill>
            <a:blip r:embed="rId2" cstate="print">
              <a:alphaModFix amt="80000"/>
              <a:extLst>
                <a:ext uri="{96DAC541-7B7A-43D3-8B79-37D633B846F1}">
                  <asvg:svgBlip xmlns:asvg="http://schemas.microsoft.com/office/drawing/2016/SVG/main" xmlns="" r:embed="rId3"/>
                </a:ext>
              </a:extLst>
            </a:blip>
            <a:stretch>
              <a:fillRect/>
            </a:stretch>
          </a:blipFill>
        </p:spPr>
      </p:sp>
      <p:sp>
        <p:nvSpPr>
          <p:cNvPr id="19" name="TextBox 18">
            <a:extLst>
              <a:ext uri="{FF2B5EF4-FFF2-40B4-BE49-F238E27FC236}">
                <a16:creationId xmlns:a16="http://schemas.microsoft.com/office/drawing/2014/main" xmlns="" id="{539BAEB0-5F25-6889-B1AE-4F7D0E4B5141}"/>
              </a:ext>
            </a:extLst>
          </p:cNvPr>
          <p:cNvSpPr txBox="1"/>
          <p:nvPr/>
        </p:nvSpPr>
        <p:spPr>
          <a:xfrm>
            <a:off x="6942208" y="3695700"/>
            <a:ext cx="10812392" cy="1200329"/>
          </a:xfrm>
          <a:prstGeom prst="rect">
            <a:avLst/>
          </a:prstGeom>
          <a:noFill/>
        </p:spPr>
        <p:txBody>
          <a:bodyPr wrap="square" rtlCol="0">
            <a:spAutoFit/>
          </a:bodyPr>
          <a:lstStyle/>
          <a:p>
            <a:pPr algn="ctr"/>
            <a:r>
              <a:rPr lang="ar-EG" sz="7200" b="1" dirty="0">
                <a:solidFill>
                  <a:schemeClr val="accent1">
                    <a:lumMod val="50000"/>
                  </a:schemeClr>
                </a:solidFill>
                <a:effectLst>
                  <a:outerShdw blurRad="50800" dist="38100" dir="16200000" rotWithShape="0">
                    <a:prstClr val="black">
                      <a:alpha val="40000"/>
                    </a:prstClr>
                  </a:outerShdw>
                </a:effectLst>
              </a:rPr>
              <a:t>الادارة العامة لتكنولوجيا المعلومات</a:t>
            </a:r>
            <a:endParaRPr lang="en-US" sz="7200" b="1" dirty="0">
              <a:solidFill>
                <a:schemeClr val="accent1">
                  <a:lumMod val="50000"/>
                </a:schemeClr>
              </a:solidFill>
              <a:effectLst>
                <a:outerShdw blurRad="50800" dist="38100" dir="16200000" rotWithShape="0">
                  <a:prstClr val="black">
                    <a:alpha val="40000"/>
                  </a:prstClr>
                </a:outerShdw>
              </a:effectLst>
            </a:endParaRPr>
          </a:p>
        </p:txBody>
      </p:sp>
      <p:pic>
        <p:nvPicPr>
          <p:cNvPr id="21" name="Picture 20">
            <a:extLst>
              <a:ext uri="{FF2B5EF4-FFF2-40B4-BE49-F238E27FC236}">
                <a16:creationId xmlns:a16="http://schemas.microsoft.com/office/drawing/2014/main" xmlns="" id="{DD30DED4-911C-1BA1-CF74-54F2E669125A}"/>
              </a:ext>
            </a:extLst>
          </p:cNvPr>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15316200" y="213690"/>
            <a:ext cx="2796032" cy="1729410"/>
          </a:xfrm>
          <a:prstGeom prst="rect">
            <a:avLst/>
          </a:prstGeom>
        </p:spPr>
      </p:pic>
      <p:sp>
        <p:nvSpPr>
          <p:cNvPr id="25" name="Rectangle 2">
            <a:extLst>
              <a:ext uri="{FF2B5EF4-FFF2-40B4-BE49-F238E27FC236}">
                <a16:creationId xmlns:a16="http://schemas.microsoft.com/office/drawing/2014/main" xmlns="" id="{7843173D-53C3-2BAC-9354-92E86CDF2E50}"/>
              </a:ext>
            </a:extLst>
          </p:cNvPr>
          <p:cNvSpPr>
            <a:spLocks noChangeArrowheads="1"/>
          </p:cNvSpPr>
          <p:nvPr/>
        </p:nvSpPr>
        <p:spPr bwMode="auto">
          <a:xfrm>
            <a:off x="0" y="0"/>
            <a:ext cx="18473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6" name="Rectangle 3">
            <a:extLst>
              <a:ext uri="{FF2B5EF4-FFF2-40B4-BE49-F238E27FC236}">
                <a16:creationId xmlns:a16="http://schemas.microsoft.com/office/drawing/2014/main" xmlns="" id="{31368EDE-A483-DA8F-61BD-1A75A54EE0D8}"/>
              </a:ext>
            </a:extLst>
          </p:cNvPr>
          <p:cNvSpPr>
            <a:spLocks noChangeArrowheads="1"/>
          </p:cNvSpPr>
          <p:nvPr/>
        </p:nvSpPr>
        <p:spPr bwMode="auto">
          <a:xfrm>
            <a:off x="152400" y="152400"/>
            <a:ext cx="18473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7" name="Rectangle 4">
            <a:extLst>
              <a:ext uri="{FF2B5EF4-FFF2-40B4-BE49-F238E27FC236}">
                <a16:creationId xmlns:a16="http://schemas.microsoft.com/office/drawing/2014/main" xmlns="" id="{646CED6F-C8E8-51F8-E3F1-443F2F23E140}"/>
              </a:ext>
            </a:extLst>
          </p:cNvPr>
          <p:cNvSpPr>
            <a:spLocks noChangeArrowheads="1"/>
          </p:cNvSpPr>
          <p:nvPr/>
        </p:nvSpPr>
        <p:spPr bwMode="auto">
          <a:xfrm>
            <a:off x="304800" y="304800"/>
            <a:ext cx="18473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9" name="Picture 28">
            <a:extLst>
              <a:ext uri="{FF2B5EF4-FFF2-40B4-BE49-F238E27FC236}">
                <a16:creationId xmlns:a16="http://schemas.microsoft.com/office/drawing/2014/main" xmlns="" id="{74ABBD4F-2EE2-0418-A2A7-5B69BE69409C}"/>
              </a:ext>
            </a:extLst>
          </p:cNvPr>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a:off x="371330" y="794952"/>
            <a:ext cx="6857143" cy="1152381"/>
          </a:xfrm>
          <a:prstGeom prst="rect">
            <a:avLst/>
          </a:prstGeom>
        </p:spPr>
      </p:pic>
      <p:sp>
        <p:nvSpPr>
          <p:cNvPr id="30" name="TextBox 29">
            <a:extLst>
              <a:ext uri="{FF2B5EF4-FFF2-40B4-BE49-F238E27FC236}">
                <a16:creationId xmlns:a16="http://schemas.microsoft.com/office/drawing/2014/main" xmlns="" id="{5DCFB836-85B3-4A60-AA57-3932C20FA559}"/>
              </a:ext>
            </a:extLst>
          </p:cNvPr>
          <p:cNvSpPr txBox="1"/>
          <p:nvPr/>
        </p:nvSpPr>
        <p:spPr>
          <a:xfrm>
            <a:off x="8077200" y="5828380"/>
            <a:ext cx="9448800" cy="923330"/>
          </a:xfrm>
          <a:prstGeom prst="rect">
            <a:avLst/>
          </a:prstGeom>
          <a:noFill/>
        </p:spPr>
        <p:txBody>
          <a:bodyPr wrap="square" rtlCol="0">
            <a:spAutoFit/>
          </a:bodyPr>
          <a:lstStyle/>
          <a:p>
            <a:pPr algn="ctr"/>
            <a:r>
              <a:rPr lang="ar-EG" sz="5400" b="1" dirty="0">
                <a:solidFill>
                  <a:schemeClr val="accent1">
                    <a:lumMod val="75000"/>
                  </a:schemeClr>
                </a:solidFill>
                <a:effectLst>
                  <a:outerShdw blurRad="50800" dist="38100" dir="13500000" algn="br" rotWithShape="0">
                    <a:prstClr val="black">
                      <a:alpha val="40000"/>
                    </a:prstClr>
                  </a:outerShdw>
                </a:effectLst>
              </a:rPr>
              <a:t>إدارة البرامج والتطبيقات</a:t>
            </a:r>
            <a:endParaRPr lang="en-US" sz="5400" b="1" dirty="0">
              <a:solidFill>
                <a:schemeClr val="accent1">
                  <a:lumMod val="75000"/>
                </a:schemeClr>
              </a:solidFill>
              <a:effectLst>
                <a:outerShdw blurRad="50800" dist="38100" dir="13500000" algn="br" rotWithShape="0">
                  <a:prstClr val="black">
                    <a:alpha val="40000"/>
                  </a:prst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396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3314700"/>
            <a:chOff x="0" y="0"/>
            <a:chExt cx="24384000" cy="5030819"/>
          </a:xfrm>
        </p:grpSpPr>
        <p:pic>
          <p:nvPicPr>
            <p:cNvPr id="3" name="Picture 3"/>
            <p:cNvPicPr>
              <a:picLocks noChangeAspect="1"/>
            </p:cNvPicPr>
            <p:nvPr/>
          </p:nvPicPr>
          <p:blipFill>
            <a:blip r:embed="rId2" cstate="print">
              <a:alphaModFix amt="14000"/>
            </a:blip>
            <a:srcRect t="27933" b="41099"/>
            <a:stretch>
              <a:fillRect/>
            </a:stretch>
          </p:blipFill>
          <p:spPr>
            <a:xfrm>
              <a:off x="0" y="0"/>
              <a:ext cx="24384000" cy="5030819"/>
            </a:xfrm>
            <a:prstGeom prst="rect">
              <a:avLst/>
            </a:prstGeom>
          </p:spPr>
        </p:pic>
      </p:grpSp>
      <p:grpSp>
        <p:nvGrpSpPr>
          <p:cNvPr id="4" name="Group 4"/>
          <p:cNvGrpSpPr/>
          <p:nvPr/>
        </p:nvGrpSpPr>
        <p:grpSpPr>
          <a:xfrm>
            <a:off x="0" y="2171700"/>
            <a:ext cx="18288000" cy="8115300"/>
            <a:chOff x="0" y="0"/>
            <a:chExt cx="4816593" cy="1715591"/>
          </a:xfrm>
        </p:grpSpPr>
        <p:sp>
          <p:nvSpPr>
            <p:cNvPr id="5" name="Freeform 5"/>
            <p:cNvSpPr/>
            <p:nvPr/>
          </p:nvSpPr>
          <p:spPr>
            <a:xfrm>
              <a:off x="0" y="0"/>
              <a:ext cx="4816592" cy="1715591"/>
            </a:xfrm>
            <a:custGeom>
              <a:avLst/>
              <a:gdLst/>
              <a:ahLst/>
              <a:cxnLst/>
              <a:rect l="l" t="t" r="r" b="b"/>
              <a:pathLst>
                <a:path w="4816592" h="1715591">
                  <a:moveTo>
                    <a:pt x="0" y="0"/>
                  </a:moveTo>
                  <a:lnTo>
                    <a:pt x="4816592" y="0"/>
                  </a:lnTo>
                  <a:lnTo>
                    <a:pt x="4816592" y="1715591"/>
                  </a:lnTo>
                  <a:lnTo>
                    <a:pt x="0" y="1715591"/>
                  </a:lnTo>
                  <a:close/>
                </a:path>
              </a:pathLst>
            </a:custGeom>
            <a:solidFill>
              <a:schemeClr val="tx2">
                <a:lumMod val="20000"/>
                <a:lumOff val="80000"/>
              </a:schemeClr>
            </a:solidFill>
          </p:spPr>
        </p:sp>
        <p:sp>
          <p:nvSpPr>
            <p:cNvPr id="6" name="TextBox 6"/>
            <p:cNvSpPr txBox="1"/>
            <p:nvPr/>
          </p:nvSpPr>
          <p:spPr>
            <a:xfrm>
              <a:off x="0" y="-57150"/>
              <a:ext cx="4816593" cy="1772741"/>
            </a:xfrm>
            <a:prstGeom prst="rect">
              <a:avLst/>
            </a:prstGeom>
            <a:solidFill>
              <a:schemeClr val="tx2">
                <a:lumMod val="20000"/>
                <a:lumOff val="80000"/>
              </a:schemeClr>
            </a:solidFill>
          </p:spPr>
          <p:txBody>
            <a:bodyPr lIns="50800" tIns="50800" rIns="50800" bIns="50800" rtlCol="0" anchor="ctr"/>
            <a:lstStyle/>
            <a:p>
              <a:pPr algn="ctr">
                <a:lnSpc>
                  <a:spcPts val="3639"/>
                </a:lnSpc>
              </a:pPr>
              <a:endParaRPr/>
            </a:p>
          </p:txBody>
        </p:sp>
      </p:grpSp>
      <p:sp>
        <p:nvSpPr>
          <p:cNvPr id="9" name="TextBox 9"/>
          <p:cNvSpPr txBox="1"/>
          <p:nvPr/>
        </p:nvSpPr>
        <p:spPr>
          <a:xfrm>
            <a:off x="7056120" y="243841"/>
            <a:ext cx="3876040" cy="1615635"/>
          </a:xfrm>
          <a:prstGeom prst="rect">
            <a:avLst/>
          </a:prstGeom>
        </p:spPr>
        <p:txBody>
          <a:bodyPr wrap="square" lIns="0" tIns="0" rIns="0" bIns="0" rtlCol="0" anchor="t">
            <a:spAutoFit/>
          </a:bodyPr>
          <a:lstStyle/>
          <a:p>
            <a:pPr algn="ctr">
              <a:lnSpc>
                <a:spcPct val="150000"/>
              </a:lnSpc>
            </a:pPr>
            <a:r>
              <a:rPr lang="ar-EG" sz="6999" b="1" dirty="0">
                <a:solidFill>
                  <a:srgbClr val="FFFFFF"/>
                </a:solidFill>
                <a:latin typeface="Arial Bold"/>
                <a:ea typeface="Arial Bold"/>
                <a:sym typeface="Arial Bold"/>
              </a:rPr>
              <a:t>برامج الادارة</a:t>
            </a:r>
            <a:endParaRPr lang="en-US" sz="6999" b="1" dirty="0">
              <a:solidFill>
                <a:srgbClr val="FFFFFF"/>
              </a:solidFill>
              <a:latin typeface="Arial Bold"/>
              <a:ea typeface="Arial Bold"/>
              <a:sym typeface="Arial Bold"/>
            </a:endParaRPr>
          </a:p>
        </p:txBody>
      </p:sp>
      <p:sp>
        <p:nvSpPr>
          <p:cNvPr id="10" name="Freeform 10"/>
          <p:cNvSpPr/>
          <p:nvPr/>
        </p:nvSpPr>
        <p:spPr>
          <a:xfrm>
            <a:off x="8333203" y="-1109791"/>
            <a:ext cx="1621594" cy="1621594"/>
          </a:xfrm>
          <a:custGeom>
            <a:avLst/>
            <a:gdLst/>
            <a:ahLst/>
            <a:cxnLst/>
            <a:rect l="l" t="t" r="r" b="b"/>
            <a:pathLst>
              <a:path w="1621594" h="1621594">
                <a:moveTo>
                  <a:pt x="0" y="0"/>
                </a:moveTo>
                <a:lnTo>
                  <a:pt x="1621594" y="0"/>
                </a:lnTo>
                <a:lnTo>
                  <a:pt x="1621594" y="1621594"/>
                </a:lnTo>
                <a:lnTo>
                  <a:pt x="0" y="1621594"/>
                </a:lnTo>
                <a:lnTo>
                  <a:pt x="0" y="0"/>
                </a:lnTo>
                <a:close/>
              </a:path>
            </a:pathLst>
          </a:custGeom>
          <a:blipFill>
            <a:blip r:embed="rId3" cstate="print">
              <a:extLst>
                <a:ext uri="{96DAC541-7B7A-43D3-8B79-37D633B846F1}">
                  <asvg:svgBlip xmlns:asvg="http://schemas.microsoft.com/office/drawing/2016/SVG/main" xmlns="" r:embed="rId4"/>
                </a:ext>
              </a:extLst>
            </a:blip>
            <a:stretch>
              <a:fillRect/>
            </a:stretch>
          </a:blipFill>
        </p:spPr>
      </p:sp>
      <p:grpSp>
        <p:nvGrpSpPr>
          <p:cNvPr id="37" name="Group 6">
            <a:extLst>
              <a:ext uri="{FF2B5EF4-FFF2-40B4-BE49-F238E27FC236}">
                <a16:creationId xmlns:a16="http://schemas.microsoft.com/office/drawing/2014/main" xmlns="" id="{9D4ACD8C-C5F0-C51F-3C53-152F2AC9E624}"/>
              </a:ext>
            </a:extLst>
          </p:cNvPr>
          <p:cNvGrpSpPr/>
          <p:nvPr/>
        </p:nvGrpSpPr>
        <p:grpSpPr>
          <a:xfrm>
            <a:off x="7836038" y="4582391"/>
            <a:ext cx="3102563" cy="1752600"/>
            <a:chOff x="0" y="9656"/>
            <a:chExt cx="817136" cy="361138"/>
          </a:xfrm>
        </p:grpSpPr>
        <p:sp>
          <p:nvSpPr>
            <p:cNvPr id="38" name="Freeform 7">
              <a:extLst>
                <a:ext uri="{FF2B5EF4-FFF2-40B4-BE49-F238E27FC236}">
                  <a16:creationId xmlns:a16="http://schemas.microsoft.com/office/drawing/2014/main" xmlns="" id="{2474FFF5-45F5-58E5-B70E-900BB62BFA87}"/>
                </a:ext>
              </a:extLst>
            </p:cNvPr>
            <p:cNvSpPr/>
            <p:nvPr/>
          </p:nvSpPr>
          <p:spPr>
            <a:xfrm>
              <a:off x="4336" y="9656"/>
              <a:ext cx="812800" cy="361138"/>
            </a:xfrm>
            <a:custGeom>
              <a:avLst/>
              <a:gdLst/>
              <a:ahLst/>
              <a:cxnLst/>
              <a:rect l="l" t="t" r="r" b="b"/>
              <a:pathLst>
                <a:path w="812800" h="361138">
                  <a:moveTo>
                    <a:pt x="75259" y="0"/>
                  </a:moveTo>
                  <a:lnTo>
                    <a:pt x="737541" y="0"/>
                  </a:lnTo>
                  <a:cubicBezTo>
                    <a:pt x="779105" y="0"/>
                    <a:pt x="812800" y="33695"/>
                    <a:pt x="812800" y="75259"/>
                  </a:cubicBezTo>
                  <a:lnTo>
                    <a:pt x="812800" y="285879"/>
                  </a:lnTo>
                  <a:cubicBezTo>
                    <a:pt x="812800" y="305839"/>
                    <a:pt x="804871" y="324981"/>
                    <a:pt x="790757" y="339095"/>
                  </a:cubicBezTo>
                  <a:cubicBezTo>
                    <a:pt x="776643" y="353209"/>
                    <a:pt x="757501" y="361138"/>
                    <a:pt x="737541" y="361138"/>
                  </a:cubicBezTo>
                  <a:lnTo>
                    <a:pt x="75259" y="361138"/>
                  </a:lnTo>
                  <a:cubicBezTo>
                    <a:pt x="33695" y="361138"/>
                    <a:pt x="0" y="327443"/>
                    <a:pt x="0" y="285879"/>
                  </a:cubicBezTo>
                  <a:lnTo>
                    <a:pt x="0" y="75259"/>
                  </a:lnTo>
                  <a:cubicBezTo>
                    <a:pt x="0" y="33695"/>
                    <a:pt x="33695" y="0"/>
                    <a:pt x="75259" y="0"/>
                  </a:cubicBezTo>
                  <a:close/>
                </a:path>
              </a:pathLst>
            </a:custGeom>
            <a:solidFill>
              <a:srgbClr val="153969"/>
            </a:solidFill>
            <a:ln cap="rnd">
              <a:noFill/>
              <a:prstDash val="solid"/>
              <a:round/>
            </a:ln>
          </p:spPr>
          <p:txBody>
            <a:bodyPr/>
            <a:lstStyle/>
            <a:p>
              <a:endParaRPr lang="en-US" dirty="0"/>
            </a:p>
          </p:txBody>
        </p:sp>
        <p:sp>
          <p:nvSpPr>
            <p:cNvPr id="39" name="TextBox 8">
              <a:extLst>
                <a:ext uri="{FF2B5EF4-FFF2-40B4-BE49-F238E27FC236}">
                  <a16:creationId xmlns:a16="http://schemas.microsoft.com/office/drawing/2014/main" xmlns="" id="{09F60210-B80C-3A9D-98B9-77AE202BA894}"/>
                </a:ext>
              </a:extLst>
            </p:cNvPr>
            <p:cNvSpPr txBox="1"/>
            <p:nvPr/>
          </p:nvSpPr>
          <p:spPr>
            <a:xfrm>
              <a:off x="0" y="73654"/>
              <a:ext cx="812800" cy="287483"/>
            </a:xfrm>
            <a:prstGeom prst="rect">
              <a:avLst/>
            </a:prstGeom>
          </p:spPr>
          <p:txBody>
            <a:bodyPr lIns="254000" tIns="254000" rIns="254000" bIns="254000" rtlCol="0" anchor="ctr"/>
            <a:lstStyle/>
            <a:p>
              <a:pPr algn="ctr"/>
              <a:r>
                <a:rPr lang="ar-EG" sz="3600" b="1" dirty="0">
                  <a:solidFill>
                    <a:schemeClr val="bg1">
                      <a:lumMod val="95000"/>
                    </a:schemeClr>
                  </a:solidFill>
                  <a:latin typeface="Arial Bold"/>
                  <a:ea typeface="Arial Bold"/>
                  <a:sym typeface="Arial Bold"/>
                </a:rPr>
                <a:t>برامج داخلية (مصممة داخل الشركة)</a:t>
              </a:r>
              <a:endParaRPr lang="en-US" sz="3600" b="1" dirty="0">
                <a:solidFill>
                  <a:schemeClr val="bg1">
                    <a:lumMod val="95000"/>
                  </a:schemeClr>
                </a:solidFill>
                <a:latin typeface="Arial Bold"/>
                <a:ea typeface="Arial Bold"/>
                <a:sym typeface="Arial Bold"/>
              </a:endParaRPr>
            </a:p>
            <a:p>
              <a:pPr algn="ctr"/>
              <a:endParaRPr lang="ar-EG" sz="2299" b="1" dirty="0">
                <a:solidFill>
                  <a:srgbClr val="FFFFFF"/>
                </a:solidFill>
                <a:latin typeface="Helios Bold"/>
                <a:ea typeface="Helios Bold"/>
                <a:sym typeface="Helios Bold"/>
              </a:endParaRPr>
            </a:p>
          </p:txBody>
        </p:sp>
      </p:grpSp>
      <p:sp>
        <p:nvSpPr>
          <p:cNvPr id="41" name="Freeform 12"/>
          <p:cNvSpPr/>
          <p:nvPr/>
        </p:nvSpPr>
        <p:spPr>
          <a:xfrm>
            <a:off x="15106423" y="4361474"/>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42" name="Freeform 13"/>
          <p:cNvSpPr/>
          <p:nvPr/>
        </p:nvSpPr>
        <p:spPr>
          <a:xfrm>
            <a:off x="15295594" y="4550645"/>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43" name="Freeform 12"/>
          <p:cNvSpPr/>
          <p:nvPr/>
        </p:nvSpPr>
        <p:spPr>
          <a:xfrm>
            <a:off x="12582329" y="6756650"/>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45" name="Freeform 13"/>
          <p:cNvSpPr/>
          <p:nvPr/>
        </p:nvSpPr>
        <p:spPr>
          <a:xfrm>
            <a:off x="12771500" y="6945821"/>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49" name="Freeform 12"/>
          <p:cNvSpPr/>
          <p:nvPr/>
        </p:nvSpPr>
        <p:spPr>
          <a:xfrm>
            <a:off x="4175501" y="5791291"/>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51" name="Freeform 13"/>
          <p:cNvSpPr/>
          <p:nvPr/>
        </p:nvSpPr>
        <p:spPr>
          <a:xfrm>
            <a:off x="4364672" y="5980462"/>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56" name="Freeform 12"/>
          <p:cNvSpPr/>
          <p:nvPr/>
        </p:nvSpPr>
        <p:spPr>
          <a:xfrm>
            <a:off x="4902078" y="2590861"/>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58" name="Freeform 13"/>
          <p:cNvSpPr/>
          <p:nvPr/>
        </p:nvSpPr>
        <p:spPr>
          <a:xfrm>
            <a:off x="5091249" y="2780032"/>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59" name="Freeform 12"/>
          <p:cNvSpPr/>
          <p:nvPr/>
        </p:nvSpPr>
        <p:spPr>
          <a:xfrm>
            <a:off x="8227143" y="7744773"/>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60" name="Freeform 13"/>
          <p:cNvSpPr/>
          <p:nvPr/>
        </p:nvSpPr>
        <p:spPr>
          <a:xfrm>
            <a:off x="8416314" y="7933944"/>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61" name="TextBox 60"/>
          <p:cNvSpPr txBox="1"/>
          <p:nvPr/>
        </p:nvSpPr>
        <p:spPr>
          <a:xfrm>
            <a:off x="4281843" y="6109864"/>
            <a:ext cx="1641764" cy="1200329"/>
          </a:xfrm>
          <a:prstGeom prst="rect">
            <a:avLst/>
          </a:prstGeom>
          <a:noFill/>
        </p:spPr>
        <p:txBody>
          <a:bodyPr wrap="square" rtlCol="0">
            <a:spAutoFit/>
          </a:bodyPr>
          <a:lstStyle/>
          <a:p>
            <a:pPr algn="ctr"/>
            <a:r>
              <a:rPr lang="en-US" sz="2400" b="1" dirty="0">
                <a:solidFill>
                  <a:schemeClr val="tx2">
                    <a:lumMod val="20000"/>
                    <a:lumOff val="80000"/>
                  </a:schemeClr>
                </a:solidFill>
              </a:rPr>
              <a:t>Healthy Care System</a:t>
            </a:r>
          </a:p>
        </p:txBody>
      </p:sp>
      <p:sp>
        <p:nvSpPr>
          <p:cNvPr id="62" name="TextBox 61"/>
          <p:cNvSpPr txBox="1"/>
          <p:nvPr/>
        </p:nvSpPr>
        <p:spPr>
          <a:xfrm>
            <a:off x="5195454" y="3221162"/>
            <a:ext cx="1246909" cy="523220"/>
          </a:xfrm>
          <a:prstGeom prst="rect">
            <a:avLst/>
          </a:prstGeom>
          <a:noFill/>
        </p:spPr>
        <p:txBody>
          <a:bodyPr wrap="square" rtlCol="0">
            <a:spAutoFit/>
          </a:bodyPr>
          <a:lstStyle/>
          <a:p>
            <a:pPr algn="ctr"/>
            <a:r>
              <a:rPr lang="en-US" sz="2800" b="1" dirty="0">
                <a:solidFill>
                  <a:schemeClr val="tx2">
                    <a:lumMod val="20000"/>
                    <a:lumOff val="80000"/>
                  </a:schemeClr>
                </a:solidFill>
              </a:rPr>
              <a:t>RPTH</a:t>
            </a:r>
          </a:p>
        </p:txBody>
      </p:sp>
      <p:sp>
        <p:nvSpPr>
          <p:cNvPr id="63" name="TextBox 62"/>
          <p:cNvSpPr txBox="1"/>
          <p:nvPr/>
        </p:nvSpPr>
        <p:spPr>
          <a:xfrm>
            <a:off x="15046505" y="4887864"/>
            <a:ext cx="1953491" cy="830997"/>
          </a:xfrm>
          <a:prstGeom prst="rect">
            <a:avLst/>
          </a:prstGeom>
          <a:noFill/>
        </p:spPr>
        <p:txBody>
          <a:bodyPr wrap="square" rtlCol="0">
            <a:spAutoFit/>
          </a:bodyPr>
          <a:lstStyle/>
          <a:p>
            <a:pPr algn="ctr"/>
            <a:r>
              <a:rPr lang="en-US" sz="2400" b="1" dirty="0">
                <a:solidFill>
                  <a:schemeClr val="tx2">
                    <a:lumMod val="20000"/>
                    <a:lumOff val="80000"/>
                  </a:schemeClr>
                </a:solidFill>
              </a:rPr>
              <a:t>Technical Support</a:t>
            </a:r>
          </a:p>
        </p:txBody>
      </p:sp>
      <p:sp>
        <p:nvSpPr>
          <p:cNvPr id="64" name="TextBox 63"/>
          <p:cNvSpPr txBox="1"/>
          <p:nvPr/>
        </p:nvSpPr>
        <p:spPr>
          <a:xfrm>
            <a:off x="8250354" y="8333510"/>
            <a:ext cx="1808019" cy="769441"/>
          </a:xfrm>
          <a:prstGeom prst="rect">
            <a:avLst/>
          </a:prstGeom>
          <a:noFill/>
        </p:spPr>
        <p:txBody>
          <a:bodyPr wrap="square" rtlCol="0">
            <a:spAutoFit/>
          </a:bodyPr>
          <a:lstStyle/>
          <a:p>
            <a:pPr algn="ctr"/>
            <a:r>
              <a:rPr lang="en-US" sz="2200" b="1" dirty="0">
                <a:solidFill>
                  <a:schemeClr val="tx2">
                    <a:lumMod val="20000"/>
                    <a:lumOff val="80000"/>
                  </a:schemeClr>
                </a:solidFill>
              </a:rPr>
              <a:t>Information Center</a:t>
            </a:r>
          </a:p>
        </p:txBody>
      </p:sp>
      <p:sp>
        <p:nvSpPr>
          <p:cNvPr id="66" name="TextBox 65"/>
          <p:cNvSpPr txBox="1"/>
          <p:nvPr/>
        </p:nvSpPr>
        <p:spPr>
          <a:xfrm>
            <a:off x="12454137" y="7283041"/>
            <a:ext cx="2133600" cy="738664"/>
          </a:xfrm>
          <a:prstGeom prst="rect">
            <a:avLst/>
          </a:prstGeom>
          <a:noFill/>
        </p:spPr>
        <p:txBody>
          <a:bodyPr wrap="square" rtlCol="0">
            <a:spAutoFit/>
          </a:bodyPr>
          <a:lstStyle/>
          <a:p>
            <a:pPr algn="ctr"/>
            <a:r>
              <a:rPr lang="en-US" sz="2400" b="1" dirty="0">
                <a:solidFill>
                  <a:schemeClr val="tx2">
                    <a:lumMod val="20000"/>
                    <a:lumOff val="80000"/>
                  </a:schemeClr>
                </a:solidFill>
              </a:rPr>
              <a:t>Website </a:t>
            </a:r>
            <a:r>
              <a:rPr lang="en-US" b="1" dirty="0">
                <a:solidFill>
                  <a:schemeClr val="tx2">
                    <a:lumMod val="20000"/>
                    <a:lumOff val="80000"/>
                  </a:schemeClr>
                </a:solidFill>
              </a:rPr>
              <a:t>(ASCWW.ORG)</a:t>
            </a:r>
          </a:p>
        </p:txBody>
      </p:sp>
      <p:sp>
        <p:nvSpPr>
          <p:cNvPr id="7" name="Freeform 12">
            <a:extLst>
              <a:ext uri="{FF2B5EF4-FFF2-40B4-BE49-F238E27FC236}">
                <a16:creationId xmlns:a16="http://schemas.microsoft.com/office/drawing/2014/main" xmlns="" id="{B1A6194B-5DF3-E5EB-2EDC-6D4D6DA2AA53}"/>
              </a:ext>
            </a:extLst>
          </p:cNvPr>
          <p:cNvSpPr/>
          <p:nvPr/>
        </p:nvSpPr>
        <p:spPr>
          <a:xfrm>
            <a:off x="11651635" y="2254886"/>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8" name="Freeform 13">
            <a:extLst>
              <a:ext uri="{FF2B5EF4-FFF2-40B4-BE49-F238E27FC236}">
                <a16:creationId xmlns:a16="http://schemas.microsoft.com/office/drawing/2014/main" xmlns="" id="{96F46A5B-1F83-85FB-695F-E1E8606E7321}"/>
              </a:ext>
            </a:extLst>
          </p:cNvPr>
          <p:cNvSpPr/>
          <p:nvPr/>
        </p:nvSpPr>
        <p:spPr>
          <a:xfrm>
            <a:off x="11825294" y="2474403"/>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11" name="TextBox 10">
            <a:extLst>
              <a:ext uri="{FF2B5EF4-FFF2-40B4-BE49-F238E27FC236}">
                <a16:creationId xmlns:a16="http://schemas.microsoft.com/office/drawing/2014/main" xmlns="" id="{807139D2-AF70-F379-354F-65909970D336}"/>
              </a:ext>
            </a:extLst>
          </p:cNvPr>
          <p:cNvSpPr txBox="1"/>
          <p:nvPr/>
        </p:nvSpPr>
        <p:spPr>
          <a:xfrm>
            <a:off x="11523443" y="2921314"/>
            <a:ext cx="2133600" cy="461665"/>
          </a:xfrm>
          <a:prstGeom prst="rect">
            <a:avLst/>
          </a:prstGeom>
          <a:noFill/>
        </p:spPr>
        <p:txBody>
          <a:bodyPr wrap="square" rtlCol="0">
            <a:spAutoFit/>
          </a:bodyPr>
          <a:lstStyle/>
          <a:p>
            <a:pPr algn="ctr"/>
            <a:r>
              <a:rPr lang="en-US" sz="2400" b="1" dirty="0">
                <a:solidFill>
                  <a:schemeClr val="tx2">
                    <a:lumMod val="20000"/>
                    <a:lumOff val="80000"/>
                  </a:schemeClr>
                </a:solidFill>
              </a:rPr>
              <a:t>IWWS</a:t>
            </a:r>
            <a:endParaRPr lang="en-US" b="1" dirty="0">
              <a:solidFill>
                <a:schemeClr val="tx2">
                  <a:lumMod val="20000"/>
                  <a:lumOff val="80000"/>
                </a:schemeClr>
              </a:solidFill>
            </a:endParaRPr>
          </a:p>
        </p:txBody>
      </p:sp>
      <p:sp>
        <p:nvSpPr>
          <p:cNvPr id="32" name="Freeform 12"/>
          <p:cNvSpPr/>
          <p:nvPr/>
        </p:nvSpPr>
        <p:spPr>
          <a:xfrm>
            <a:off x="1193678" y="3901501"/>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33" name="Freeform 13"/>
          <p:cNvSpPr/>
          <p:nvPr/>
        </p:nvSpPr>
        <p:spPr>
          <a:xfrm>
            <a:off x="1382849" y="4090672"/>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34" name="TextBox 33"/>
          <p:cNvSpPr txBox="1"/>
          <p:nvPr/>
        </p:nvSpPr>
        <p:spPr>
          <a:xfrm>
            <a:off x="1507374" y="4409882"/>
            <a:ext cx="1246909" cy="954107"/>
          </a:xfrm>
          <a:prstGeom prst="rect">
            <a:avLst/>
          </a:prstGeom>
          <a:noFill/>
        </p:spPr>
        <p:txBody>
          <a:bodyPr wrap="square" rtlCol="0">
            <a:spAutoFit/>
          </a:bodyPr>
          <a:lstStyle/>
          <a:p>
            <a:pPr algn="ctr"/>
            <a:r>
              <a:rPr lang="en-US" sz="2800" b="1" dirty="0" smtClean="0">
                <a:solidFill>
                  <a:schemeClr val="tx2">
                    <a:lumMod val="20000"/>
                    <a:lumOff val="80000"/>
                  </a:schemeClr>
                </a:solidFill>
              </a:rPr>
              <a:t>Billing SYS</a:t>
            </a:r>
            <a:endParaRPr lang="en-US" sz="2800" b="1" dirty="0">
              <a:solidFill>
                <a:schemeClr val="tx2">
                  <a:lumMod val="20000"/>
                  <a:lumOff val="80000"/>
                </a:schemeClr>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12"/>
          <p:cNvSpPr/>
          <p:nvPr/>
        </p:nvSpPr>
        <p:spPr>
          <a:xfrm>
            <a:off x="0" y="0"/>
            <a:ext cx="18287999" cy="10286999"/>
          </a:xfrm>
          <a:custGeom>
            <a:avLst/>
            <a:gdLst/>
            <a:ahLst/>
            <a:cxnLst/>
            <a:rect l="l" t="t" r="r" b="b"/>
            <a:pathLst>
              <a:path w="3059409" h="1718831">
                <a:moveTo>
                  <a:pt x="0" y="0"/>
                </a:moveTo>
                <a:lnTo>
                  <a:pt x="3059408" y="0"/>
                </a:lnTo>
                <a:lnTo>
                  <a:pt x="3059408" y="1718832"/>
                </a:lnTo>
                <a:lnTo>
                  <a:pt x="0" y="1718832"/>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txBody>
          <a:bodyPr/>
          <a:lstStyle/>
          <a:p>
            <a:endParaRPr lang="en-US" dirty="0"/>
          </a:p>
        </p:txBody>
      </p:sp>
      <p:pic>
        <p:nvPicPr>
          <p:cNvPr id="4" name="Picture 3" descr="6190637f-d32e-4f6f-a291-4400b9b950b5.png"/>
          <p:cNvPicPr>
            <a:picLocks noChangeAspect="1"/>
          </p:cNvPicPr>
          <p:nvPr/>
        </p:nvPicPr>
        <p:blipFill>
          <a:blip r:embed="rId4" cstate="print"/>
          <a:stretch>
            <a:fillRect/>
          </a:stretch>
        </p:blipFill>
        <p:spPr>
          <a:xfrm>
            <a:off x="1" y="-1"/>
            <a:ext cx="18288000" cy="10287001"/>
          </a:xfrm>
          <a:prstGeom prst="rect">
            <a:avLst/>
          </a:prstGeom>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xmlns="" val="862719532"/>
              </p:ext>
            </p:extLst>
          </p:nvPr>
        </p:nvGraphicFramePr>
        <p:xfrm>
          <a:off x="0" y="0"/>
          <a:ext cx="18288000" cy="10421064"/>
        </p:xfrm>
        <a:graphic>
          <a:graphicData uri="http://schemas.openxmlformats.org/drawingml/2006/table">
            <a:tbl>
              <a:tblPr firstRow="1" bandRow="1">
                <a:tableStyleId>{5C22544A-7EE6-4342-B048-85BDC9FD1C3A}</a:tableStyleId>
              </a:tblPr>
              <a:tblGrid>
                <a:gridCol w="13370560">
                  <a:extLst>
                    <a:ext uri="{9D8B030D-6E8A-4147-A177-3AD203B41FA5}">
                      <a16:colId xmlns:a16="http://schemas.microsoft.com/office/drawing/2014/main" xmlns="" val="20000"/>
                    </a:ext>
                  </a:extLst>
                </a:gridCol>
                <a:gridCol w="4917440">
                  <a:extLst>
                    <a:ext uri="{9D8B030D-6E8A-4147-A177-3AD203B41FA5}">
                      <a16:colId xmlns:a16="http://schemas.microsoft.com/office/drawing/2014/main" xmlns="" val="20001"/>
                    </a:ext>
                  </a:extLst>
                </a:gridCol>
              </a:tblGrid>
              <a:tr h="1141452">
                <a:tc>
                  <a:txBody>
                    <a:bodyPr/>
                    <a:lstStyle/>
                    <a:p>
                      <a:pPr algn="ctr">
                        <a:lnSpc>
                          <a:spcPct val="150000"/>
                        </a:lnSpc>
                      </a:pPr>
                      <a:r>
                        <a:rPr lang="ar-EG" sz="4000" b="1" kern="1200" dirty="0">
                          <a:solidFill>
                            <a:schemeClr val="lt1"/>
                          </a:solidFill>
                          <a:latin typeface="+mn-lt"/>
                          <a:ea typeface="+mn-ea"/>
                          <a:cs typeface="+mn-cs"/>
                        </a:rPr>
                        <a:t>عن البرنامج</a:t>
                      </a:r>
                      <a:endParaRPr lang="en-US" sz="4000" b="1" kern="1200" dirty="0">
                        <a:solidFill>
                          <a:schemeClr val="lt1"/>
                        </a:solidFill>
                        <a:latin typeface="+mn-lt"/>
                        <a:ea typeface="+mn-ea"/>
                        <a:cs typeface="+mn-cs"/>
                      </a:endParaRPr>
                    </a:p>
                  </a:txBody>
                  <a:tcPr/>
                </a:tc>
                <a:tc>
                  <a:txBody>
                    <a:bodyPr/>
                    <a:lstStyle/>
                    <a:p>
                      <a:pPr algn="ctr">
                        <a:lnSpc>
                          <a:spcPct val="150000"/>
                        </a:lnSpc>
                      </a:pPr>
                      <a:r>
                        <a:rPr lang="ar-EG" sz="4000" b="1" kern="1200" dirty="0">
                          <a:solidFill>
                            <a:schemeClr val="lt1"/>
                          </a:solidFill>
                          <a:latin typeface="+mn-lt"/>
                          <a:ea typeface="+mn-ea"/>
                          <a:cs typeface="+mn-cs"/>
                        </a:rPr>
                        <a:t>اسم البرنامج</a:t>
                      </a:r>
                      <a:endParaRPr lang="en-US" sz="4000" b="1" kern="1200" dirty="0">
                        <a:solidFill>
                          <a:schemeClr val="lt1"/>
                        </a:solidFill>
                        <a:latin typeface="+mn-lt"/>
                        <a:ea typeface="+mn-ea"/>
                        <a:cs typeface="+mn-cs"/>
                      </a:endParaRPr>
                    </a:p>
                  </a:txBody>
                  <a:tcPr/>
                </a:tc>
                <a:extLst>
                  <a:ext uri="{0D108BD9-81ED-4DB2-BD59-A6C34878D82A}">
                    <a16:rowId xmlns:a16="http://schemas.microsoft.com/office/drawing/2014/main" xmlns="" val="10000"/>
                  </a:ext>
                </a:extLst>
              </a:tr>
              <a:tr h="114145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EG" sz="2400" b="1" kern="1200" dirty="0">
                          <a:solidFill>
                            <a:schemeClr val="accent1">
                              <a:lumMod val="50000"/>
                            </a:schemeClr>
                          </a:solidFill>
                          <a:latin typeface="+mn-lt"/>
                          <a:ea typeface="Arial Bold"/>
                          <a:cs typeface="Arial Bold"/>
                          <a:sym typeface="Helios"/>
                        </a:rPr>
                        <a:t>نظام إلكتروني متكامل لإدارة ملفات الموظفين داخل الشركة منذ تاريخ استلامهم العمل وحتى نهاية خدمتهم. يهدف البرنامج إلى حفظ وأرشفة كافة البيانات والملفات الخاصة بالموظفين بشكل منظم وآمن، مما يسهل الرجوع إليها في أي وقت.</a:t>
                      </a:r>
                      <a:endParaRPr lang="en-US" sz="2400" b="1" kern="1200" dirty="0">
                        <a:solidFill>
                          <a:schemeClr val="accent1">
                            <a:lumMod val="50000"/>
                          </a:schemeClr>
                        </a:solidFill>
                        <a:latin typeface="+mn-lt"/>
                        <a:ea typeface="Arial Bold"/>
                        <a:cs typeface="Arial Bold"/>
                        <a:sym typeface="Helios"/>
                      </a:endParaRPr>
                    </a:p>
                    <a:p>
                      <a:pPr algn="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kern="1200" dirty="0">
                          <a:solidFill>
                            <a:schemeClr val="accent1">
                              <a:lumMod val="50000"/>
                            </a:schemeClr>
                          </a:solidFill>
                          <a:latin typeface="+mn-lt"/>
                          <a:ea typeface="Arial Bold"/>
                          <a:cs typeface="Arial Bold"/>
                          <a:sym typeface="Arial Bold"/>
                        </a:rPr>
                        <a:t>File Archive</a:t>
                      </a:r>
                    </a:p>
                    <a:p>
                      <a:endParaRPr lang="en-US" dirty="0"/>
                    </a:p>
                  </a:txBody>
                  <a:tcPr/>
                </a:tc>
                <a:extLst>
                  <a:ext uri="{0D108BD9-81ED-4DB2-BD59-A6C34878D82A}">
                    <a16:rowId xmlns:a16="http://schemas.microsoft.com/office/drawing/2014/main" xmlns="" val="10001"/>
                  </a:ext>
                </a:extLst>
              </a:tr>
              <a:tr h="1141452">
                <a:tc>
                  <a:txBody>
                    <a:bodyPr/>
                    <a:lstStyle/>
                    <a:p>
                      <a:pPr algn="r"/>
                      <a:r>
                        <a:rPr lang="ar-EG" sz="2400" b="1" kern="1200" dirty="0">
                          <a:solidFill>
                            <a:schemeClr val="accent1">
                              <a:lumMod val="50000"/>
                            </a:schemeClr>
                          </a:solidFill>
                          <a:latin typeface="+mn-lt"/>
                          <a:cs typeface="Arial Bold"/>
                        </a:rPr>
                        <a:t>موقع الشركة الإلكتروني هو المنصة الرسمية التي تتيح عرض ونشر جميع الأخبار، المناقصات، والأنشطة الخاصة بالشركة، بالإضافة إلى تقديم خدمات إلكترونية متكاملة للعملاء والموظفين. يهدف الموقع إلى تعزيز الشفافية، تحسين التواصل، وتسهيل وصول الخدمات للجمهور.</a:t>
                      </a:r>
                    </a:p>
                  </a:txBody>
                  <a:tcPr/>
                </a:tc>
                <a:tc>
                  <a:txBody>
                    <a:bodyPr/>
                    <a:lstStyle/>
                    <a:p>
                      <a:pPr algn="ctr"/>
                      <a:r>
                        <a:rPr lang="en-US" sz="3600" b="1" kern="1200" dirty="0">
                          <a:solidFill>
                            <a:schemeClr val="accent1">
                              <a:lumMod val="50000"/>
                            </a:schemeClr>
                          </a:solidFill>
                          <a:latin typeface="+mn-lt"/>
                          <a:ea typeface="Arial Bold"/>
                          <a:cs typeface="Arial Bold"/>
                          <a:sym typeface="Arial Bold"/>
                        </a:rPr>
                        <a:t>Website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kern="1200" dirty="0">
                          <a:solidFill>
                            <a:schemeClr val="accent1">
                              <a:lumMod val="50000"/>
                            </a:schemeClr>
                          </a:solidFill>
                          <a:latin typeface="+mn-lt"/>
                          <a:ea typeface="Arial Bold"/>
                          <a:cs typeface="Arial Bold"/>
                          <a:sym typeface="Helios"/>
                        </a:rPr>
                        <a:t>(www.ascww.org)</a:t>
                      </a:r>
                      <a:endParaRPr lang="ar-EG" sz="3600" b="1" kern="1200" dirty="0">
                        <a:solidFill>
                          <a:schemeClr val="accent1">
                            <a:lumMod val="50000"/>
                          </a:schemeClr>
                        </a:solidFill>
                        <a:latin typeface="+mn-lt"/>
                        <a:ea typeface="Arial Bold"/>
                        <a:cs typeface="Arial Bold"/>
                        <a:sym typeface="Helios"/>
                      </a:endParaRPr>
                    </a:p>
                  </a:txBody>
                  <a:tcPr/>
                </a:tc>
                <a:extLst>
                  <a:ext uri="{0D108BD9-81ED-4DB2-BD59-A6C34878D82A}">
                    <a16:rowId xmlns:a16="http://schemas.microsoft.com/office/drawing/2014/main" xmlns="" val="10002"/>
                  </a:ext>
                </a:extLst>
              </a:tr>
              <a:tr h="1203400">
                <a:tc>
                  <a:txBody>
                    <a:bodyPr/>
                    <a:lstStyle/>
                    <a:p>
                      <a:pPr algn="r">
                        <a:lnSpc>
                          <a:spcPts val="3639"/>
                        </a:lnSpc>
                        <a:spcBef>
                          <a:spcPct val="0"/>
                        </a:spcBef>
                      </a:pPr>
                      <a:r>
                        <a:rPr lang="ar-EG" sz="2400" b="1" kern="1200" dirty="0">
                          <a:solidFill>
                            <a:schemeClr val="accent1">
                              <a:lumMod val="50000"/>
                            </a:schemeClr>
                          </a:solidFill>
                          <a:latin typeface="+mn-lt"/>
                          <a:ea typeface="Arial Bold"/>
                          <a:cs typeface="Arial Bold"/>
                          <a:sym typeface="Helios"/>
                        </a:rPr>
                        <a:t>برنامج لادارة وتتبع الأجهزة والمعدات داخل الشركة</a:t>
                      </a:r>
                      <a:r>
                        <a:rPr lang="ar-EG" sz="2400" b="1" kern="1200" baseline="0" dirty="0">
                          <a:solidFill>
                            <a:schemeClr val="accent1">
                              <a:lumMod val="50000"/>
                            </a:schemeClr>
                          </a:solidFill>
                          <a:latin typeface="+mn-lt"/>
                          <a:ea typeface="Arial Bold"/>
                          <a:cs typeface="Arial Bold"/>
                          <a:sym typeface="Helios"/>
                        </a:rPr>
                        <a:t> </a:t>
                      </a:r>
                      <a:r>
                        <a:rPr lang="ar-EG" sz="2400" b="1" kern="1200" dirty="0">
                          <a:solidFill>
                            <a:schemeClr val="accent1">
                              <a:lumMod val="50000"/>
                            </a:schemeClr>
                          </a:solidFill>
                          <a:latin typeface="+mn-lt"/>
                          <a:ea typeface="Arial Bold"/>
                          <a:cs typeface="Arial Bold"/>
                          <a:sym typeface="Helios"/>
                        </a:rPr>
                        <a:t>يهدف إلى تسهيل عملية تسجيل الأجهزة، توزيعها، ومتابعتها على مستوى الشركات، القطاعات، والإدارات المختلفة، بما يضمن تنظيم العمل ودقة البيانات.</a:t>
                      </a:r>
                      <a:endParaRPr lang="en-US" sz="2400" b="1" kern="1200" dirty="0">
                        <a:solidFill>
                          <a:schemeClr val="accent1">
                            <a:lumMod val="50000"/>
                          </a:schemeClr>
                        </a:solidFill>
                        <a:latin typeface="+mn-lt"/>
                        <a:ea typeface="Arial Bold"/>
                        <a:cs typeface="Arial Bold"/>
                        <a:sym typeface="Helios"/>
                      </a:endParaRP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kern="1200" dirty="0">
                          <a:solidFill>
                            <a:schemeClr val="accent1">
                              <a:lumMod val="50000"/>
                            </a:schemeClr>
                          </a:solidFill>
                          <a:latin typeface="+mn-lt"/>
                          <a:ea typeface="Arial Bold"/>
                          <a:cs typeface="Arial Bold"/>
                          <a:sym typeface="Arial Bold"/>
                        </a:rPr>
                        <a:t>Technical Support</a:t>
                      </a:r>
                    </a:p>
                    <a:p>
                      <a:endParaRPr lang="en-US" sz="3600" b="1" kern="1200" dirty="0">
                        <a:solidFill>
                          <a:schemeClr val="accent1">
                            <a:lumMod val="50000"/>
                          </a:schemeClr>
                        </a:solidFill>
                        <a:latin typeface="+mn-lt"/>
                        <a:ea typeface="Arial Bold"/>
                        <a:cs typeface="Arial Bold"/>
                        <a:sym typeface="Arial Bold"/>
                      </a:endParaRPr>
                    </a:p>
                  </a:txBody>
                  <a:tcPr/>
                </a:tc>
                <a:extLst>
                  <a:ext uri="{0D108BD9-81ED-4DB2-BD59-A6C34878D82A}">
                    <a16:rowId xmlns:a16="http://schemas.microsoft.com/office/drawing/2014/main" xmlns="" val="10003"/>
                  </a:ext>
                </a:extLst>
              </a:tr>
              <a:tr h="1203400">
                <a:tc>
                  <a:txBody>
                    <a:bodyPr/>
                    <a:lstStyle/>
                    <a:p>
                      <a:pPr algn="r">
                        <a:lnSpc>
                          <a:spcPts val="3639"/>
                        </a:lnSpc>
                        <a:spcBef>
                          <a:spcPct val="0"/>
                        </a:spcBef>
                      </a:pPr>
                      <a:r>
                        <a:rPr lang="ar-EG" sz="2400" b="1" kern="1200" dirty="0">
                          <a:solidFill>
                            <a:schemeClr val="accent1">
                              <a:lumMod val="50000"/>
                            </a:schemeClr>
                          </a:solidFill>
                          <a:latin typeface="+mn-lt"/>
                          <a:ea typeface="Arial Bold"/>
                          <a:cs typeface="Arial Bold"/>
                          <a:sym typeface="Helios"/>
                        </a:rPr>
                        <a:t>برنامج لادارة وتتبع الأجهزة والمعدات داخل الشركة</a:t>
                      </a:r>
                      <a:r>
                        <a:rPr lang="ar-EG" sz="2400" b="1" kern="1200" baseline="0" dirty="0">
                          <a:solidFill>
                            <a:schemeClr val="accent1">
                              <a:lumMod val="50000"/>
                            </a:schemeClr>
                          </a:solidFill>
                          <a:latin typeface="+mn-lt"/>
                          <a:ea typeface="Arial Bold"/>
                          <a:cs typeface="Arial Bold"/>
                          <a:sym typeface="Helios"/>
                        </a:rPr>
                        <a:t> </a:t>
                      </a:r>
                      <a:r>
                        <a:rPr lang="ar-EG" sz="2400" b="1" kern="1200" dirty="0">
                          <a:solidFill>
                            <a:schemeClr val="accent1">
                              <a:lumMod val="50000"/>
                            </a:schemeClr>
                          </a:solidFill>
                          <a:latin typeface="+mn-lt"/>
                          <a:ea typeface="Arial Bold"/>
                          <a:cs typeface="Arial Bold"/>
                          <a:sym typeface="Helios"/>
                        </a:rPr>
                        <a:t>يهدف إلى تسهيل عملية تسجيل الأجهزة، توزيعها، ومتابعتها على مستوى الشركات، القطاعات، والإدارات المختلفة، بما يضمن تنظيم العمل ودقة البيانات.</a:t>
                      </a:r>
                      <a:endParaRPr lang="en-US" sz="2400" b="1" kern="1200" dirty="0">
                        <a:solidFill>
                          <a:schemeClr val="accent1">
                            <a:lumMod val="50000"/>
                          </a:schemeClr>
                        </a:solidFill>
                        <a:latin typeface="+mn-lt"/>
                        <a:ea typeface="Arial Bold"/>
                        <a:cs typeface="Arial Bold"/>
                        <a:sym typeface="Helios"/>
                      </a:endParaRP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kern="1200" dirty="0">
                          <a:solidFill>
                            <a:schemeClr val="accent1">
                              <a:lumMod val="50000"/>
                            </a:schemeClr>
                          </a:solidFill>
                          <a:latin typeface="+mn-lt"/>
                          <a:ea typeface="Arial Bold"/>
                          <a:cs typeface="Arial Bold"/>
                          <a:sym typeface="Arial Bold"/>
                        </a:rPr>
                        <a:t>Information Center</a:t>
                      </a:r>
                    </a:p>
                    <a:p>
                      <a:endParaRPr lang="en-US" dirty="0"/>
                    </a:p>
                  </a:txBody>
                  <a:tcPr/>
                </a:tc>
                <a:extLst>
                  <a:ext uri="{0D108BD9-81ED-4DB2-BD59-A6C34878D82A}">
                    <a16:rowId xmlns:a16="http://schemas.microsoft.com/office/drawing/2014/main" xmlns="" val="10004"/>
                  </a:ext>
                </a:extLst>
              </a:tr>
              <a:tr h="73461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EG" sz="2400" b="1" kern="1200" dirty="0">
                          <a:solidFill>
                            <a:schemeClr val="accent1">
                              <a:lumMod val="50000"/>
                            </a:schemeClr>
                          </a:solidFill>
                          <a:latin typeface="+mn-lt"/>
                          <a:ea typeface="Arial Bold"/>
                          <a:cs typeface="Arial Bold"/>
                          <a:sym typeface="Helios"/>
                        </a:rPr>
                        <a:t>نظام لإدارة ومتابعة التعاقدات الطبية الخاصة بالموظفين داخلا لمؤسسة، بهدف تنظيم الخدمات الصحية وضمان حقوق الموظفين.</a:t>
                      </a:r>
                      <a:endParaRPr lang="en-US" sz="2400" b="1" kern="1200" dirty="0">
                        <a:solidFill>
                          <a:schemeClr val="accent1">
                            <a:lumMod val="50000"/>
                          </a:schemeClr>
                        </a:solidFill>
                        <a:latin typeface="+mn-lt"/>
                        <a:ea typeface="Arial Bold"/>
                        <a:cs typeface="Arial Bold"/>
                        <a:sym typeface="Helios"/>
                      </a:endParaRP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kern="1200" dirty="0">
                          <a:solidFill>
                            <a:schemeClr val="accent1">
                              <a:lumMod val="50000"/>
                            </a:schemeClr>
                          </a:solidFill>
                          <a:latin typeface="+mn-lt"/>
                          <a:ea typeface="Arial Bold"/>
                          <a:cs typeface="Arial Bold"/>
                          <a:sym typeface="Arial Bold"/>
                        </a:rPr>
                        <a:t>Healthy Care System</a:t>
                      </a:r>
                    </a:p>
                    <a:p>
                      <a:endParaRPr lang="en-US" dirty="0"/>
                    </a:p>
                  </a:txBody>
                  <a:tcPr/>
                </a:tc>
                <a:extLst>
                  <a:ext uri="{0D108BD9-81ED-4DB2-BD59-A6C34878D82A}">
                    <a16:rowId xmlns:a16="http://schemas.microsoft.com/office/drawing/2014/main" xmlns="" val="10005"/>
                  </a:ext>
                </a:extLst>
              </a:tr>
              <a:tr h="1031486">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EG" sz="2400" b="1" kern="1200" dirty="0">
                          <a:solidFill>
                            <a:schemeClr val="accent1">
                              <a:lumMod val="50000"/>
                            </a:schemeClr>
                          </a:solidFill>
                          <a:latin typeface="+mn-lt"/>
                          <a:ea typeface="Arial Bold"/>
                          <a:cs typeface="Arial Bold"/>
                          <a:sym typeface="Helios"/>
                        </a:rPr>
                        <a:t>برنامج الموارد البشرية – الساعات الإضافية هو نظام يهدف إلى إدارة وتنظيم بيانات حضور العاملين بالشركة، مع حساب الساعات الإضافية (سواء يومية أو جمعة)، وبدلات الانتقال، بالإضافة إلى متابعة خطوط السير الخاصة بالعاملين.</a:t>
                      </a:r>
                      <a:endParaRPr lang="en-US" sz="2400" b="1" kern="1200" dirty="0">
                        <a:solidFill>
                          <a:schemeClr val="accent1">
                            <a:lumMod val="50000"/>
                          </a:schemeClr>
                        </a:solidFill>
                        <a:latin typeface="+mn-lt"/>
                        <a:ea typeface="Arial Bold"/>
                        <a:cs typeface="Arial Bold"/>
                        <a:sym typeface="Helios"/>
                      </a:endParaRPr>
                    </a:p>
                    <a:p>
                      <a:endParaRPr lang="en-US" dirty="0"/>
                    </a:p>
                  </a:txBody>
                  <a:tcPr/>
                </a:tc>
                <a:tc>
                  <a:txBody>
                    <a:bodyPr/>
                    <a:lstStyle/>
                    <a:p>
                      <a:pPr algn="ctr"/>
                      <a:r>
                        <a:rPr lang="en-US" sz="3600" b="1" kern="1200" dirty="0">
                          <a:solidFill>
                            <a:schemeClr val="accent1">
                              <a:lumMod val="50000"/>
                            </a:schemeClr>
                          </a:solidFill>
                          <a:latin typeface="+mn-lt"/>
                          <a:ea typeface="Arial Bold"/>
                          <a:cs typeface="Arial Bold"/>
                          <a:sym typeface="Arial Bold"/>
                        </a:rPr>
                        <a:t>RPTH</a:t>
                      </a:r>
                    </a:p>
                  </a:txBody>
                  <a:tcPr/>
                </a:tc>
                <a:extLst>
                  <a:ext uri="{0D108BD9-81ED-4DB2-BD59-A6C34878D82A}">
                    <a16:rowId xmlns:a16="http://schemas.microsoft.com/office/drawing/2014/main" xmlns="" val="10006"/>
                  </a:ext>
                </a:extLst>
              </a:tr>
              <a:tr h="1141452">
                <a:tc>
                  <a:txBody>
                    <a:bodyPr/>
                    <a:lstStyle/>
                    <a:p>
                      <a:pPr algn="r"/>
                      <a:r>
                        <a:rPr lang="ar-EG" sz="2400" b="1" kern="1200" dirty="0">
                          <a:solidFill>
                            <a:schemeClr val="accent1">
                              <a:lumMod val="50000"/>
                            </a:schemeClr>
                          </a:solidFill>
                          <a:latin typeface="+mn-lt"/>
                          <a:cs typeface="Arial Bold"/>
                        </a:rPr>
                        <a:t>برنامج صرف الصناعي هو نظام إداري وفني يهدف إلى متابعة أعمال الصرف الصناعي المرتبطة بالمحلات التجارية والمنشآت الصناعية. يعمل البرنامج على تسجيل بيانات المحلات، متابعة التزامها بالمعايير البيئية والصحية، ورصد أي مخالفات أو غرامات مترتبة عليها.</a:t>
                      </a:r>
                      <a:endParaRPr lang="en-US" sz="2400" b="1" kern="1200" dirty="0">
                        <a:solidFill>
                          <a:schemeClr val="accent1">
                            <a:lumMod val="50000"/>
                          </a:schemeClr>
                        </a:solidFill>
                        <a:latin typeface="+mn-lt"/>
                        <a:cs typeface="Arial Bold"/>
                      </a:endParaRPr>
                    </a:p>
                  </a:txBody>
                  <a:tcPr/>
                </a:tc>
                <a:tc>
                  <a:txBody>
                    <a:bodyPr/>
                    <a:lstStyle/>
                    <a:p>
                      <a:pPr algn="ctr"/>
                      <a:r>
                        <a:rPr lang="en-US" sz="3600" b="1" kern="1200" dirty="0">
                          <a:solidFill>
                            <a:schemeClr val="accent1">
                              <a:lumMod val="50000"/>
                            </a:schemeClr>
                          </a:solidFill>
                          <a:latin typeface="+mn-lt"/>
                          <a:cs typeface="Arial Bold"/>
                        </a:rPr>
                        <a:t>IWWS</a:t>
                      </a:r>
                    </a:p>
                  </a:txBody>
                  <a:tcPr/>
                </a:tc>
                <a:extLst>
                  <a:ext uri="{0D108BD9-81ED-4DB2-BD59-A6C34878D82A}">
                    <a16:rowId xmlns:a16="http://schemas.microsoft.com/office/drawing/2014/main" xmlns="" val="10007"/>
                  </a:ext>
                </a:extLst>
              </a:tr>
              <a:tr h="1141452">
                <a:tc>
                  <a:txBody>
                    <a:bodyPr/>
                    <a:lstStyle/>
                    <a:p>
                      <a:pPr algn="r"/>
                      <a:r>
                        <a:rPr lang="ar-EG" sz="2400" b="1" kern="1200" dirty="0" smtClean="0">
                          <a:solidFill>
                            <a:schemeClr val="accent1">
                              <a:lumMod val="50000"/>
                            </a:schemeClr>
                          </a:solidFill>
                          <a:latin typeface="+mn-lt"/>
                          <a:ea typeface="+mn-ea"/>
                          <a:cs typeface="Arial Bold"/>
                        </a:rPr>
                        <a:t>نظام متخصص في إدارة الفواتير والقراءات، ويقوم بـإصدار الفواتير والمصادقات لكبار المشتركين والمصالح الحكومية,</a:t>
                      </a:r>
                      <a:r>
                        <a:rPr lang="ar-EG" sz="2400" b="1" kern="1200" baseline="0" dirty="0" smtClean="0">
                          <a:solidFill>
                            <a:schemeClr val="accent1">
                              <a:lumMod val="50000"/>
                            </a:schemeClr>
                          </a:solidFill>
                          <a:latin typeface="+mn-lt"/>
                          <a:ea typeface="+mn-ea"/>
                          <a:cs typeface="Arial Bold"/>
                        </a:rPr>
                        <a:t> </a:t>
                      </a:r>
                      <a:r>
                        <a:rPr lang="ar-EG" sz="2400" b="1" kern="1200" dirty="0" smtClean="0">
                          <a:solidFill>
                            <a:schemeClr val="accent1">
                              <a:lumMod val="50000"/>
                            </a:schemeClr>
                          </a:solidFill>
                          <a:latin typeface="+mn-lt"/>
                          <a:ea typeface="+mn-ea"/>
                          <a:cs typeface="Arial Bold"/>
                        </a:rPr>
                        <a:t>إدخال وقراءة العدادات بشكل دوري,</a:t>
                      </a:r>
                      <a:r>
                        <a:rPr lang="ar-EG" sz="2400" b="1" kern="1200" baseline="0" dirty="0" smtClean="0">
                          <a:solidFill>
                            <a:schemeClr val="accent1">
                              <a:lumMod val="50000"/>
                            </a:schemeClr>
                          </a:solidFill>
                          <a:latin typeface="+mn-lt"/>
                          <a:ea typeface="+mn-ea"/>
                          <a:cs typeface="Arial Bold"/>
                        </a:rPr>
                        <a:t> </a:t>
                      </a:r>
                      <a:r>
                        <a:rPr lang="ar-EG" sz="2400" b="1" kern="1200" dirty="0" smtClean="0">
                          <a:solidFill>
                            <a:schemeClr val="accent1">
                              <a:lumMod val="50000"/>
                            </a:schemeClr>
                          </a:solidFill>
                          <a:latin typeface="+mn-lt"/>
                          <a:ea typeface="+mn-ea"/>
                          <a:cs typeface="Arial Bold"/>
                        </a:rPr>
                        <a:t>متابعة عمليات التحصيل والمدفوعات,</a:t>
                      </a:r>
                      <a:r>
                        <a:rPr lang="ar-EG" sz="2400" b="1" kern="1200" baseline="0" dirty="0" smtClean="0">
                          <a:solidFill>
                            <a:schemeClr val="accent1">
                              <a:lumMod val="50000"/>
                            </a:schemeClr>
                          </a:solidFill>
                          <a:latin typeface="+mn-lt"/>
                          <a:ea typeface="+mn-ea"/>
                          <a:cs typeface="Arial Bold"/>
                        </a:rPr>
                        <a:t> </a:t>
                      </a:r>
                      <a:r>
                        <a:rPr lang="ar-EG" sz="2400" b="1" kern="1200" dirty="0" smtClean="0">
                          <a:solidFill>
                            <a:schemeClr val="accent1">
                              <a:lumMod val="50000"/>
                            </a:schemeClr>
                          </a:solidFill>
                          <a:latin typeface="+mn-lt"/>
                          <a:ea typeface="+mn-ea"/>
                          <a:cs typeface="Arial Bold"/>
                        </a:rPr>
                        <a:t>استخراج تقارير تفصيلية لدعم القرارات المالية.</a:t>
                      </a:r>
                    </a:p>
                    <a:p>
                      <a:pPr algn="r"/>
                      <a:endParaRPr lang="en-US" sz="2400" b="1" kern="1200" dirty="0">
                        <a:solidFill>
                          <a:schemeClr val="accent1">
                            <a:lumMod val="50000"/>
                          </a:schemeClr>
                        </a:solidFill>
                        <a:latin typeface="+mn-lt"/>
                        <a:cs typeface="Arial Bold"/>
                      </a:endParaRPr>
                    </a:p>
                  </a:txBody>
                  <a:tcPr/>
                </a:tc>
                <a:tc>
                  <a:txBody>
                    <a:bodyPr/>
                    <a:lstStyle/>
                    <a:p>
                      <a:pPr algn="ctr"/>
                      <a:r>
                        <a:rPr lang="en-US" sz="3600" b="1" kern="1200" dirty="0" smtClean="0">
                          <a:solidFill>
                            <a:schemeClr val="accent1">
                              <a:lumMod val="50000"/>
                            </a:schemeClr>
                          </a:solidFill>
                          <a:latin typeface="+mn-lt"/>
                          <a:cs typeface="Arial Bold"/>
                        </a:rPr>
                        <a:t>Billin</a:t>
                      </a:r>
                      <a:r>
                        <a:rPr lang="en-US" sz="3600" b="1" kern="1200" baseline="0" dirty="0" smtClean="0">
                          <a:solidFill>
                            <a:schemeClr val="accent1">
                              <a:lumMod val="50000"/>
                            </a:schemeClr>
                          </a:solidFill>
                          <a:latin typeface="+mn-lt"/>
                          <a:cs typeface="Arial Bold"/>
                        </a:rPr>
                        <a:t>g SYS</a:t>
                      </a:r>
                      <a:endParaRPr lang="en-US" sz="3600" b="1" kern="1200" dirty="0">
                        <a:solidFill>
                          <a:schemeClr val="accent1">
                            <a:lumMod val="50000"/>
                          </a:schemeClr>
                        </a:solidFill>
                        <a:latin typeface="+mn-lt"/>
                        <a:cs typeface="Arial Bold"/>
                      </a:endParaRPr>
                    </a:p>
                  </a:txBody>
                  <a:tcPr/>
                </a:tc>
              </a:tr>
            </a:tbl>
          </a:graphicData>
        </a:graphic>
      </p:graphicFrame>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5396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3314700"/>
            <a:chOff x="0" y="0"/>
            <a:chExt cx="24384000" cy="5030819"/>
          </a:xfrm>
        </p:grpSpPr>
        <p:pic>
          <p:nvPicPr>
            <p:cNvPr id="3" name="Picture 3"/>
            <p:cNvPicPr>
              <a:picLocks noChangeAspect="1"/>
            </p:cNvPicPr>
            <p:nvPr/>
          </p:nvPicPr>
          <p:blipFill>
            <a:blip r:embed="rId2" cstate="print">
              <a:alphaModFix amt="14000"/>
            </a:blip>
            <a:srcRect t="27933" b="41099"/>
            <a:stretch>
              <a:fillRect/>
            </a:stretch>
          </p:blipFill>
          <p:spPr>
            <a:xfrm>
              <a:off x="0" y="0"/>
              <a:ext cx="24384000" cy="5030819"/>
            </a:xfrm>
            <a:prstGeom prst="rect">
              <a:avLst/>
            </a:prstGeom>
          </p:spPr>
        </p:pic>
      </p:grpSp>
      <p:grpSp>
        <p:nvGrpSpPr>
          <p:cNvPr id="4" name="Group 4"/>
          <p:cNvGrpSpPr/>
          <p:nvPr/>
        </p:nvGrpSpPr>
        <p:grpSpPr>
          <a:xfrm>
            <a:off x="0" y="2182090"/>
            <a:ext cx="18288000" cy="8104909"/>
            <a:chOff x="0" y="0"/>
            <a:chExt cx="4816593" cy="1715591"/>
          </a:xfrm>
        </p:grpSpPr>
        <p:sp>
          <p:nvSpPr>
            <p:cNvPr id="5" name="Freeform 5"/>
            <p:cNvSpPr/>
            <p:nvPr/>
          </p:nvSpPr>
          <p:spPr>
            <a:xfrm>
              <a:off x="0" y="0"/>
              <a:ext cx="4816592" cy="1715591"/>
            </a:xfrm>
            <a:custGeom>
              <a:avLst/>
              <a:gdLst/>
              <a:ahLst/>
              <a:cxnLst/>
              <a:rect l="l" t="t" r="r" b="b"/>
              <a:pathLst>
                <a:path w="4816592" h="1715591">
                  <a:moveTo>
                    <a:pt x="0" y="0"/>
                  </a:moveTo>
                  <a:lnTo>
                    <a:pt x="4816592" y="0"/>
                  </a:lnTo>
                  <a:lnTo>
                    <a:pt x="4816592" y="1715591"/>
                  </a:lnTo>
                  <a:lnTo>
                    <a:pt x="0" y="1715591"/>
                  </a:lnTo>
                  <a:close/>
                </a:path>
              </a:pathLst>
            </a:custGeom>
            <a:solidFill>
              <a:schemeClr val="tx2">
                <a:lumMod val="20000"/>
                <a:lumOff val="80000"/>
              </a:schemeClr>
            </a:solidFill>
          </p:spPr>
        </p:sp>
        <p:sp>
          <p:nvSpPr>
            <p:cNvPr id="6" name="TextBox 6"/>
            <p:cNvSpPr txBox="1"/>
            <p:nvPr/>
          </p:nvSpPr>
          <p:spPr>
            <a:xfrm>
              <a:off x="0" y="-57150"/>
              <a:ext cx="4816593" cy="1772741"/>
            </a:xfrm>
            <a:prstGeom prst="rect">
              <a:avLst/>
            </a:prstGeom>
          </p:spPr>
          <p:txBody>
            <a:bodyPr lIns="50800" tIns="50800" rIns="50800" bIns="50800" rtlCol="0" anchor="ctr"/>
            <a:lstStyle/>
            <a:p>
              <a:pPr algn="ctr">
                <a:lnSpc>
                  <a:spcPts val="3639"/>
                </a:lnSpc>
              </a:pPr>
              <a:endParaRPr/>
            </a:p>
          </p:txBody>
        </p:sp>
      </p:grpSp>
      <p:sp>
        <p:nvSpPr>
          <p:cNvPr id="9" name="TextBox 9"/>
          <p:cNvSpPr txBox="1"/>
          <p:nvPr/>
        </p:nvSpPr>
        <p:spPr>
          <a:xfrm>
            <a:off x="4648200" y="723900"/>
            <a:ext cx="9008992" cy="1166986"/>
          </a:xfrm>
          <a:prstGeom prst="rect">
            <a:avLst/>
          </a:prstGeom>
        </p:spPr>
        <p:txBody>
          <a:bodyPr lIns="0" tIns="0" rIns="0" bIns="0" rtlCol="0" anchor="t">
            <a:spAutoFit/>
          </a:bodyPr>
          <a:lstStyle/>
          <a:p>
            <a:pPr algn="ctr">
              <a:lnSpc>
                <a:spcPts val="9099"/>
              </a:lnSpc>
            </a:pPr>
            <a:r>
              <a:rPr lang="ar-EG" sz="6999" b="1" dirty="0">
                <a:solidFill>
                  <a:srgbClr val="FFFFFF"/>
                </a:solidFill>
                <a:latin typeface="Arial Bold"/>
                <a:ea typeface="Arial Bold"/>
                <a:sym typeface="Arial Bold"/>
              </a:rPr>
              <a:t>برامج الادارة</a:t>
            </a:r>
            <a:endParaRPr lang="en-US" sz="6999" b="1" dirty="0">
              <a:solidFill>
                <a:srgbClr val="FFFFFF"/>
              </a:solidFill>
              <a:latin typeface="Arial Bold"/>
              <a:ea typeface="Arial Bold"/>
              <a:sym typeface="Arial Bold"/>
            </a:endParaRPr>
          </a:p>
        </p:txBody>
      </p:sp>
      <p:sp>
        <p:nvSpPr>
          <p:cNvPr id="10" name="Freeform 10"/>
          <p:cNvSpPr/>
          <p:nvPr/>
        </p:nvSpPr>
        <p:spPr>
          <a:xfrm>
            <a:off x="8333203" y="-1109791"/>
            <a:ext cx="1621594" cy="1621594"/>
          </a:xfrm>
          <a:custGeom>
            <a:avLst/>
            <a:gdLst/>
            <a:ahLst/>
            <a:cxnLst/>
            <a:rect l="l" t="t" r="r" b="b"/>
            <a:pathLst>
              <a:path w="1621594" h="1621594">
                <a:moveTo>
                  <a:pt x="0" y="0"/>
                </a:moveTo>
                <a:lnTo>
                  <a:pt x="1621594" y="0"/>
                </a:lnTo>
                <a:lnTo>
                  <a:pt x="1621594" y="1621594"/>
                </a:lnTo>
                <a:lnTo>
                  <a:pt x="0" y="1621594"/>
                </a:lnTo>
                <a:lnTo>
                  <a:pt x="0" y="0"/>
                </a:lnTo>
                <a:close/>
              </a:path>
            </a:pathLst>
          </a:custGeom>
          <a:blipFill>
            <a:blip r:embed="rId3" cstate="print">
              <a:extLst>
                <a:ext uri="{96DAC541-7B7A-43D3-8B79-37D633B846F1}">
                  <asvg:svgBlip xmlns:asvg="http://schemas.microsoft.com/office/drawing/2016/SVG/main" xmlns="" r:embed="rId4"/>
                </a:ext>
              </a:extLst>
            </a:blip>
            <a:stretch>
              <a:fillRect/>
            </a:stretch>
          </a:blipFill>
        </p:spPr>
      </p:sp>
      <p:grpSp>
        <p:nvGrpSpPr>
          <p:cNvPr id="7" name="Group 6">
            <a:extLst>
              <a:ext uri="{FF2B5EF4-FFF2-40B4-BE49-F238E27FC236}">
                <a16:creationId xmlns:a16="http://schemas.microsoft.com/office/drawing/2014/main" xmlns="" id="{9D4ACD8C-C5F0-C51F-3C53-152F2AC9E624}"/>
              </a:ext>
            </a:extLst>
          </p:cNvPr>
          <p:cNvGrpSpPr/>
          <p:nvPr/>
        </p:nvGrpSpPr>
        <p:grpSpPr>
          <a:xfrm>
            <a:off x="7712663" y="5126411"/>
            <a:ext cx="3086100" cy="1371195"/>
            <a:chOff x="4336" y="9656"/>
            <a:chExt cx="812800" cy="361138"/>
          </a:xfrm>
        </p:grpSpPr>
        <p:sp>
          <p:nvSpPr>
            <p:cNvPr id="38" name="Freeform 7">
              <a:extLst>
                <a:ext uri="{FF2B5EF4-FFF2-40B4-BE49-F238E27FC236}">
                  <a16:creationId xmlns:a16="http://schemas.microsoft.com/office/drawing/2014/main" xmlns="" id="{2474FFF5-45F5-58E5-B70E-900BB62BFA87}"/>
                </a:ext>
              </a:extLst>
            </p:cNvPr>
            <p:cNvSpPr/>
            <p:nvPr/>
          </p:nvSpPr>
          <p:spPr>
            <a:xfrm>
              <a:off x="4336" y="9656"/>
              <a:ext cx="812800" cy="361138"/>
            </a:xfrm>
            <a:custGeom>
              <a:avLst/>
              <a:gdLst/>
              <a:ahLst/>
              <a:cxnLst/>
              <a:rect l="l" t="t" r="r" b="b"/>
              <a:pathLst>
                <a:path w="812800" h="361138">
                  <a:moveTo>
                    <a:pt x="75259" y="0"/>
                  </a:moveTo>
                  <a:lnTo>
                    <a:pt x="737541" y="0"/>
                  </a:lnTo>
                  <a:cubicBezTo>
                    <a:pt x="779105" y="0"/>
                    <a:pt x="812800" y="33695"/>
                    <a:pt x="812800" y="75259"/>
                  </a:cubicBezTo>
                  <a:lnTo>
                    <a:pt x="812800" y="285879"/>
                  </a:lnTo>
                  <a:cubicBezTo>
                    <a:pt x="812800" y="305839"/>
                    <a:pt x="804871" y="324981"/>
                    <a:pt x="790757" y="339095"/>
                  </a:cubicBezTo>
                  <a:cubicBezTo>
                    <a:pt x="776643" y="353209"/>
                    <a:pt x="757501" y="361138"/>
                    <a:pt x="737541" y="361138"/>
                  </a:cubicBezTo>
                  <a:lnTo>
                    <a:pt x="75259" y="361138"/>
                  </a:lnTo>
                  <a:cubicBezTo>
                    <a:pt x="33695" y="361138"/>
                    <a:pt x="0" y="327443"/>
                    <a:pt x="0" y="285879"/>
                  </a:cubicBezTo>
                  <a:lnTo>
                    <a:pt x="0" y="75259"/>
                  </a:lnTo>
                  <a:cubicBezTo>
                    <a:pt x="0" y="33695"/>
                    <a:pt x="33695" y="0"/>
                    <a:pt x="75259" y="0"/>
                  </a:cubicBezTo>
                  <a:close/>
                </a:path>
              </a:pathLst>
            </a:custGeom>
            <a:solidFill>
              <a:srgbClr val="153969"/>
            </a:solidFill>
            <a:ln cap="rnd">
              <a:noFill/>
              <a:prstDash val="solid"/>
              <a:round/>
            </a:ln>
          </p:spPr>
          <p:txBody>
            <a:bodyPr/>
            <a:lstStyle/>
            <a:p>
              <a:endParaRPr lang="en-US" dirty="0"/>
            </a:p>
          </p:txBody>
        </p:sp>
        <p:sp>
          <p:nvSpPr>
            <p:cNvPr id="39" name="TextBox 8">
              <a:extLst>
                <a:ext uri="{FF2B5EF4-FFF2-40B4-BE49-F238E27FC236}">
                  <a16:creationId xmlns:a16="http://schemas.microsoft.com/office/drawing/2014/main" xmlns="" id="{09F60210-B80C-3A9D-98B9-77AE202BA894}"/>
                </a:ext>
              </a:extLst>
            </p:cNvPr>
            <p:cNvSpPr txBox="1"/>
            <p:nvPr/>
          </p:nvSpPr>
          <p:spPr>
            <a:xfrm>
              <a:off x="47678" y="139457"/>
              <a:ext cx="710630" cy="184069"/>
            </a:xfrm>
            <a:prstGeom prst="rect">
              <a:avLst/>
            </a:prstGeom>
          </p:spPr>
          <p:txBody>
            <a:bodyPr lIns="254000" tIns="254000" rIns="254000" bIns="254000" rtlCol="0" anchor="ctr"/>
            <a:lstStyle/>
            <a:p>
              <a:pPr algn="ctr">
                <a:lnSpc>
                  <a:spcPts val="3219"/>
                </a:lnSpc>
              </a:pPr>
              <a:r>
                <a:rPr lang="ar-EG" sz="3600" b="1" dirty="0">
                  <a:solidFill>
                    <a:schemeClr val="bg1">
                      <a:lumMod val="95000"/>
                    </a:schemeClr>
                  </a:solidFill>
                  <a:latin typeface="Arial Bold"/>
                  <a:ea typeface="Arial Bold"/>
                  <a:sym typeface="Arial Bold"/>
                </a:rPr>
                <a:t>برامج خارجية </a:t>
              </a:r>
              <a:endParaRPr lang="en-US" sz="3600" b="1" dirty="0">
                <a:solidFill>
                  <a:schemeClr val="bg1">
                    <a:lumMod val="95000"/>
                  </a:schemeClr>
                </a:solidFill>
                <a:latin typeface="Arial Bold"/>
                <a:ea typeface="Arial Bold"/>
                <a:sym typeface="Arial Bold"/>
              </a:endParaRPr>
            </a:p>
            <a:p>
              <a:pPr algn="ctr">
                <a:lnSpc>
                  <a:spcPts val="3219"/>
                </a:lnSpc>
              </a:pPr>
              <a:endParaRPr lang="ar-EG" sz="2299" b="1" dirty="0">
                <a:solidFill>
                  <a:srgbClr val="FFFFFF"/>
                </a:solidFill>
                <a:latin typeface="Helios Bold"/>
                <a:ea typeface="Helios Bold"/>
                <a:sym typeface="Helios Bold"/>
              </a:endParaRPr>
            </a:p>
          </p:txBody>
        </p:sp>
      </p:grpSp>
      <p:sp>
        <p:nvSpPr>
          <p:cNvPr id="68" name="Freeform 12"/>
          <p:cNvSpPr/>
          <p:nvPr/>
        </p:nvSpPr>
        <p:spPr>
          <a:xfrm>
            <a:off x="3759079" y="5271736"/>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70" name="Freeform 13"/>
          <p:cNvSpPr/>
          <p:nvPr/>
        </p:nvSpPr>
        <p:spPr>
          <a:xfrm>
            <a:off x="3948250" y="5460907"/>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71" name="TextBox 70"/>
          <p:cNvSpPr txBox="1"/>
          <p:nvPr/>
        </p:nvSpPr>
        <p:spPr>
          <a:xfrm>
            <a:off x="4156364" y="5943600"/>
            <a:ext cx="1039091" cy="523220"/>
          </a:xfrm>
          <a:prstGeom prst="rect">
            <a:avLst/>
          </a:prstGeom>
          <a:noFill/>
        </p:spPr>
        <p:txBody>
          <a:bodyPr wrap="square" rtlCol="0">
            <a:spAutoFit/>
          </a:bodyPr>
          <a:lstStyle/>
          <a:p>
            <a:pPr algn="ctr"/>
            <a:r>
              <a:rPr lang="en-US" sz="2800" b="1" dirty="0">
                <a:solidFill>
                  <a:schemeClr val="tx2">
                    <a:lumMod val="20000"/>
                    <a:lumOff val="80000"/>
                  </a:schemeClr>
                </a:solidFill>
              </a:rPr>
              <a:t>DMS</a:t>
            </a:r>
          </a:p>
        </p:txBody>
      </p:sp>
      <p:sp>
        <p:nvSpPr>
          <p:cNvPr id="72" name="Freeform 12"/>
          <p:cNvSpPr/>
          <p:nvPr/>
        </p:nvSpPr>
        <p:spPr>
          <a:xfrm>
            <a:off x="3281096" y="2486973"/>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75" name="Freeform 13"/>
          <p:cNvSpPr/>
          <p:nvPr/>
        </p:nvSpPr>
        <p:spPr>
          <a:xfrm>
            <a:off x="3470267" y="2676144"/>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76" name="Freeform 12"/>
          <p:cNvSpPr/>
          <p:nvPr/>
        </p:nvSpPr>
        <p:spPr>
          <a:xfrm>
            <a:off x="12238060" y="7246016"/>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77" name="Freeform 13"/>
          <p:cNvSpPr/>
          <p:nvPr/>
        </p:nvSpPr>
        <p:spPr>
          <a:xfrm>
            <a:off x="12427231" y="7435187"/>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78" name="Freeform 12"/>
          <p:cNvSpPr/>
          <p:nvPr/>
        </p:nvSpPr>
        <p:spPr>
          <a:xfrm>
            <a:off x="11489915" y="4793755"/>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79" name="Freeform 13"/>
          <p:cNvSpPr/>
          <p:nvPr/>
        </p:nvSpPr>
        <p:spPr>
          <a:xfrm>
            <a:off x="11679086" y="4982926"/>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80" name="Freeform 12"/>
          <p:cNvSpPr/>
          <p:nvPr/>
        </p:nvSpPr>
        <p:spPr>
          <a:xfrm>
            <a:off x="5567096" y="3463718"/>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81" name="Freeform 13"/>
          <p:cNvSpPr/>
          <p:nvPr/>
        </p:nvSpPr>
        <p:spPr>
          <a:xfrm>
            <a:off x="5756267" y="3652889"/>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82" name="TextBox 81"/>
          <p:cNvSpPr txBox="1"/>
          <p:nvPr/>
        </p:nvSpPr>
        <p:spPr>
          <a:xfrm>
            <a:off x="5777345" y="4218710"/>
            <a:ext cx="1433946" cy="378950"/>
          </a:xfrm>
          <a:prstGeom prst="rect">
            <a:avLst/>
          </a:prstGeom>
          <a:noFill/>
        </p:spPr>
        <p:txBody>
          <a:bodyPr wrap="square" rtlCol="0">
            <a:spAutoFit/>
          </a:bodyPr>
          <a:lstStyle/>
          <a:p>
            <a:pPr algn="ctr">
              <a:lnSpc>
                <a:spcPts val="2100"/>
              </a:lnSpc>
            </a:pPr>
            <a:r>
              <a:rPr lang="en-US" sz="2500" b="1" dirty="0">
                <a:solidFill>
                  <a:schemeClr val="tx2">
                    <a:lumMod val="20000"/>
                    <a:lumOff val="80000"/>
                  </a:schemeClr>
                </a:solidFill>
                <a:sym typeface="Helios"/>
              </a:rPr>
              <a:t>ELSWEDY</a:t>
            </a:r>
          </a:p>
        </p:txBody>
      </p:sp>
      <p:sp>
        <p:nvSpPr>
          <p:cNvPr id="83" name="TextBox 82"/>
          <p:cNvSpPr txBox="1"/>
          <p:nvPr/>
        </p:nvSpPr>
        <p:spPr>
          <a:xfrm>
            <a:off x="3699164" y="3117273"/>
            <a:ext cx="1018309" cy="523220"/>
          </a:xfrm>
          <a:prstGeom prst="rect">
            <a:avLst/>
          </a:prstGeom>
          <a:noFill/>
        </p:spPr>
        <p:txBody>
          <a:bodyPr wrap="square" rtlCol="0">
            <a:spAutoFit/>
          </a:bodyPr>
          <a:lstStyle/>
          <a:p>
            <a:pPr algn="ctr"/>
            <a:r>
              <a:rPr lang="en-US" sz="2800" b="1" dirty="0">
                <a:solidFill>
                  <a:schemeClr val="tx2">
                    <a:lumMod val="20000"/>
                    <a:lumOff val="80000"/>
                  </a:schemeClr>
                </a:solidFill>
              </a:rPr>
              <a:t>SAP</a:t>
            </a:r>
          </a:p>
        </p:txBody>
      </p:sp>
      <p:sp>
        <p:nvSpPr>
          <p:cNvPr id="84" name="TextBox 83"/>
          <p:cNvSpPr txBox="1"/>
          <p:nvPr/>
        </p:nvSpPr>
        <p:spPr>
          <a:xfrm>
            <a:off x="11824855" y="5444835"/>
            <a:ext cx="1267691" cy="523220"/>
          </a:xfrm>
          <a:prstGeom prst="rect">
            <a:avLst/>
          </a:prstGeom>
          <a:noFill/>
        </p:spPr>
        <p:txBody>
          <a:bodyPr wrap="square" rtlCol="0">
            <a:spAutoFit/>
          </a:bodyPr>
          <a:lstStyle/>
          <a:p>
            <a:r>
              <a:rPr lang="en-US" sz="2800" b="1" dirty="0">
                <a:solidFill>
                  <a:schemeClr val="tx2">
                    <a:lumMod val="20000"/>
                    <a:lumOff val="80000"/>
                  </a:schemeClr>
                </a:solidFill>
                <a:sym typeface="Helios"/>
              </a:rPr>
              <a:t>ADVAC</a:t>
            </a:r>
          </a:p>
        </p:txBody>
      </p:sp>
      <p:sp>
        <p:nvSpPr>
          <p:cNvPr id="85" name="Freeform 12"/>
          <p:cNvSpPr/>
          <p:nvPr/>
        </p:nvSpPr>
        <p:spPr>
          <a:xfrm>
            <a:off x="8705146" y="2362282"/>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86" name="Freeform 13"/>
          <p:cNvSpPr/>
          <p:nvPr/>
        </p:nvSpPr>
        <p:spPr>
          <a:xfrm>
            <a:off x="8894317" y="2551453"/>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87" name="Freeform 12"/>
          <p:cNvSpPr/>
          <p:nvPr/>
        </p:nvSpPr>
        <p:spPr>
          <a:xfrm>
            <a:off x="8975315" y="7869464"/>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88" name="Freeform 13"/>
          <p:cNvSpPr/>
          <p:nvPr/>
        </p:nvSpPr>
        <p:spPr>
          <a:xfrm>
            <a:off x="9164486" y="8058635"/>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89" name="Freeform 12"/>
          <p:cNvSpPr/>
          <p:nvPr/>
        </p:nvSpPr>
        <p:spPr>
          <a:xfrm>
            <a:off x="350860" y="2715573"/>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90" name="Freeform 13"/>
          <p:cNvSpPr/>
          <p:nvPr/>
        </p:nvSpPr>
        <p:spPr>
          <a:xfrm>
            <a:off x="540031" y="2904744"/>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94" name="Freeform 12"/>
          <p:cNvSpPr/>
          <p:nvPr/>
        </p:nvSpPr>
        <p:spPr>
          <a:xfrm>
            <a:off x="6336023" y="7058973"/>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95" name="Freeform 13"/>
          <p:cNvSpPr/>
          <p:nvPr/>
        </p:nvSpPr>
        <p:spPr>
          <a:xfrm>
            <a:off x="6525194" y="7248144"/>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96" name="TextBox 95"/>
          <p:cNvSpPr txBox="1"/>
          <p:nvPr/>
        </p:nvSpPr>
        <p:spPr>
          <a:xfrm>
            <a:off x="519546" y="3429001"/>
            <a:ext cx="1620982" cy="523220"/>
          </a:xfrm>
          <a:prstGeom prst="rect">
            <a:avLst/>
          </a:prstGeom>
          <a:noFill/>
        </p:spPr>
        <p:txBody>
          <a:bodyPr wrap="square" rtlCol="0">
            <a:spAutoFit/>
          </a:bodyPr>
          <a:lstStyle/>
          <a:p>
            <a:r>
              <a:rPr lang="en-US" sz="2800" b="1" dirty="0">
                <a:solidFill>
                  <a:schemeClr val="tx2">
                    <a:lumMod val="20000"/>
                    <a:lumOff val="80000"/>
                  </a:schemeClr>
                </a:solidFill>
              </a:rPr>
              <a:t>MAXIMO</a:t>
            </a:r>
          </a:p>
        </p:txBody>
      </p:sp>
      <p:sp>
        <p:nvSpPr>
          <p:cNvPr id="97" name="TextBox 96"/>
          <p:cNvSpPr txBox="1"/>
          <p:nvPr/>
        </p:nvSpPr>
        <p:spPr>
          <a:xfrm>
            <a:off x="8956959" y="2867889"/>
            <a:ext cx="1371600" cy="861774"/>
          </a:xfrm>
          <a:prstGeom prst="rect">
            <a:avLst/>
          </a:prstGeom>
          <a:noFill/>
        </p:spPr>
        <p:txBody>
          <a:bodyPr wrap="square" rtlCol="0">
            <a:spAutoFit/>
          </a:bodyPr>
          <a:lstStyle/>
          <a:p>
            <a:pPr algn="ctr"/>
            <a:r>
              <a:rPr lang="en-US" sz="2500" b="1" dirty="0">
                <a:solidFill>
                  <a:schemeClr val="tx2">
                    <a:lumMod val="20000"/>
                    <a:lumOff val="80000"/>
                  </a:schemeClr>
                </a:solidFill>
                <a:sym typeface="Helios"/>
              </a:rPr>
              <a:t>SQUAD SQUARE</a:t>
            </a:r>
          </a:p>
        </p:txBody>
      </p:sp>
      <p:sp>
        <p:nvSpPr>
          <p:cNvPr id="98" name="TextBox 97"/>
          <p:cNvSpPr txBox="1"/>
          <p:nvPr/>
        </p:nvSpPr>
        <p:spPr>
          <a:xfrm>
            <a:off x="6192981" y="7689273"/>
            <a:ext cx="2223654" cy="644857"/>
          </a:xfrm>
          <a:prstGeom prst="rect">
            <a:avLst/>
          </a:prstGeom>
          <a:noFill/>
        </p:spPr>
        <p:txBody>
          <a:bodyPr wrap="square" rtlCol="0">
            <a:spAutoFit/>
          </a:bodyPr>
          <a:lstStyle/>
          <a:p>
            <a:pPr algn="ctr">
              <a:lnSpc>
                <a:spcPts val="2100"/>
              </a:lnSpc>
            </a:pPr>
            <a:r>
              <a:rPr lang="en-US" sz="2400" b="1" dirty="0">
                <a:solidFill>
                  <a:schemeClr val="tx2">
                    <a:lumMod val="20000"/>
                    <a:lumOff val="80000"/>
                  </a:schemeClr>
                </a:solidFill>
                <a:sym typeface="Helios"/>
              </a:rPr>
              <a:t>Water CAD, </a:t>
            </a:r>
          </a:p>
          <a:p>
            <a:pPr algn="ctr">
              <a:lnSpc>
                <a:spcPts val="2100"/>
              </a:lnSpc>
            </a:pPr>
            <a:r>
              <a:rPr lang="en-US" sz="2400" b="1" dirty="0">
                <a:solidFill>
                  <a:schemeClr val="tx2">
                    <a:lumMod val="20000"/>
                    <a:lumOff val="80000"/>
                  </a:schemeClr>
                </a:solidFill>
                <a:sym typeface="Helios"/>
              </a:rPr>
              <a:t>Sewer CAD</a:t>
            </a:r>
          </a:p>
        </p:txBody>
      </p:sp>
      <p:sp>
        <p:nvSpPr>
          <p:cNvPr id="100" name="TextBox 99"/>
          <p:cNvSpPr txBox="1"/>
          <p:nvPr/>
        </p:nvSpPr>
        <p:spPr>
          <a:xfrm>
            <a:off x="9227128" y="8520545"/>
            <a:ext cx="1517072" cy="523220"/>
          </a:xfrm>
          <a:prstGeom prst="rect">
            <a:avLst/>
          </a:prstGeom>
          <a:noFill/>
        </p:spPr>
        <p:txBody>
          <a:bodyPr wrap="square" rtlCol="0">
            <a:spAutoFit/>
          </a:bodyPr>
          <a:lstStyle/>
          <a:p>
            <a:r>
              <a:rPr lang="en-US" sz="2800" b="1" dirty="0">
                <a:solidFill>
                  <a:schemeClr val="tx2">
                    <a:lumMod val="20000"/>
                    <a:lumOff val="80000"/>
                  </a:schemeClr>
                </a:solidFill>
              </a:rPr>
              <a:t>MASTER</a:t>
            </a:r>
          </a:p>
        </p:txBody>
      </p:sp>
      <p:sp>
        <p:nvSpPr>
          <p:cNvPr id="102" name="Freeform 12"/>
          <p:cNvSpPr/>
          <p:nvPr/>
        </p:nvSpPr>
        <p:spPr>
          <a:xfrm>
            <a:off x="288514" y="5687373"/>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105" name="Freeform 13"/>
          <p:cNvSpPr/>
          <p:nvPr/>
        </p:nvSpPr>
        <p:spPr>
          <a:xfrm>
            <a:off x="477685" y="5876544"/>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107" name="Freeform 12"/>
          <p:cNvSpPr/>
          <p:nvPr/>
        </p:nvSpPr>
        <p:spPr>
          <a:xfrm>
            <a:off x="12840733" y="2383064"/>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109" name="Freeform 13"/>
          <p:cNvSpPr/>
          <p:nvPr/>
        </p:nvSpPr>
        <p:spPr>
          <a:xfrm>
            <a:off x="13029904" y="2572235"/>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111" name="Freeform 12"/>
          <p:cNvSpPr/>
          <p:nvPr/>
        </p:nvSpPr>
        <p:spPr>
          <a:xfrm>
            <a:off x="2325132" y="7058974"/>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113" name="Freeform 13"/>
          <p:cNvSpPr/>
          <p:nvPr/>
        </p:nvSpPr>
        <p:spPr>
          <a:xfrm>
            <a:off x="2514303" y="7248145"/>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115" name="TextBox 114"/>
          <p:cNvSpPr txBox="1"/>
          <p:nvPr/>
        </p:nvSpPr>
        <p:spPr>
          <a:xfrm>
            <a:off x="581891" y="6338454"/>
            <a:ext cx="1392382" cy="523220"/>
          </a:xfrm>
          <a:prstGeom prst="rect">
            <a:avLst/>
          </a:prstGeom>
          <a:noFill/>
        </p:spPr>
        <p:txBody>
          <a:bodyPr wrap="square" rtlCol="0">
            <a:spAutoFit/>
          </a:bodyPr>
          <a:lstStyle/>
          <a:p>
            <a:r>
              <a:rPr lang="en-US" sz="2800" b="1" dirty="0">
                <a:solidFill>
                  <a:schemeClr val="tx2">
                    <a:lumMod val="20000"/>
                    <a:lumOff val="80000"/>
                  </a:schemeClr>
                </a:solidFill>
              </a:rPr>
              <a:t>EDAMS</a:t>
            </a:r>
          </a:p>
        </p:txBody>
      </p:sp>
      <p:sp>
        <p:nvSpPr>
          <p:cNvPr id="117" name="TextBox 116"/>
          <p:cNvSpPr txBox="1"/>
          <p:nvPr/>
        </p:nvSpPr>
        <p:spPr>
          <a:xfrm>
            <a:off x="13113327" y="3034145"/>
            <a:ext cx="1392382" cy="477054"/>
          </a:xfrm>
          <a:prstGeom prst="rect">
            <a:avLst/>
          </a:prstGeom>
          <a:noFill/>
        </p:spPr>
        <p:txBody>
          <a:bodyPr wrap="square" rtlCol="0">
            <a:spAutoFit/>
          </a:bodyPr>
          <a:lstStyle/>
          <a:p>
            <a:r>
              <a:rPr lang="en-US" sz="2500" b="1" dirty="0">
                <a:solidFill>
                  <a:schemeClr val="tx2">
                    <a:lumMod val="20000"/>
                    <a:lumOff val="80000"/>
                  </a:schemeClr>
                </a:solidFill>
                <a:sym typeface="Helios"/>
              </a:rPr>
              <a:t>AZITEMS</a:t>
            </a:r>
          </a:p>
        </p:txBody>
      </p:sp>
      <p:sp>
        <p:nvSpPr>
          <p:cNvPr id="119" name="Freeform 12"/>
          <p:cNvSpPr/>
          <p:nvPr/>
        </p:nvSpPr>
        <p:spPr>
          <a:xfrm>
            <a:off x="4133150" y="8465292"/>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125" name="Freeform 13"/>
          <p:cNvSpPr/>
          <p:nvPr/>
        </p:nvSpPr>
        <p:spPr>
          <a:xfrm>
            <a:off x="4384667" y="8654463"/>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126" name="TextBox 125"/>
          <p:cNvSpPr txBox="1"/>
          <p:nvPr/>
        </p:nvSpPr>
        <p:spPr>
          <a:xfrm>
            <a:off x="12282053" y="7668496"/>
            <a:ext cx="1787236" cy="954107"/>
          </a:xfrm>
          <a:prstGeom prst="rect">
            <a:avLst/>
          </a:prstGeom>
          <a:noFill/>
        </p:spPr>
        <p:txBody>
          <a:bodyPr wrap="square" rtlCol="0">
            <a:spAutoFit/>
          </a:bodyPr>
          <a:lstStyle/>
          <a:p>
            <a:pPr algn="ctr"/>
            <a:r>
              <a:rPr lang="en-US" sz="2800" b="1" dirty="0">
                <a:solidFill>
                  <a:schemeClr val="tx2">
                    <a:lumMod val="20000"/>
                    <a:lumOff val="80000"/>
                  </a:schemeClr>
                </a:solidFill>
                <a:sym typeface="Helios"/>
              </a:rPr>
              <a:t>WCSS Website</a:t>
            </a:r>
          </a:p>
        </p:txBody>
      </p:sp>
      <p:sp>
        <p:nvSpPr>
          <p:cNvPr id="127" name="TextBox 126"/>
          <p:cNvSpPr txBox="1"/>
          <p:nvPr/>
        </p:nvSpPr>
        <p:spPr>
          <a:xfrm>
            <a:off x="2680855" y="7689272"/>
            <a:ext cx="1163781" cy="523220"/>
          </a:xfrm>
          <a:prstGeom prst="rect">
            <a:avLst/>
          </a:prstGeom>
          <a:noFill/>
        </p:spPr>
        <p:txBody>
          <a:bodyPr wrap="square" rtlCol="0">
            <a:spAutoFit/>
          </a:bodyPr>
          <a:lstStyle/>
          <a:p>
            <a:r>
              <a:rPr lang="en-US" sz="2800" b="1" dirty="0">
                <a:solidFill>
                  <a:schemeClr val="tx2">
                    <a:lumMod val="20000"/>
                    <a:lumOff val="80000"/>
                  </a:schemeClr>
                </a:solidFill>
              </a:rPr>
              <a:t>DMAS</a:t>
            </a:r>
          </a:p>
        </p:txBody>
      </p:sp>
      <p:sp>
        <p:nvSpPr>
          <p:cNvPr id="128" name="Freeform 12"/>
          <p:cNvSpPr/>
          <p:nvPr/>
        </p:nvSpPr>
        <p:spPr>
          <a:xfrm>
            <a:off x="15884396" y="7723997"/>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129" name="Freeform 13"/>
          <p:cNvSpPr/>
          <p:nvPr/>
        </p:nvSpPr>
        <p:spPr>
          <a:xfrm>
            <a:off x="16073567" y="7913168"/>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130" name="Freeform 12"/>
          <p:cNvSpPr/>
          <p:nvPr/>
        </p:nvSpPr>
        <p:spPr>
          <a:xfrm>
            <a:off x="15874878" y="2445410"/>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131" name="Freeform 13"/>
          <p:cNvSpPr/>
          <p:nvPr/>
        </p:nvSpPr>
        <p:spPr>
          <a:xfrm>
            <a:off x="16064049" y="2634581"/>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132" name="Freeform 12"/>
          <p:cNvSpPr/>
          <p:nvPr/>
        </p:nvSpPr>
        <p:spPr>
          <a:xfrm>
            <a:off x="14461714" y="4918448"/>
            <a:ext cx="1821708" cy="1821708"/>
          </a:xfrm>
          <a:custGeom>
            <a:avLst/>
            <a:gdLst/>
            <a:ahLst/>
            <a:cxnLst/>
            <a:rect l="l" t="t" r="r" b="b"/>
            <a:pathLst>
              <a:path w="1821708" h="1821708">
                <a:moveTo>
                  <a:pt x="0" y="0"/>
                </a:moveTo>
                <a:lnTo>
                  <a:pt x="1821708" y="0"/>
                </a:lnTo>
                <a:lnTo>
                  <a:pt x="1821708" y="1821708"/>
                </a:lnTo>
                <a:lnTo>
                  <a:pt x="0" y="1821708"/>
                </a:lnTo>
                <a:lnTo>
                  <a:pt x="0" y="0"/>
                </a:lnTo>
                <a:close/>
              </a:path>
            </a:pathLst>
          </a:custGeom>
          <a:blipFill>
            <a:blip r:embed="rId5" cstate="print">
              <a:alphaModFix amt="44999"/>
              <a:extLst>
                <a:ext uri="{96DAC541-7B7A-43D3-8B79-37D633B846F1}">
                  <asvg:svgBlip xmlns:asvg="http://schemas.microsoft.com/office/drawing/2016/SVG/main" xmlns="" r:embed="rId6"/>
                </a:ext>
              </a:extLst>
            </a:blip>
            <a:stretch>
              <a:fillRect/>
            </a:stretch>
          </a:blipFill>
        </p:spPr>
      </p:sp>
      <p:sp>
        <p:nvSpPr>
          <p:cNvPr id="133" name="Freeform 13"/>
          <p:cNvSpPr/>
          <p:nvPr/>
        </p:nvSpPr>
        <p:spPr>
          <a:xfrm>
            <a:off x="14650885" y="5107619"/>
            <a:ext cx="1443365" cy="1443365"/>
          </a:xfrm>
          <a:custGeom>
            <a:avLst/>
            <a:gdLst/>
            <a:ahLst/>
            <a:cxnLst/>
            <a:rect l="l" t="t" r="r" b="b"/>
            <a:pathLst>
              <a:path w="1443365" h="1443365">
                <a:moveTo>
                  <a:pt x="0" y="0"/>
                </a:moveTo>
                <a:lnTo>
                  <a:pt x="1443365" y="0"/>
                </a:lnTo>
                <a:lnTo>
                  <a:pt x="1443365" y="1443366"/>
                </a:lnTo>
                <a:lnTo>
                  <a:pt x="0" y="1443366"/>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134" name="TextBox 133"/>
          <p:cNvSpPr txBox="1"/>
          <p:nvPr/>
        </p:nvSpPr>
        <p:spPr>
          <a:xfrm>
            <a:off x="4301836" y="8998527"/>
            <a:ext cx="1641764" cy="954107"/>
          </a:xfrm>
          <a:prstGeom prst="rect">
            <a:avLst/>
          </a:prstGeom>
          <a:noFill/>
        </p:spPr>
        <p:txBody>
          <a:bodyPr wrap="square" rtlCol="0">
            <a:spAutoFit/>
          </a:bodyPr>
          <a:lstStyle/>
          <a:p>
            <a:pPr algn="ctr"/>
            <a:r>
              <a:rPr lang="en-US" sz="2800" b="1" dirty="0">
                <a:solidFill>
                  <a:schemeClr val="tx2">
                    <a:lumMod val="20000"/>
                    <a:lumOff val="80000"/>
                  </a:schemeClr>
                </a:solidFill>
              </a:rPr>
              <a:t>CMS with HCSS</a:t>
            </a:r>
          </a:p>
        </p:txBody>
      </p:sp>
      <p:sp>
        <p:nvSpPr>
          <p:cNvPr id="135" name="TextBox 134"/>
          <p:cNvSpPr txBox="1"/>
          <p:nvPr/>
        </p:nvSpPr>
        <p:spPr>
          <a:xfrm>
            <a:off x="14381015" y="5361711"/>
            <a:ext cx="2057400" cy="830997"/>
          </a:xfrm>
          <a:prstGeom prst="rect">
            <a:avLst/>
          </a:prstGeom>
          <a:noFill/>
        </p:spPr>
        <p:txBody>
          <a:bodyPr wrap="square" rtlCol="0">
            <a:spAutoFit/>
          </a:bodyPr>
          <a:lstStyle/>
          <a:p>
            <a:pPr algn="ctr"/>
            <a:r>
              <a:rPr lang="en-US" sz="2400" b="1" dirty="0">
                <a:solidFill>
                  <a:schemeClr val="tx2">
                    <a:lumMod val="20000"/>
                    <a:lumOff val="80000"/>
                  </a:schemeClr>
                </a:solidFill>
                <a:sym typeface="Helios"/>
              </a:rPr>
              <a:t>Quality </a:t>
            </a:r>
            <a:r>
              <a:rPr lang="en-US" sz="2200" b="1" dirty="0">
                <a:solidFill>
                  <a:schemeClr val="tx2">
                    <a:lumMod val="20000"/>
                    <a:lumOff val="80000"/>
                  </a:schemeClr>
                </a:solidFill>
                <a:sym typeface="Helios"/>
              </a:rPr>
              <a:t>Department</a:t>
            </a:r>
          </a:p>
        </p:txBody>
      </p:sp>
      <p:sp>
        <p:nvSpPr>
          <p:cNvPr id="136" name="TextBox 135"/>
          <p:cNvSpPr txBox="1"/>
          <p:nvPr/>
        </p:nvSpPr>
        <p:spPr>
          <a:xfrm>
            <a:off x="15939649" y="8229606"/>
            <a:ext cx="1808019" cy="830997"/>
          </a:xfrm>
          <a:prstGeom prst="rect">
            <a:avLst/>
          </a:prstGeom>
          <a:noFill/>
        </p:spPr>
        <p:txBody>
          <a:bodyPr wrap="square" rtlCol="0">
            <a:spAutoFit/>
          </a:bodyPr>
          <a:lstStyle/>
          <a:p>
            <a:pPr algn="ctr"/>
            <a:r>
              <a:rPr lang="ar-EG" sz="2400" b="1" dirty="0">
                <a:solidFill>
                  <a:schemeClr val="tx2">
                    <a:lumMod val="20000"/>
                    <a:lumOff val="80000"/>
                  </a:schemeClr>
                </a:solidFill>
                <a:sym typeface="Helios"/>
              </a:rPr>
              <a:t>برنامج معامل الشركة</a:t>
            </a:r>
            <a:endParaRPr lang="en-US" sz="2400" b="1" dirty="0">
              <a:solidFill>
                <a:schemeClr val="tx2">
                  <a:lumMod val="20000"/>
                  <a:lumOff val="80000"/>
                </a:schemeClr>
              </a:solidFill>
              <a:sym typeface="Helios"/>
            </a:endParaRPr>
          </a:p>
        </p:txBody>
      </p:sp>
      <p:sp>
        <p:nvSpPr>
          <p:cNvPr id="137" name="TextBox 136"/>
          <p:cNvSpPr txBox="1"/>
          <p:nvPr/>
        </p:nvSpPr>
        <p:spPr>
          <a:xfrm>
            <a:off x="15960436" y="2951019"/>
            <a:ext cx="1662545" cy="707886"/>
          </a:xfrm>
          <a:prstGeom prst="rect">
            <a:avLst/>
          </a:prstGeom>
          <a:noFill/>
        </p:spPr>
        <p:txBody>
          <a:bodyPr wrap="square" rtlCol="0">
            <a:spAutoFit/>
          </a:bodyPr>
          <a:lstStyle/>
          <a:p>
            <a:pPr algn="ctr"/>
            <a:r>
              <a:rPr lang="en-US" sz="2000" b="1" dirty="0">
                <a:solidFill>
                  <a:schemeClr val="tx2">
                    <a:lumMod val="20000"/>
                    <a:lumOff val="80000"/>
                  </a:schemeClr>
                </a:solidFill>
                <a:sym typeface="Helios"/>
              </a:rPr>
              <a:t>Attendance Management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12"/>
          <p:cNvSpPr/>
          <p:nvPr/>
        </p:nvSpPr>
        <p:spPr>
          <a:xfrm>
            <a:off x="0" y="0"/>
            <a:ext cx="18287999" cy="10286999"/>
          </a:xfrm>
          <a:custGeom>
            <a:avLst/>
            <a:gdLst/>
            <a:ahLst/>
            <a:cxnLst/>
            <a:rect l="l" t="t" r="r" b="b"/>
            <a:pathLst>
              <a:path w="3059409" h="1718831">
                <a:moveTo>
                  <a:pt x="0" y="0"/>
                </a:moveTo>
                <a:lnTo>
                  <a:pt x="3059408" y="0"/>
                </a:lnTo>
                <a:lnTo>
                  <a:pt x="3059408" y="1718832"/>
                </a:lnTo>
                <a:lnTo>
                  <a:pt x="0" y="1718832"/>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txBody>
          <a:bodyPr/>
          <a:lstStyle/>
          <a:p>
            <a:endParaRPr lang="en-US" dirty="0"/>
          </a:p>
        </p:txBody>
      </p:sp>
      <p:pic>
        <p:nvPicPr>
          <p:cNvPr id="4" name="Picture 3" descr="6190637f-d32e-4f6f-a291-4400b9b950b5.png"/>
          <p:cNvPicPr>
            <a:picLocks noChangeAspect="1"/>
          </p:cNvPicPr>
          <p:nvPr/>
        </p:nvPicPr>
        <p:blipFill>
          <a:blip r:embed="rId4" cstate="print"/>
          <a:stretch>
            <a:fillRect/>
          </a:stretch>
        </p:blipFill>
        <p:spPr>
          <a:xfrm>
            <a:off x="1" y="-1"/>
            <a:ext cx="18288000" cy="10287001"/>
          </a:xfrm>
          <a:prstGeom prst="rect">
            <a:avLst/>
          </a:prstGeom>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4"/>
          <a:ext cx="18288000" cy="10324063"/>
        </p:xfrm>
        <a:graphic>
          <a:graphicData uri="http://schemas.openxmlformats.org/drawingml/2006/table">
            <a:tbl>
              <a:tblPr firstRow="1" bandRow="1">
                <a:tableStyleId>{5C22544A-7EE6-4342-B048-85BDC9FD1C3A}</a:tableStyleId>
              </a:tblPr>
              <a:tblGrid>
                <a:gridCol w="13167360">
                  <a:extLst>
                    <a:ext uri="{9D8B030D-6E8A-4147-A177-3AD203B41FA5}">
                      <a16:colId xmlns:a16="http://schemas.microsoft.com/office/drawing/2014/main" xmlns="" val="20000"/>
                    </a:ext>
                  </a:extLst>
                </a:gridCol>
                <a:gridCol w="5120640">
                  <a:extLst>
                    <a:ext uri="{9D8B030D-6E8A-4147-A177-3AD203B41FA5}">
                      <a16:colId xmlns:a16="http://schemas.microsoft.com/office/drawing/2014/main" xmlns="" val="20001"/>
                    </a:ext>
                  </a:extLst>
                </a:gridCol>
              </a:tblGrid>
              <a:tr h="1517423">
                <a:tc>
                  <a:txBody>
                    <a:bodyPr/>
                    <a:lstStyle/>
                    <a:p>
                      <a:pPr algn="ctr">
                        <a:lnSpc>
                          <a:spcPct val="150000"/>
                        </a:lnSpc>
                      </a:pPr>
                      <a:r>
                        <a:rPr lang="ar-EG" sz="4000" dirty="0"/>
                        <a:t>عن البرنامج</a:t>
                      </a:r>
                      <a:endParaRPr lang="en-US" sz="4000" dirty="0"/>
                    </a:p>
                  </a:txBody>
                  <a:tcPr/>
                </a:tc>
                <a:tc>
                  <a:txBody>
                    <a:bodyPr/>
                    <a:lstStyle/>
                    <a:p>
                      <a:pPr algn="ctr">
                        <a:lnSpc>
                          <a:spcPct val="150000"/>
                        </a:lnSpc>
                      </a:pPr>
                      <a:r>
                        <a:rPr lang="ar-EG" sz="4000" dirty="0"/>
                        <a:t>اسم البرنامج</a:t>
                      </a:r>
                      <a:endParaRPr lang="en-US" sz="4000" dirty="0"/>
                    </a:p>
                  </a:txBody>
                  <a:tcPr/>
                </a:tc>
                <a:extLst>
                  <a:ext uri="{0D108BD9-81ED-4DB2-BD59-A6C34878D82A}">
                    <a16:rowId xmlns:a16="http://schemas.microsoft.com/office/drawing/2014/main" xmlns="" val="10000"/>
                  </a:ext>
                </a:extLst>
              </a:tr>
              <a:tr h="1517423">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ar-EG" sz="2400" b="1" kern="1200" dirty="0" smtClean="0">
                          <a:solidFill>
                            <a:schemeClr val="accent1">
                              <a:lumMod val="50000"/>
                            </a:schemeClr>
                          </a:solidFill>
                          <a:latin typeface="+mn-lt"/>
                          <a:ea typeface="Arial Bold"/>
                          <a:cs typeface="Arial Bold"/>
                          <a:sym typeface="Arial Bold"/>
                        </a:rPr>
                        <a:t>هو برنامج خاص بشكاوي العملاء من حيث تلوث المياه أو انقطاع المياه أو صرف صحي , استلام أو شكوى فاتورة , الشكوى من خلال الخط الساخن وتسجيلها على البرنامج</a:t>
                      </a:r>
                      <a:endParaRPr lang="en-US" sz="2400" b="1" kern="1200" dirty="0">
                        <a:solidFill>
                          <a:schemeClr val="accent1">
                            <a:lumMod val="50000"/>
                          </a:schemeClr>
                        </a:solidFill>
                        <a:latin typeface="+mn-lt"/>
                        <a:ea typeface="Arial Bold"/>
                        <a:cs typeface="Arial Bold"/>
                        <a:sym typeface="Helios"/>
                      </a:endParaRP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600" b="1" dirty="0">
                          <a:solidFill>
                            <a:schemeClr val="accent1">
                              <a:lumMod val="50000"/>
                            </a:schemeClr>
                          </a:solidFill>
                          <a:ea typeface="Arial Bold"/>
                          <a:cs typeface="Arial Bold"/>
                          <a:sym typeface="Arial Bold"/>
                        </a:rPr>
                        <a:t>CMS with HCSS</a:t>
                      </a:r>
                      <a:endParaRPr lang="en-US" sz="3600" b="1" dirty="0">
                        <a:solidFill>
                          <a:schemeClr val="accent1">
                            <a:lumMod val="50000"/>
                          </a:schemeClr>
                        </a:solidFill>
                        <a:ea typeface="Arial Bold"/>
                        <a:cs typeface="Arial Bold"/>
                        <a:sym typeface="Arial Bold"/>
                      </a:endParaRPr>
                    </a:p>
                    <a:p>
                      <a:endParaRPr lang="en-US" dirty="0"/>
                    </a:p>
                  </a:txBody>
                  <a:tcPr/>
                </a:tc>
                <a:extLst>
                  <a:ext uri="{0D108BD9-81ED-4DB2-BD59-A6C34878D82A}">
                    <a16:rowId xmlns:a16="http://schemas.microsoft.com/office/drawing/2014/main" xmlns="" val="10001"/>
                  </a:ext>
                </a:extLst>
              </a:tr>
              <a:tr h="1182468">
                <a:tc>
                  <a:txBody>
                    <a:bodyPr/>
                    <a:lstStyle/>
                    <a:p>
                      <a:pPr algn="r"/>
                      <a:r>
                        <a:rPr lang="ar-EG" sz="2400" b="1" kern="1200" dirty="0" smtClean="0">
                          <a:solidFill>
                            <a:schemeClr val="accent1">
                              <a:lumMod val="50000"/>
                            </a:schemeClr>
                          </a:solidFill>
                          <a:latin typeface="+mn-lt"/>
                          <a:ea typeface="Arial Bold"/>
                          <a:cs typeface="Arial Bold"/>
                          <a:sym typeface="Arial Bold"/>
                        </a:rPr>
                        <a:t>هو نظام متخصص في إصدار وإدارة الفواتير، حيث يتيح</a:t>
                      </a:r>
                      <a:r>
                        <a:rPr lang="ar-EG" sz="2400" b="1" kern="1200" baseline="0" dirty="0" smtClean="0">
                          <a:solidFill>
                            <a:schemeClr val="accent1">
                              <a:lumMod val="50000"/>
                            </a:schemeClr>
                          </a:solidFill>
                          <a:latin typeface="+mn-lt"/>
                          <a:ea typeface="Arial Bold"/>
                          <a:cs typeface="Arial Bold"/>
                          <a:sym typeface="Arial Bold"/>
                        </a:rPr>
                        <a:t> </a:t>
                      </a:r>
                      <a:r>
                        <a:rPr lang="ar-EG" sz="2400" b="1" kern="1200" dirty="0" smtClean="0">
                          <a:solidFill>
                            <a:schemeClr val="accent1">
                              <a:lumMod val="50000"/>
                            </a:schemeClr>
                          </a:solidFill>
                          <a:latin typeface="+mn-lt"/>
                          <a:ea typeface="Arial Bold"/>
                          <a:cs typeface="Arial Bold"/>
                          <a:sym typeface="Arial Bold"/>
                        </a:rPr>
                        <a:t>إنشاء فواتير دقيقة وسريعة للعملاء,</a:t>
                      </a:r>
                      <a:r>
                        <a:rPr lang="ar-EG" sz="2400" b="1" kern="1200" baseline="0" dirty="0" smtClean="0">
                          <a:solidFill>
                            <a:schemeClr val="accent1">
                              <a:lumMod val="50000"/>
                            </a:schemeClr>
                          </a:solidFill>
                          <a:latin typeface="+mn-lt"/>
                          <a:ea typeface="Arial Bold"/>
                          <a:cs typeface="Arial Bold"/>
                          <a:sym typeface="Arial Bold"/>
                        </a:rPr>
                        <a:t> </a:t>
                      </a:r>
                      <a:r>
                        <a:rPr lang="ar-EG" sz="2400" b="1" kern="1200" dirty="0" smtClean="0">
                          <a:solidFill>
                            <a:schemeClr val="accent1">
                              <a:lumMod val="50000"/>
                            </a:schemeClr>
                          </a:solidFill>
                          <a:latin typeface="+mn-lt"/>
                          <a:ea typeface="Arial Bold"/>
                          <a:cs typeface="Arial Bold"/>
                          <a:sym typeface="Arial Bold"/>
                        </a:rPr>
                        <a:t>متابعة المدفوعات والمستحقات المالية,</a:t>
                      </a:r>
                      <a:r>
                        <a:rPr lang="ar-EG" sz="2400" b="1" kern="1200" baseline="0" dirty="0" smtClean="0">
                          <a:solidFill>
                            <a:schemeClr val="accent1">
                              <a:lumMod val="50000"/>
                            </a:schemeClr>
                          </a:solidFill>
                          <a:latin typeface="+mn-lt"/>
                          <a:ea typeface="Arial Bold"/>
                          <a:cs typeface="Arial Bold"/>
                          <a:sym typeface="Arial Bold"/>
                        </a:rPr>
                        <a:t> ت</a:t>
                      </a:r>
                      <a:r>
                        <a:rPr lang="ar-EG" sz="2400" b="1" kern="1200" dirty="0" smtClean="0">
                          <a:solidFill>
                            <a:schemeClr val="accent1">
                              <a:lumMod val="50000"/>
                            </a:schemeClr>
                          </a:solidFill>
                          <a:latin typeface="+mn-lt"/>
                          <a:ea typeface="Arial Bold"/>
                          <a:cs typeface="Arial Bold"/>
                          <a:sym typeface="Arial Bold"/>
                        </a:rPr>
                        <a:t>قليل الأخطاء اليدوية وتحسين كفاءة التحصيل,</a:t>
                      </a:r>
                      <a:r>
                        <a:rPr lang="ar-EG" sz="2400" b="1" kern="1200" baseline="0" dirty="0" smtClean="0">
                          <a:solidFill>
                            <a:schemeClr val="accent1">
                              <a:lumMod val="50000"/>
                            </a:schemeClr>
                          </a:solidFill>
                          <a:latin typeface="+mn-lt"/>
                          <a:ea typeface="Arial Bold"/>
                          <a:cs typeface="Arial Bold"/>
                          <a:sym typeface="Arial Bold"/>
                        </a:rPr>
                        <a:t> ا</a:t>
                      </a:r>
                      <a:r>
                        <a:rPr lang="ar-EG" sz="2400" b="1" kern="1200" dirty="0" smtClean="0">
                          <a:solidFill>
                            <a:schemeClr val="accent1">
                              <a:lumMod val="50000"/>
                            </a:schemeClr>
                          </a:solidFill>
                          <a:latin typeface="+mn-lt"/>
                          <a:ea typeface="Arial Bold"/>
                          <a:cs typeface="Arial Bold"/>
                          <a:sym typeface="Arial Bold"/>
                        </a:rPr>
                        <a:t>ستخراج تقارير مالية وإحصائية لدعم اتخاذ القرار.</a:t>
                      </a:r>
                    </a:p>
                    <a:p>
                      <a:pPr algn="r"/>
                      <a:endParaRPr lang="en-US" dirty="0"/>
                    </a:p>
                  </a:txBody>
                  <a:tcPr/>
                </a:tc>
                <a:tc>
                  <a:txBody>
                    <a:bodyPr/>
                    <a:lstStyle/>
                    <a:p>
                      <a:pPr algn="ctr"/>
                      <a:r>
                        <a:rPr lang="en-US" sz="3600" b="1" kern="1200" dirty="0">
                          <a:solidFill>
                            <a:schemeClr val="accent1">
                              <a:lumMod val="50000"/>
                            </a:schemeClr>
                          </a:solidFill>
                          <a:latin typeface="+mn-lt"/>
                          <a:ea typeface="Arial Bold"/>
                          <a:cs typeface="Arial Bold"/>
                          <a:sym typeface="Arial Bold"/>
                        </a:rPr>
                        <a:t>EDAMS</a:t>
                      </a:r>
                    </a:p>
                  </a:txBody>
                  <a:tcPr/>
                </a:tc>
                <a:extLst>
                  <a:ext uri="{0D108BD9-81ED-4DB2-BD59-A6C34878D82A}">
                    <a16:rowId xmlns:a16="http://schemas.microsoft.com/office/drawing/2014/main" xmlns="" val="10002"/>
                  </a:ext>
                </a:extLst>
              </a:tr>
              <a:tr h="1517423">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EG" sz="2400" b="1" kern="1200" dirty="0">
                          <a:solidFill>
                            <a:schemeClr val="accent1">
                              <a:lumMod val="50000"/>
                            </a:schemeClr>
                          </a:solidFill>
                          <a:latin typeface="+mn-lt"/>
                          <a:ea typeface="Arial Bold"/>
                          <a:cs typeface="Arial Bold"/>
                          <a:sym typeface="Arial Bold"/>
                        </a:rPr>
                        <a:t>يستخدم فى عملية تسجيل عميل جديد فى منظومة العدادات ذات الدفع المسبق و كذلك يقوم بعملية شحن كروت المياه للعملاء و يصدر التقارير الشهرية و هناك ربط بين النظام و بين شركة فورى لمعرفة العملاء الذين قاموا بعملية شحن للكارت عن طريق فورى</a:t>
                      </a:r>
                      <a:endParaRPr lang="en-US" sz="2400" b="1" kern="1200" dirty="0">
                        <a:solidFill>
                          <a:schemeClr val="accent1">
                            <a:lumMod val="50000"/>
                          </a:schemeClr>
                        </a:solidFill>
                        <a:latin typeface="+mn-lt"/>
                        <a:ea typeface="Arial Bold"/>
                        <a:cs typeface="Arial Bold"/>
                        <a:sym typeface="Helios"/>
                      </a:endParaRPr>
                    </a:p>
                    <a:p>
                      <a:endParaRPr lang="en-US" dirty="0"/>
                    </a:p>
                  </a:txBody>
                  <a:tcPr/>
                </a:tc>
                <a:tc>
                  <a:txBody>
                    <a:bodyPr/>
                    <a:lstStyle/>
                    <a:p>
                      <a:pPr algn="ctr"/>
                      <a:r>
                        <a:rPr lang="en-US" sz="3600" b="1" kern="1200" dirty="0">
                          <a:solidFill>
                            <a:schemeClr val="accent1">
                              <a:lumMod val="50000"/>
                            </a:schemeClr>
                          </a:solidFill>
                          <a:latin typeface="+mn-lt"/>
                          <a:ea typeface="Arial Bold"/>
                          <a:cs typeface="Arial Bold"/>
                          <a:sym typeface="Arial Bold"/>
                        </a:rPr>
                        <a:t>ELSWEDY</a:t>
                      </a:r>
                    </a:p>
                  </a:txBody>
                  <a:tcPr/>
                </a:tc>
                <a:extLst>
                  <a:ext uri="{0D108BD9-81ED-4DB2-BD59-A6C34878D82A}">
                    <a16:rowId xmlns:a16="http://schemas.microsoft.com/office/drawing/2014/main" xmlns="" val="10003"/>
                  </a:ext>
                </a:extLst>
              </a:tr>
              <a:tr h="1517423">
                <a:tc>
                  <a:txBody>
                    <a:bodyPr/>
                    <a:lstStyle/>
                    <a:p>
                      <a:pPr algn="r" rtl="1"/>
                      <a:r>
                        <a:rPr lang="ar-EG" sz="2400" b="1" kern="1200" dirty="0" smtClean="0">
                          <a:solidFill>
                            <a:schemeClr val="accent1">
                              <a:lumMod val="50000"/>
                            </a:schemeClr>
                          </a:solidFill>
                          <a:latin typeface="+mn-lt"/>
                          <a:ea typeface="Arial Bold"/>
                          <a:cs typeface="Arial Bold"/>
                          <a:sym typeface="Arial Bold"/>
                        </a:rPr>
                        <a:t>نظام متكامل يعتمد على</a:t>
                      </a:r>
                      <a:r>
                        <a:rPr lang="en-US" sz="2400" b="1" kern="1200" dirty="0" smtClean="0">
                          <a:solidFill>
                            <a:schemeClr val="accent1">
                              <a:lumMod val="50000"/>
                            </a:schemeClr>
                          </a:solidFill>
                          <a:latin typeface="+mn-lt"/>
                          <a:ea typeface="Arial Bold"/>
                          <a:cs typeface="Arial Bold"/>
                          <a:sym typeface="Arial Bold"/>
                        </a:rPr>
                        <a:t>SQL Server </a:t>
                      </a:r>
                      <a:r>
                        <a:rPr lang="ar-EG" sz="2400" b="1" kern="1200" baseline="0" dirty="0" smtClean="0">
                          <a:solidFill>
                            <a:schemeClr val="accent1">
                              <a:lumMod val="50000"/>
                            </a:schemeClr>
                          </a:solidFill>
                          <a:latin typeface="+mn-lt"/>
                          <a:ea typeface="Arial Bold"/>
                          <a:cs typeface="Arial Bold"/>
                          <a:sym typeface="Arial Bold"/>
                        </a:rPr>
                        <a:t> و</a:t>
                      </a:r>
                      <a:r>
                        <a:rPr lang="ar-EG" sz="2400" b="1" kern="1200" dirty="0" smtClean="0">
                          <a:solidFill>
                            <a:schemeClr val="accent1">
                              <a:lumMod val="50000"/>
                            </a:schemeClr>
                          </a:solidFill>
                          <a:latin typeface="+mn-lt"/>
                          <a:ea typeface="Arial Bold"/>
                          <a:cs typeface="Arial Bold"/>
                          <a:sym typeface="Arial Bold"/>
                        </a:rPr>
                        <a:t>مقسم إلى ثلاثة أقسام رئيسية </a:t>
                      </a:r>
                      <a:r>
                        <a:rPr lang="en-US" sz="2400" b="1" kern="1200" dirty="0" smtClean="0">
                          <a:solidFill>
                            <a:schemeClr val="accent1">
                              <a:lumMod val="50000"/>
                            </a:schemeClr>
                          </a:solidFill>
                          <a:latin typeface="+mn-lt"/>
                          <a:ea typeface="Arial Bold"/>
                          <a:cs typeface="Arial Bold"/>
                          <a:sym typeface="Arial Bold"/>
                        </a:rPr>
                        <a:t>PY – AZ – GL)</a:t>
                      </a:r>
                      <a:r>
                        <a:rPr lang="ar-EG" sz="2400" b="1" kern="1200" dirty="0" smtClean="0">
                          <a:solidFill>
                            <a:schemeClr val="accent1">
                              <a:lumMod val="50000"/>
                            </a:schemeClr>
                          </a:solidFill>
                          <a:latin typeface="+mn-lt"/>
                          <a:ea typeface="Arial Bold"/>
                          <a:cs typeface="Arial Bold"/>
                          <a:sym typeface="Arial Bold"/>
                        </a:rPr>
                        <a:t>)</a:t>
                      </a:r>
                      <a:r>
                        <a:rPr lang="en-US" sz="2400" b="1" kern="1200" dirty="0" smtClean="0">
                          <a:solidFill>
                            <a:schemeClr val="accent1">
                              <a:lumMod val="50000"/>
                            </a:schemeClr>
                          </a:solidFill>
                          <a:latin typeface="+mn-lt"/>
                          <a:ea typeface="Arial Bold"/>
                          <a:cs typeface="Arial Bold"/>
                          <a:sym typeface="Arial Bold"/>
                        </a:rPr>
                        <a:t>، </a:t>
                      </a:r>
                      <a:r>
                        <a:rPr lang="ar-EG" sz="2400" b="1" kern="1200" dirty="0" smtClean="0">
                          <a:solidFill>
                            <a:schemeClr val="accent1">
                              <a:lumMod val="50000"/>
                            </a:schemeClr>
                          </a:solidFill>
                          <a:latin typeface="+mn-lt"/>
                          <a:ea typeface="Arial Bold"/>
                          <a:cs typeface="Arial Bold"/>
                          <a:sym typeface="Arial Bold"/>
                        </a:rPr>
                        <a:t>ويُستخدم في:</a:t>
                      </a:r>
                      <a:r>
                        <a:rPr lang="ar-EG" sz="2400" b="1" kern="1200" baseline="0" dirty="0" smtClean="0">
                          <a:solidFill>
                            <a:schemeClr val="accent1">
                              <a:lumMod val="50000"/>
                            </a:schemeClr>
                          </a:solidFill>
                          <a:latin typeface="+mn-lt"/>
                          <a:ea typeface="Arial Bold"/>
                          <a:cs typeface="Arial Bold"/>
                          <a:sym typeface="Arial Bold"/>
                        </a:rPr>
                        <a:t> </a:t>
                      </a:r>
                      <a:r>
                        <a:rPr lang="ar-EG" sz="2400" b="1" kern="1200" dirty="0" smtClean="0">
                          <a:solidFill>
                            <a:schemeClr val="accent1">
                              <a:lumMod val="50000"/>
                            </a:schemeClr>
                          </a:solidFill>
                          <a:latin typeface="+mn-lt"/>
                          <a:ea typeface="Arial Bold"/>
                          <a:cs typeface="Arial Bold"/>
                          <a:sym typeface="Arial Bold"/>
                        </a:rPr>
                        <a:t>إدارة شؤون العاملين,</a:t>
                      </a:r>
                      <a:r>
                        <a:rPr lang="ar-EG" sz="2400" b="1" kern="1200" baseline="0" dirty="0" smtClean="0">
                          <a:solidFill>
                            <a:schemeClr val="accent1">
                              <a:lumMod val="50000"/>
                            </a:schemeClr>
                          </a:solidFill>
                          <a:latin typeface="+mn-lt"/>
                          <a:ea typeface="Arial Bold"/>
                          <a:cs typeface="Arial Bold"/>
                          <a:sym typeface="Arial Bold"/>
                        </a:rPr>
                        <a:t> </a:t>
                      </a:r>
                      <a:r>
                        <a:rPr lang="ar-EG" sz="2400" b="1" kern="1200" dirty="0" smtClean="0">
                          <a:solidFill>
                            <a:schemeClr val="accent1">
                              <a:lumMod val="50000"/>
                            </a:schemeClr>
                          </a:solidFill>
                          <a:latin typeface="+mn-lt"/>
                          <a:ea typeface="Arial Bold"/>
                          <a:cs typeface="Arial Bold"/>
                          <a:sym typeface="Arial Bold"/>
                        </a:rPr>
                        <a:t>إدارة المخازن,</a:t>
                      </a:r>
                      <a:r>
                        <a:rPr lang="ar-EG" sz="2400" b="1" kern="1200" baseline="0" dirty="0" smtClean="0">
                          <a:solidFill>
                            <a:schemeClr val="accent1">
                              <a:lumMod val="50000"/>
                            </a:schemeClr>
                          </a:solidFill>
                          <a:latin typeface="+mn-lt"/>
                          <a:ea typeface="Arial Bold"/>
                          <a:cs typeface="Arial Bold"/>
                          <a:sym typeface="Arial Bold"/>
                        </a:rPr>
                        <a:t> </a:t>
                      </a:r>
                      <a:r>
                        <a:rPr lang="ar-EG" sz="2400" b="1" kern="1200" dirty="0" smtClean="0">
                          <a:solidFill>
                            <a:schemeClr val="accent1">
                              <a:lumMod val="50000"/>
                            </a:schemeClr>
                          </a:solidFill>
                          <a:latin typeface="+mn-lt"/>
                          <a:ea typeface="Arial Bold"/>
                          <a:cs typeface="Arial Bold"/>
                          <a:sym typeface="Arial Bold"/>
                        </a:rPr>
                        <a:t>الحسابات العامة,</a:t>
                      </a:r>
                      <a:r>
                        <a:rPr lang="ar-EG" sz="2400" b="1" kern="1200" baseline="0" dirty="0" smtClean="0">
                          <a:solidFill>
                            <a:schemeClr val="accent1">
                              <a:lumMod val="50000"/>
                            </a:schemeClr>
                          </a:solidFill>
                          <a:latin typeface="+mn-lt"/>
                          <a:ea typeface="Arial Bold"/>
                          <a:cs typeface="Arial Bold"/>
                          <a:sym typeface="Arial Bold"/>
                        </a:rPr>
                        <a:t> </a:t>
                      </a:r>
                      <a:r>
                        <a:rPr lang="ar-EG" sz="2400" b="1" kern="1200" dirty="0" smtClean="0">
                          <a:solidFill>
                            <a:schemeClr val="accent1">
                              <a:lumMod val="50000"/>
                            </a:schemeClr>
                          </a:solidFill>
                          <a:latin typeface="+mn-lt"/>
                          <a:ea typeface="Arial Bold"/>
                          <a:cs typeface="Arial Bold"/>
                          <a:sym typeface="Arial Bold"/>
                        </a:rPr>
                        <a:t>إدارة الأصول</a:t>
                      </a:r>
                      <a:r>
                        <a:rPr lang="ar-EG" sz="2400" b="1" kern="1200" baseline="0" dirty="0" smtClean="0">
                          <a:solidFill>
                            <a:schemeClr val="accent1">
                              <a:lumMod val="50000"/>
                            </a:schemeClr>
                          </a:solidFill>
                          <a:latin typeface="+mn-lt"/>
                          <a:ea typeface="Arial Bold"/>
                          <a:cs typeface="Arial Bold"/>
                          <a:sym typeface="Arial Bold"/>
                        </a:rPr>
                        <a:t> و</a:t>
                      </a:r>
                      <a:r>
                        <a:rPr lang="ar-EG" sz="2400" b="1" kern="1200" dirty="0" smtClean="0">
                          <a:solidFill>
                            <a:schemeClr val="accent1">
                              <a:lumMod val="50000"/>
                            </a:schemeClr>
                          </a:solidFill>
                          <a:latin typeface="+mn-lt"/>
                          <a:ea typeface="Arial Bold"/>
                          <a:cs typeface="Arial Bold"/>
                          <a:sym typeface="Arial Bold"/>
                        </a:rPr>
                        <a:t>متابعة التكاليف.</a:t>
                      </a:r>
                    </a:p>
                    <a:p>
                      <a:pPr algn="r" rtl="1"/>
                      <a:r>
                        <a:rPr lang="ar-EG" sz="2400" b="1" kern="1200" dirty="0" smtClean="0">
                          <a:solidFill>
                            <a:schemeClr val="accent1">
                              <a:lumMod val="50000"/>
                            </a:schemeClr>
                          </a:solidFill>
                          <a:latin typeface="+mn-lt"/>
                          <a:ea typeface="Arial Bold"/>
                          <a:cs typeface="Arial Bold"/>
                          <a:sym typeface="Arial Bold"/>
                        </a:rPr>
                        <a:t>يساهم البرنامج في توحيد البيانات بين الإدارات المختلفة وتحسين كفاءة العمليات الإدارية والمالية.</a:t>
                      </a:r>
                    </a:p>
                    <a:p>
                      <a:pPr algn="r" rtl="1"/>
                      <a:endParaRPr lang="en-US" sz="2400" b="1" kern="1200" dirty="0">
                        <a:solidFill>
                          <a:schemeClr val="accent1">
                            <a:lumMod val="50000"/>
                          </a:schemeClr>
                        </a:solidFill>
                        <a:latin typeface="+mn-lt"/>
                        <a:ea typeface="Arial Bold"/>
                        <a:cs typeface="Arial Bold"/>
                        <a:sym typeface="Arial Bold"/>
                      </a:endParaRPr>
                    </a:p>
                  </a:txBody>
                  <a:tcPr/>
                </a:tc>
                <a:tc>
                  <a:txBody>
                    <a:bodyPr/>
                    <a:lstStyle/>
                    <a:p>
                      <a:pPr algn="ctr"/>
                      <a:r>
                        <a:rPr lang="en-US" sz="3600" b="1" kern="1200" dirty="0">
                          <a:solidFill>
                            <a:schemeClr val="accent1">
                              <a:lumMod val="50000"/>
                            </a:schemeClr>
                          </a:solidFill>
                          <a:latin typeface="+mn-lt"/>
                          <a:ea typeface="Arial Bold"/>
                          <a:cs typeface="Arial Bold"/>
                          <a:sym typeface="Arial Bold"/>
                        </a:rPr>
                        <a:t>ADVAC</a:t>
                      </a:r>
                    </a:p>
                  </a:txBody>
                  <a:tcPr/>
                </a:tc>
                <a:extLst>
                  <a:ext uri="{0D108BD9-81ED-4DB2-BD59-A6C34878D82A}">
                    <a16:rowId xmlns:a16="http://schemas.microsoft.com/office/drawing/2014/main" xmlns="" val="10004"/>
                  </a:ext>
                </a:extLst>
              </a:tr>
              <a:tr h="1517423">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EG" sz="2400" b="1" kern="1200" dirty="0">
                          <a:solidFill>
                            <a:schemeClr val="accent1">
                              <a:lumMod val="50000"/>
                            </a:schemeClr>
                          </a:solidFill>
                          <a:latin typeface="+mn-lt"/>
                          <a:ea typeface="Arial Bold"/>
                          <a:cs typeface="Arial Bold"/>
                          <a:sym typeface="Arial Bold"/>
                        </a:rPr>
                        <a:t>هو برنامج مسؤل عن تسجيل الدورة المستندية للمكاتبات الداخلية و الخارجية  في الشركة و الاحتفاظ بالتأشيرات و عمل أرشيف لها و تسجيلها عن طريق عمل كود فريد لكل مستند و ذلك لتسهيل عملية البحث عن اى مواضيع او الاستعلام عن اى مكاتبة</a:t>
                      </a:r>
                      <a:endParaRPr lang="en-US" sz="2400" b="1" kern="1200" dirty="0">
                        <a:solidFill>
                          <a:schemeClr val="accent1">
                            <a:lumMod val="50000"/>
                          </a:schemeClr>
                        </a:solidFill>
                        <a:latin typeface="+mn-lt"/>
                        <a:ea typeface="Arial Bold"/>
                        <a:cs typeface="Arial Bold"/>
                        <a:sym typeface="Helios"/>
                      </a:endParaRPr>
                    </a:p>
                    <a:p>
                      <a:endParaRPr lang="en-US" dirty="0"/>
                    </a:p>
                  </a:txBody>
                  <a:tcPr/>
                </a:tc>
                <a:tc>
                  <a:txBody>
                    <a:bodyPr/>
                    <a:lstStyle/>
                    <a:p>
                      <a:pPr algn="ctr"/>
                      <a:r>
                        <a:rPr lang="en-GB" sz="3600" b="1" kern="1200" dirty="0">
                          <a:solidFill>
                            <a:schemeClr val="accent1">
                              <a:lumMod val="50000"/>
                            </a:schemeClr>
                          </a:solidFill>
                          <a:latin typeface="+mn-lt"/>
                          <a:ea typeface="Arial Bold"/>
                          <a:cs typeface="Arial Bold"/>
                          <a:sym typeface="Arial Bold"/>
                        </a:rPr>
                        <a:t>DMS</a:t>
                      </a:r>
                      <a:endParaRPr lang="en-US" sz="3600" b="1" kern="1200" dirty="0">
                        <a:solidFill>
                          <a:schemeClr val="accent1">
                            <a:lumMod val="50000"/>
                          </a:schemeClr>
                        </a:solidFill>
                        <a:latin typeface="+mn-lt"/>
                        <a:ea typeface="Arial Bold"/>
                        <a:cs typeface="Arial Bold"/>
                        <a:sym typeface="Arial Bold"/>
                      </a:endParaRPr>
                    </a:p>
                  </a:txBody>
                  <a:tcPr/>
                </a:tc>
                <a:extLst>
                  <a:ext uri="{0D108BD9-81ED-4DB2-BD59-A6C34878D82A}">
                    <a16:rowId xmlns:a16="http://schemas.microsoft.com/office/drawing/2014/main" xmlns="" val="10005"/>
                  </a:ext>
                </a:extLst>
              </a:tr>
              <a:tr h="1517423">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ar-EG" sz="2400" b="1" kern="1200" dirty="0">
                          <a:solidFill>
                            <a:schemeClr val="accent1">
                              <a:lumMod val="50000"/>
                            </a:schemeClr>
                          </a:solidFill>
                          <a:latin typeface="+mn-lt"/>
                          <a:ea typeface="Arial Bold"/>
                          <a:cs typeface="Arial Bold"/>
                          <a:sym typeface="Arial Bold"/>
                        </a:rPr>
                        <a:t>هو برنامج خاص بكل محاضر الغسيل بكل منطقه و نسبه الكلور و تعقيم البئر تحت  اشراف كميائي الشركه و كميائي الصحه ان وجد و طباعه التقارير و يتم تسجيل كل منطقه من احتياج و تسجيل الرد</a:t>
                      </a:r>
                      <a:endParaRPr lang="en-US" sz="2400" b="1" kern="1200" dirty="0">
                        <a:solidFill>
                          <a:schemeClr val="accent1">
                            <a:lumMod val="50000"/>
                          </a:schemeClr>
                        </a:solidFill>
                        <a:latin typeface="+mn-lt"/>
                        <a:ea typeface="Arial Bold"/>
                        <a:cs typeface="Arial Bold"/>
                        <a:sym typeface="Helios"/>
                      </a:endParaRP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ar-EG" sz="3600" b="1" kern="1200" dirty="0">
                          <a:solidFill>
                            <a:schemeClr val="accent1">
                              <a:lumMod val="50000"/>
                            </a:schemeClr>
                          </a:solidFill>
                          <a:latin typeface="+mn-lt"/>
                          <a:ea typeface="Arial Bold"/>
                          <a:cs typeface="Arial Bold"/>
                          <a:sym typeface="Arial Bold"/>
                        </a:rPr>
                        <a:t>برنامج معامل الشركه</a:t>
                      </a:r>
                      <a:endParaRPr lang="en-US" sz="3600" b="1" kern="1200" dirty="0">
                        <a:solidFill>
                          <a:schemeClr val="accent1">
                            <a:lumMod val="50000"/>
                          </a:schemeClr>
                        </a:solidFill>
                        <a:latin typeface="+mn-lt"/>
                        <a:ea typeface="Arial Bold"/>
                        <a:cs typeface="Arial Bold"/>
                        <a:sym typeface="Arial Bold"/>
                      </a:endParaRPr>
                    </a:p>
                    <a:p>
                      <a:endParaRPr lang="en-US" dirty="0"/>
                    </a:p>
                  </a:txBody>
                  <a:tcPr/>
                </a:tc>
                <a:extLst>
                  <a:ext uri="{0D108BD9-81ED-4DB2-BD59-A6C34878D82A}">
                    <a16:rowId xmlns:a16="http://schemas.microsoft.com/office/drawing/2014/main" xmlns="" val="10006"/>
                  </a:ext>
                </a:extLst>
              </a:tr>
            </a:tbl>
          </a:graphicData>
        </a:graphic>
      </p:graphicFrame>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4"/>
          <a:ext cx="18288000" cy="10300339"/>
        </p:xfrm>
        <a:graphic>
          <a:graphicData uri="http://schemas.openxmlformats.org/drawingml/2006/table">
            <a:tbl>
              <a:tblPr firstRow="1" bandRow="1">
                <a:tableStyleId>{5C22544A-7EE6-4342-B048-85BDC9FD1C3A}</a:tableStyleId>
              </a:tblPr>
              <a:tblGrid>
                <a:gridCol w="13167360">
                  <a:extLst>
                    <a:ext uri="{9D8B030D-6E8A-4147-A177-3AD203B41FA5}">
                      <a16:colId xmlns:a16="http://schemas.microsoft.com/office/drawing/2014/main" xmlns="" val="20000"/>
                    </a:ext>
                  </a:extLst>
                </a:gridCol>
                <a:gridCol w="5120640">
                  <a:extLst>
                    <a:ext uri="{9D8B030D-6E8A-4147-A177-3AD203B41FA5}">
                      <a16:colId xmlns:a16="http://schemas.microsoft.com/office/drawing/2014/main" xmlns="" val="20001"/>
                    </a:ext>
                  </a:extLst>
                </a:gridCol>
              </a:tblGrid>
              <a:tr h="1348019">
                <a:tc>
                  <a:txBody>
                    <a:bodyPr/>
                    <a:lstStyle/>
                    <a:p>
                      <a:pPr algn="ctr">
                        <a:lnSpc>
                          <a:spcPct val="150000"/>
                        </a:lnSpc>
                      </a:pPr>
                      <a:r>
                        <a:rPr lang="ar-EG" sz="4000" dirty="0"/>
                        <a:t>عن البرنامج</a:t>
                      </a:r>
                      <a:endParaRPr lang="en-US" sz="4000" dirty="0"/>
                    </a:p>
                  </a:txBody>
                  <a:tcPr/>
                </a:tc>
                <a:tc>
                  <a:txBody>
                    <a:bodyPr/>
                    <a:lstStyle/>
                    <a:p>
                      <a:pPr algn="ctr">
                        <a:lnSpc>
                          <a:spcPct val="150000"/>
                        </a:lnSpc>
                      </a:pPr>
                      <a:r>
                        <a:rPr lang="ar-EG" sz="4000" dirty="0"/>
                        <a:t>اسم البرنامج</a:t>
                      </a:r>
                      <a:endParaRPr lang="en-US" sz="4000" dirty="0"/>
                    </a:p>
                  </a:txBody>
                  <a:tcPr/>
                </a:tc>
                <a:extLst>
                  <a:ext uri="{0D108BD9-81ED-4DB2-BD59-A6C34878D82A}">
                    <a16:rowId xmlns:a16="http://schemas.microsoft.com/office/drawing/2014/main" xmlns="" val="10000"/>
                  </a:ext>
                </a:extLst>
              </a:tr>
              <a:tr h="109038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EG" sz="2400" b="1" kern="1200" dirty="0">
                          <a:solidFill>
                            <a:schemeClr val="accent1">
                              <a:lumMod val="50000"/>
                            </a:schemeClr>
                          </a:solidFill>
                          <a:latin typeface="+mn-lt"/>
                          <a:ea typeface="Arial Bold"/>
                          <a:cs typeface="Arial Bold"/>
                          <a:sym typeface="Arial Bold"/>
                        </a:rPr>
                        <a:t>يستخدم ف طباعه تقارير الحضور و الانصراف و التاخيرات و عدد الساعات الاضافيه و خطوط السير و تنظيم العمل بنظام الورديات</a:t>
                      </a:r>
                      <a:endParaRPr lang="en-US" sz="2400" b="1" kern="1200" dirty="0">
                        <a:solidFill>
                          <a:schemeClr val="accent1">
                            <a:lumMod val="50000"/>
                          </a:schemeClr>
                        </a:solidFill>
                        <a:latin typeface="+mn-lt"/>
                        <a:ea typeface="Arial Bold"/>
                        <a:cs typeface="Arial Bold"/>
                        <a:sym typeface="Helios"/>
                      </a:endParaRP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kern="1200" dirty="0">
                          <a:solidFill>
                            <a:schemeClr val="accent1">
                              <a:lumMod val="50000"/>
                            </a:schemeClr>
                          </a:solidFill>
                          <a:latin typeface="+mn-lt"/>
                          <a:ea typeface="Arial Bold"/>
                          <a:cs typeface="Arial Bold"/>
                          <a:sym typeface="Arial Bold"/>
                        </a:rPr>
                        <a:t>Attendance Management</a:t>
                      </a:r>
                    </a:p>
                    <a:p>
                      <a:endParaRPr lang="en-US" dirty="0"/>
                    </a:p>
                  </a:txBody>
                  <a:tcPr/>
                </a:tc>
                <a:extLst>
                  <a:ext uri="{0D108BD9-81ED-4DB2-BD59-A6C34878D82A}">
                    <a16:rowId xmlns:a16="http://schemas.microsoft.com/office/drawing/2014/main" xmlns="" val="10001"/>
                  </a:ext>
                </a:extLst>
              </a:tr>
              <a:tr h="122373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EG" sz="2400" b="1" kern="1200" dirty="0">
                          <a:solidFill>
                            <a:schemeClr val="accent1">
                              <a:lumMod val="50000"/>
                            </a:schemeClr>
                          </a:solidFill>
                          <a:latin typeface="+mn-lt"/>
                          <a:ea typeface="Arial Bold"/>
                          <a:cs typeface="Arial Bold"/>
                          <a:sym typeface="Arial Bold"/>
                        </a:rPr>
                        <a:t>يستخدم فى تنظيم الدورة المستندية الكاملة لإدارة كبار المشتركين و المصالح الحكومية من تسجيل عملاء و حساب المطالبات الخاصة بيهم و طباعتها و عملية التحصيل و طباعة تقارير الإصدار و التحصيل كل شهر</a:t>
                      </a:r>
                      <a:endParaRPr lang="en-US" sz="2400" b="1" kern="1200" dirty="0">
                        <a:solidFill>
                          <a:schemeClr val="accent1">
                            <a:lumMod val="50000"/>
                          </a:schemeClr>
                        </a:solidFill>
                        <a:latin typeface="+mn-lt"/>
                        <a:ea typeface="Arial Bold"/>
                        <a:cs typeface="Arial Bold"/>
                        <a:sym typeface="Helios"/>
                      </a:endParaRP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kern="1200" dirty="0">
                          <a:solidFill>
                            <a:schemeClr val="accent1">
                              <a:lumMod val="50000"/>
                            </a:schemeClr>
                          </a:solidFill>
                          <a:latin typeface="+mn-lt"/>
                          <a:ea typeface="Arial Bold"/>
                          <a:cs typeface="Arial Bold"/>
                          <a:sym typeface="Arial Bold"/>
                        </a:rPr>
                        <a:t>SQUAD SQUARE</a:t>
                      </a:r>
                    </a:p>
                    <a:p>
                      <a:pPr algn="ctr"/>
                      <a:endParaRPr lang="en-US" sz="3600" b="1" kern="1200" dirty="0">
                        <a:solidFill>
                          <a:schemeClr val="accent1">
                            <a:lumMod val="50000"/>
                          </a:schemeClr>
                        </a:solidFill>
                        <a:latin typeface="+mn-lt"/>
                        <a:ea typeface="Arial Bold"/>
                        <a:cs typeface="Arial Bold"/>
                        <a:sym typeface="Arial Bold"/>
                      </a:endParaRPr>
                    </a:p>
                  </a:txBody>
                  <a:tcPr/>
                </a:tc>
                <a:extLst>
                  <a:ext uri="{0D108BD9-81ED-4DB2-BD59-A6C34878D82A}">
                    <a16:rowId xmlns:a16="http://schemas.microsoft.com/office/drawing/2014/main" xmlns="" val="10002"/>
                  </a:ext>
                </a:extLst>
              </a:tr>
              <a:tr h="150613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EG" sz="2400" b="1" kern="1200" dirty="0">
                          <a:solidFill>
                            <a:schemeClr val="accent1">
                              <a:lumMod val="50000"/>
                            </a:schemeClr>
                          </a:solidFill>
                          <a:latin typeface="+mn-lt"/>
                          <a:ea typeface="Arial Bold"/>
                          <a:cs typeface="Arial Bold"/>
                          <a:sym typeface="Arial Bold"/>
                        </a:rPr>
                        <a:t>هو برنامج خاص بتخزين كل ما يخص صيانه المحطه و المباني  من بيارات سحب - مواتير - معدات - توزيع مرشحات - خزانات ارضيه  و يتم حساب اجر كل موظف او عماله سواء عماله داخليه او خارجيه اعتمادا عل عمله ف المحطه وعدد ساعات العمل الخارجيه عن مواقيت عمله الاصليه</a:t>
                      </a:r>
                      <a:endParaRPr lang="en-US" sz="2400" b="1" kern="1200" dirty="0">
                        <a:solidFill>
                          <a:schemeClr val="accent1">
                            <a:lumMod val="50000"/>
                          </a:schemeClr>
                        </a:solidFill>
                        <a:latin typeface="+mn-lt"/>
                        <a:ea typeface="Arial Bold"/>
                        <a:cs typeface="Arial Bold"/>
                        <a:sym typeface="Helios"/>
                      </a:endParaRPr>
                    </a:p>
                    <a:p>
                      <a:endParaRPr lang="en-US" dirty="0"/>
                    </a:p>
                  </a:txBody>
                  <a:tcPr/>
                </a:tc>
                <a:tc>
                  <a:txBody>
                    <a:bodyPr/>
                    <a:lstStyle/>
                    <a:p>
                      <a:pPr algn="ctr"/>
                      <a:r>
                        <a:rPr lang="en-US" sz="3600" b="1" kern="1200" dirty="0">
                          <a:solidFill>
                            <a:schemeClr val="accent1">
                              <a:lumMod val="50000"/>
                            </a:schemeClr>
                          </a:solidFill>
                          <a:latin typeface="+mn-lt"/>
                          <a:ea typeface="Arial Bold"/>
                          <a:cs typeface="Arial Bold"/>
                          <a:sym typeface="Arial Bold"/>
                        </a:rPr>
                        <a:t>MASTER</a:t>
                      </a:r>
                    </a:p>
                  </a:txBody>
                  <a:tcPr/>
                </a:tc>
                <a:extLst>
                  <a:ext uri="{0D108BD9-81ED-4DB2-BD59-A6C34878D82A}">
                    <a16:rowId xmlns:a16="http://schemas.microsoft.com/office/drawing/2014/main" xmlns="" val="10003"/>
                  </a:ext>
                </a:extLst>
              </a:tr>
              <a:tr h="122373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EG" sz="2400" b="1" kern="1200" dirty="0">
                          <a:solidFill>
                            <a:schemeClr val="accent1">
                              <a:lumMod val="50000"/>
                            </a:schemeClr>
                          </a:solidFill>
                          <a:latin typeface="+mn-lt"/>
                          <a:ea typeface="Arial Bold"/>
                          <a:cs typeface="Arial Bold"/>
                          <a:sym typeface="Helios"/>
                        </a:rPr>
                        <a:t>نظام تخطيط موارد المؤسسات</a:t>
                      </a:r>
                      <a:r>
                        <a:rPr lang="en-US" sz="2400" b="1" kern="1200" dirty="0">
                          <a:solidFill>
                            <a:schemeClr val="accent1">
                              <a:lumMod val="50000"/>
                            </a:schemeClr>
                          </a:solidFill>
                          <a:latin typeface="+mn-lt"/>
                          <a:ea typeface="Arial Bold"/>
                          <a:cs typeface="Arial Bold"/>
                          <a:sym typeface="Helios"/>
                        </a:rPr>
                        <a:t> (ERP) </a:t>
                      </a:r>
                      <a:r>
                        <a:rPr lang="ar-EG" sz="2400" b="1" kern="1200" dirty="0">
                          <a:solidFill>
                            <a:schemeClr val="accent1">
                              <a:lumMod val="50000"/>
                            </a:schemeClr>
                          </a:solidFill>
                          <a:latin typeface="+mn-lt"/>
                          <a:ea typeface="Arial Bold"/>
                          <a:cs typeface="Arial Bold"/>
                          <a:sym typeface="Helios"/>
                        </a:rPr>
                        <a:t>بيساعد الشركات على ربط الأقسام المختلفة في منصة واحدة.</a:t>
                      </a:r>
                      <a:r>
                        <a:rPr lang="en-US" sz="2400" b="1" kern="1200" dirty="0">
                          <a:solidFill>
                            <a:schemeClr val="accent1">
                              <a:lumMod val="50000"/>
                            </a:schemeClr>
                          </a:solidFill>
                          <a:latin typeface="+mn-lt"/>
                          <a:ea typeface="Arial Bold"/>
                          <a:cs typeface="Arial Bold"/>
                          <a:sym typeface="Helios"/>
                        </a:rPr>
                        <a:t> </a:t>
                      </a:r>
                      <a:r>
                        <a:rPr lang="ar-EG" sz="2400" b="1" kern="1200" dirty="0">
                          <a:solidFill>
                            <a:schemeClr val="accent1">
                              <a:lumMod val="50000"/>
                            </a:schemeClr>
                          </a:solidFill>
                          <a:latin typeface="+mn-lt"/>
                          <a:ea typeface="Arial Bold"/>
                          <a:cs typeface="Arial Bold"/>
                          <a:sym typeface="Helios"/>
                        </a:rPr>
                        <a:t>بيوفر إدارة متكاملة للعمليات زي المالية، الموارد البشرية، المشتريات وسلاسل التوريد.</a:t>
                      </a:r>
                      <a:endParaRPr lang="en-US" sz="2400" b="1" kern="1200" dirty="0">
                        <a:solidFill>
                          <a:schemeClr val="accent1">
                            <a:lumMod val="50000"/>
                          </a:schemeClr>
                        </a:solidFill>
                        <a:latin typeface="+mn-lt"/>
                        <a:ea typeface="Arial Bold"/>
                        <a:cs typeface="Arial Bold"/>
                        <a:sym typeface="Helios"/>
                      </a:endParaRPr>
                    </a:p>
                    <a:p>
                      <a:endParaRPr lang="en-US" sz="2400" b="1" kern="1200" dirty="0">
                        <a:solidFill>
                          <a:schemeClr val="accent1">
                            <a:lumMod val="50000"/>
                          </a:schemeClr>
                        </a:solidFill>
                        <a:latin typeface="+mn-lt"/>
                        <a:ea typeface="Arial Bold"/>
                        <a:cs typeface="Arial Bold"/>
                        <a:sym typeface="Arial Bold"/>
                      </a:endParaRPr>
                    </a:p>
                  </a:txBody>
                  <a:tcPr/>
                </a:tc>
                <a:tc>
                  <a:txBody>
                    <a:bodyPr/>
                    <a:lstStyle/>
                    <a:p>
                      <a:pPr algn="ctr"/>
                      <a:r>
                        <a:rPr lang="en-US" sz="3600" b="1" kern="1200" dirty="0">
                          <a:solidFill>
                            <a:schemeClr val="accent1">
                              <a:lumMod val="50000"/>
                            </a:schemeClr>
                          </a:solidFill>
                          <a:latin typeface="+mn-lt"/>
                          <a:ea typeface="Arial Bold"/>
                          <a:cs typeface="Arial Bold"/>
                          <a:sym typeface="Arial Bold"/>
                        </a:rPr>
                        <a:t>SAP</a:t>
                      </a:r>
                    </a:p>
                  </a:txBody>
                  <a:tcPr/>
                </a:tc>
                <a:extLst>
                  <a:ext uri="{0D108BD9-81ED-4DB2-BD59-A6C34878D82A}">
                    <a16:rowId xmlns:a16="http://schemas.microsoft.com/office/drawing/2014/main" xmlns="" val="10004"/>
                  </a:ext>
                </a:extLst>
              </a:tr>
              <a:tr h="1348019">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ar-EG" sz="2400" b="1" kern="1200" dirty="0">
                          <a:solidFill>
                            <a:schemeClr val="accent1">
                              <a:lumMod val="50000"/>
                            </a:schemeClr>
                          </a:solidFill>
                          <a:latin typeface="+mn-lt"/>
                          <a:ea typeface="Arial Bold"/>
                          <a:cs typeface="Arial Bold"/>
                          <a:sym typeface="Helios"/>
                        </a:rPr>
                        <a:t>منصة لإدارة الأصول والصيانة بتساعد الشركات تتابع دورة حياة الأصول بالكامل.</a:t>
                      </a:r>
                      <a:r>
                        <a:rPr lang="en-US" sz="2400" b="1" kern="1200" dirty="0">
                          <a:solidFill>
                            <a:schemeClr val="accent1">
                              <a:lumMod val="50000"/>
                            </a:schemeClr>
                          </a:solidFill>
                          <a:latin typeface="+mn-lt"/>
                          <a:ea typeface="Arial Bold"/>
                          <a:cs typeface="Arial Bold"/>
                          <a:sym typeface="Helios"/>
                        </a:rPr>
                        <a:t> </a:t>
                      </a:r>
                      <a:r>
                        <a:rPr lang="ar-EG" sz="2400" b="1" kern="1200" dirty="0">
                          <a:solidFill>
                            <a:schemeClr val="accent1">
                              <a:lumMod val="50000"/>
                            </a:schemeClr>
                          </a:solidFill>
                          <a:latin typeface="+mn-lt"/>
                          <a:ea typeface="Arial Bold"/>
                          <a:cs typeface="Arial Bold"/>
                          <a:sym typeface="Helios"/>
                        </a:rPr>
                        <a:t>بيوفر أدوات للتخطيط، مراقبة الأداء، وتقليل الأعطال لزيادة الكفاءة وتخفيض التكاليف.</a:t>
                      </a:r>
                      <a:endParaRPr lang="en-US" sz="2400" b="1" kern="1200" dirty="0">
                        <a:solidFill>
                          <a:schemeClr val="accent1">
                            <a:lumMod val="50000"/>
                          </a:schemeClr>
                        </a:solidFill>
                        <a:latin typeface="+mn-lt"/>
                        <a:ea typeface="Arial Bold"/>
                        <a:cs typeface="Arial Bold"/>
                        <a:sym typeface="Helios"/>
                      </a:endParaRPr>
                    </a:p>
                    <a:p>
                      <a:endParaRPr lang="en-US" dirty="0"/>
                    </a:p>
                  </a:txBody>
                  <a:tcPr/>
                </a:tc>
                <a:tc>
                  <a:txBody>
                    <a:bodyPr/>
                    <a:lstStyle/>
                    <a:p>
                      <a:pPr algn="ctr"/>
                      <a:r>
                        <a:rPr lang="en-US" sz="3600" b="1" kern="1200" dirty="0">
                          <a:solidFill>
                            <a:schemeClr val="accent1">
                              <a:lumMod val="50000"/>
                            </a:schemeClr>
                          </a:solidFill>
                          <a:latin typeface="+mn-lt"/>
                          <a:ea typeface="Arial Bold"/>
                          <a:cs typeface="Arial Bold"/>
                          <a:sym typeface="Arial Bold"/>
                        </a:rPr>
                        <a:t>MAXIMO</a:t>
                      </a:r>
                    </a:p>
                  </a:txBody>
                  <a:tcPr/>
                </a:tc>
                <a:extLst>
                  <a:ext uri="{0D108BD9-81ED-4DB2-BD59-A6C34878D82A}">
                    <a16:rowId xmlns:a16="http://schemas.microsoft.com/office/drawing/2014/main" xmlns="" val="10005"/>
                  </a:ext>
                </a:extLst>
              </a:tr>
              <a:tr h="941332">
                <a:tc>
                  <a:txBody>
                    <a:bodyPr/>
                    <a:lstStyle/>
                    <a:p>
                      <a:pPr algn="r"/>
                      <a:r>
                        <a:rPr lang="ar-EG" sz="2400" b="1" kern="1200" dirty="0" smtClean="0">
                          <a:solidFill>
                            <a:schemeClr val="accent1">
                              <a:lumMod val="50000"/>
                            </a:schemeClr>
                          </a:solidFill>
                          <a:latin typeface="+mn-lt"/>
                          <a:ea typeface="Arial Bold"/>
                          <a:cs typeface="Arial Bold"/>
                          <a:sym typeface="Helios"/>
                        </a:rPr>
                        <a:t>برنامج هندسي متخصص في تصميم وتحليل شبكات المياه، حيث يتيح</a:t>
                      </a:r>
                      <a:r>
                        <a:rPr lang="ar-EG" sz="2400" b="1" kern="1200" baseline="0" dirty="0" smtClean="0">
                          <a:solidFill>
                            <a:schemeClr val="accent1">
                              <a:lumMod val="50000"/>
                            </a:schemeClr>
                          </a:solidFill>
                          <a:latin typeface="+mn-lt"/>
                          <a:ea typeface="Arial Bold"/>
                          <a:cs typeface="Arial Bold"/>
                          <a:sym typeface="Helios"/>
                        </a:rPr>
                        <a:t> ت</a:t>
                      </a:r>
                      <a:r>
                        <a:rPr lang="ar-EG" sz="2400" b="1" kern="1200" dirty="0" smtClean="0">
                          <a:solidFill>
                            <a:schemeClr val="accent1">
                              <a:lumMod val="50000"/>
                            </a:schemeClr>
                          </a:solidFill>
                          <a:latin typeface="+mn-lt"/>
                          <a:ea typeface="Arial Bold"/>
                          <a:cs typeface="Arial Bold"/>
                          <a:sym typeface="Helios"/>
                        </a:rPr>
                        <a:t>سجيل ورسم مواسير شبكات مياه الشرب</a:t>
                      </a:r>
                      <a:r>
                        <a:rPr lang="ar-EG" sz="2400" b="1" kern="1200" baseline="0" dirty="0" smtClean="0">
                          <a:solidFill>
                            <a:schemeClr val="accent1">
                              <a:lumMod val="50000"/>
                            </a:schemeClr>
                          </a:solidFill>
                          <a:latin typeface="+mn-lt"/>
                          <a:ea typeface="Arial Bold"/>
                          <a:cs typeface="Arial Bold"/>
                          <a:sym typeface="Helios"/>
                        </a:rPr>
                        <a:t>, م</a:t>
                      </a:r>
                      <a:r>
                        <a:rPr lang="ar-EG" sz="2400" b="1" kern="1200" dirty="0" smtClean="0">
                          <a:solidFill>
                            <a:schemeClr val="accent1">
                              <a:lumMod val="50000"/>
                            </a:schemeClr>
                          </a:solidFill>
                          <a:latin typeface="+mn-lt"/>
                          <a:ea typeface="Arial Bold"/>
                          <a:cs typeface="Arial Bold"/>
                          <a:sym typeface="Helios"/>
                        </a:rPr>
                        <a:t>حاكاة تدفق وضغط المياه داخل الشبكة,</a:t>
                      </a:r>
                      <a:r>
                        <a:rPr lang="ar-EG" sz="2400" b="1" kern="1200" baseline="0" dirty="0" smtClean="0">
                          <a:solidFill>
                            <a:schemeClr val="accent1">
                              <a:lumMod val="50000"/>
                            </a:schemeClr>
                          </a:solidFill>
                          <a:latin typeface="+mn-lt"/>
                          <a:ea typeface="Arial Bold"/>
                          <a:cs typeface="Arial Bold"/>
                          <a:sym typeface="Helios"/>
                        </a:rPr>
                        <a:t> م</a:t>
                      </a:r>
                      <a:r>
                        <a:rPr lang="ar-EG" sz="2400" b="1" kern="1200" dirty="0" smtClean="0">
                          <a:solidFill>
                            <a:schemeClr val="accent1">
                              <a:lumMod val="50000"/>
                            </a:schemeClr>
                          </a:solidFill>
                          <a:latin typeface="+mn-lt"/>
                          <a:ea typeface="Arial Bold"/>
                          <a:cs typeface="Arial Bold"/>
                          <a:sym typeface="Helios"/>
                        </a:rPr>
                        <a:t>ساعدة المهندسين في التخطيط والتشغيل بكفاءة عالية.</a:t>
                      </a:r>
                    </a:p>
                    <a:p>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kern="1200" dirty="0">
                          <a:solidFill>
                            <a:schemeClr val="accent1">
                              <a:lumMod val="50000"/>
                            </a:schemeClr>
                          </a:solidFill>
                          <a:latin typeface="+mn-lt"/>
                          <a:ea typeface="Arial Bold"/>
                          <a:cs typeface="Arial Bold"/>
                          <a:sym typeface="Arial Bold"/>
                        </a:rPr>
                        <a:t>Water CAD, Sewer CAD</a:t>
                      </a:r>
                    </a:p>
                    <a:p>
                      <a:endParaRPr lang="en-US" dirty="0"/>
                    </a:p>
                  </a:txBody>
                  <a:tcPr/>
                </a:tc>
                <a:extLst>
                  <a:ext uri="{0D108BD9-81ED-4DB2-BD59-A6C34878D82A}">
                    <a16:rowId xmlns:a16="http://schemas.microsoft.com/office/drawing/2014/main" xmlns="" val="10006"/>
                  </a:ext>
                </a:extLst>
              </a:tr>
              <a:tr h="1348019">
                <a:tc>
                  <a:txBody>
                    <a:bodyPr/>
                    <a:lstStyle/>
                    <a:p>
                      <a:pPr algn="r"/>
                      <a:r>
                        <a:rPr lang="ar-EG" sz="2400" b="1" kern="1200" dirty="0" smtClean="0">
                          <a:solidFill>
                            <a:schemeClr val="accent1">
                              <a:lumMod val="50000"/>
                            </a:schemeClr>
                          </a:solidFill>
                          <a:latin typeface="+mn-lt"/>
                          <a:ea typeface="Arial Bold"/>
                          <a:cs typeface="Arial Bold"/>
                          <a:sym typeface="Helios"/>
                        </a:rPr>
                        <a:t>هو نظام أرشفة إلكترونية متكامل يهدف إلى</a:t>
                      </a:r>
                      <a:r>
                        <a:rPr lang="ar-EG" sz="2400" b="1" kern="1200" baseline="0" dirty="0" smtClean="0">
                          <a:solidFill>
                            <a:schemeClr val="accent1">
                              <a:lumMod val="50000"/>
                            </a:schemeClr>
                          </a:solidFill>
                          <a:latin typeface="+mn-lt"/>
                          <a:ea typeface="Arial Bold"/>
                          <a:cs typeface="Arial Bold"/>
                          <a:sym typeface="Helios"/>
                        </a:rPr>
                        <a:t> </a:t>
                      </a:r>
                      <a:r>
                        <a:rPr lang="ar-EG" sz="2400" b="1" kern="1200" dirty="0" smtClean="0">
                          <a:solidFill>
                            <a:schemeClr val="accent1">
                              <a:lumMod val="50000"/>
                            </a:schemeClr>
                          </a:solidFill>
                          <a:latin typeface="+mn-lt"/>
                          <a:ea typeface="Arial Bold"/>
                          <a:cs typeface="Arial Bold"/>
                          <a:sym typeface="Helios"/>
                        </a:rPr>
                        <a:t>حفظ وإدارة ملفات العملاء والمشتركين بشكل آمن ومنظم</a:t>
                      </a:r>
                      <a:r>
                        <a:rPr lang="ar-EG" sz="2400" b="1" kern="1200" baseline="0" dirty="0" smtClean="0">
                          <a:solidFill>
                            <a:schemeClr val="accent1">
                              <a:lumMod val="50000"/>
                            </a:schemeClr>
                          </a:solidFill>
                          <a:latin typeface="+mn-lt"/>
                          <a:ea typeface="Arial Bold"/>
                          <a:cs typeface="Arial Bold"/>
                          <a:sym typeface="Helios"/>
                        </a:rPr>
                        <a:t> ,</a:t>
                      </a:r>
                      <a:r>
                        <a:rPr lang="ar-EG" sz="2400" b="1" kern="1200" dirty="0" smtClean="0">
                          <a:solidFill>
                            <a:schemeClr val="accent1">
                              <a:lumMod val="50000"/>
                            </a:schemeClr>
                          </a:solidFill>
                          <a:latin typeface="+mn-lt"/>
                          <a:ea typeface="Arial Bold"/>
                          <a:cs typeface="Arial Bold"/>
                          <a:sym typeface="Helios"/>
                        </a:rPr>
                        <a:t>تسهيل عملية البحث والوصول إلى الملفات بسرعةتقليل الاعتماد على المستندات الورقية وتحسين كفاءة العمل,</a:t>
                      </a:r>
                      <a:r>
                        <a:rPr lang="ar-EG" sz="2400" b="1" kern="1200" baseline="0" dirty="0" smtClean="0">
                          <a:solidFill>
                            <a:schemeClr val="accent1">
                              <a:lumMod val="50000"/>
                            </a:schemeClr>
                          </a:solidFill>
                          <a:latin typeface="+mn-lt"/>
                          <a:ea typeface="Arial Bold"/>
                          <a:cs typeface="Arial Bold"/>
                          <a:sym typeface="Helios"/>
                        </a:rPr>
                        <a:t> </a:t>
                      </a:r>
                      <a:r>
                        <a:rPr lang="ar-EG" sz="2400" b="1" kern="1200" dirty="0" smtClean="0">
                          <a:solidFill>
                            <a:schemeClr val="accent1">
                              <a:lumMod val="50000"/>
                            </a:schemeClr>
                          </a:solidFill>
                          <a:latin typeface="+mn-lt"/>
                          <a:ea typeface="Arial Bold"/>
                          <a:cs typeface="Arial Bold"/>
                          <a:sym typeface="Helios"/>
                        </a:rPr>
                        <a:t>دعم مستويات الصلاحيات لضمان سرية البيانات وحمايتها.</a:t>
                      </a:r>
                    </a:p>
                    <a:p>
                      <a:pPr algn="r"/>
                      <a:endParaRPr lang="en-US" dirty="0"/>
                    </a:p>
                  </a:txBody>
                  <a:tcPr/>
                </a:tc>
                <a:tc>
                  <a:txBody>
                    <a:bodyPr/>
                    <a:lstStyle/>
                    <a:p>
                      <a:pPr algn="ctr"/>
                      <a:r>
                        <a:rPr lang="en-US" sz="3600" b="1" kern="1200" dirty="0" smtClean="0">
                          <a:solidFill>
                            <a:schemeClr val="accent1">
                              <a:lumMod val="50000"/>
                            </a:schemeClr>
                          </a:solidFill>
                          <a:latin typeface="+mn-lt"/>
                          <a:ea typeface="Arial Bold"/>
                          <a:cs typeface="Arial Bold"/>
                          <a:sym typeface="Arial Bold"/>
                        </a:rPr>
                        <a:t>DMAS</a:t>
                      </a:r>
                      <a:endParaRPr lang="en-US" sz="3600" b="1" kern="1200" dirty="0">
                        <a:solidFill>
                          <a:schemeClr val="accent1">
                            <a:lumMod val="50000"/>
                          </a:schemeClr>
                        </a:solidFill>
                        <a:latin typeface="+mn-lt"/>
                        <a:ea typeface="Arial Bold"/>
                        <a:cs typeface="Arial Bold"/>
                        <a:sym typeface="Arial Bold"/>
                      </a:endParaRPr>
                    </a:p>
                  </a:txBody>
                  <a:tcPr/>
                </a:tc>
              </a:tr>
            </a:tbl>
          </a:graphicData>
        </a:graphic>
      </p:graphicFrame>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7a04dea-f428-4f9e-ae8a-e4e1c51bf875.png"/>
          <p:cNvPicPr>
            <a:picLocks noChangeAspect="1"/>
          </p:cNvPicPr>
          <p:nvPr/>
        </p:nvPicPr>
        <p:blipFill>
          <a:blip r:embed="rId2" cstate="print"/>
          <a:stretch>
            <a:fillRect/>
          </a:stretch>
        </p:blipFill>
        <p:spPr>
          <a:xfrm>
            <a:off x="-116046" y="0"/>
            <a:ext cx="18404046" cy="10287000"/>
          </a:xfrm>
          <a:prstGeom prst="rect">
            <a:avLst/>
          </a:prstGeo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cstate="print">
            <a:extLst>
              <a:ext uri="{96DAC541-7B7A-43D3-8B79-37D633B846F1}">
                <asvg:svgBlip xmlns:asvg="http://schemas.microsoft.com/office/drawing/2016/SVG/main" xmlns="" r:embed="rId2"/>
              </a:ext>
            </a:extLst>
          </a:blip>
          <a:stretch>
            <a:fillRect/>
          </a:stretch>
        </a:blipFill>
      </a:spPr>
      <a:bodyPr/>
      <a:lstStyle/>
    </a:sp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1243</TotalTime>
  <Words>864</Words>
  <Application>Microsoft Office PowerPoint</Application>
  <PresentationFormat>Custom</PresentationFormat>
  <Paragraphs>81</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Helios</vt:lpstr>
      <vt:lpstr>Calibri</vt:lpstr>
      <vt:lpstr>Arial Bold</vt:lpstr>
      <vt:lpstr>Helios Bold</vt:lpstr>
      <vt:lpstr>Office Theme</vt:lpstr>
      <vt:lpstr>Slide 1</vt:lpstr>
      <vt:lpstr>Slide 2</vt:lpstr>
      <vt:lpstr>Slide 3</vt:lpstr>
      <vt:lpstr>Slide 4</vt:lpstr>
      <vt:lpstr>Slide 5</vt:lpstr>
      <vt:lpstr>Slide 6</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شركة مياه الشرب والصرف الصحى</dc:title>
  <dc:creator>Sara Salah</dc:creator>
  <cp:lastModifiedBy>sara.s</cp:lastModifiedBy>
  <cp:revision>99</cp:revision>
  <dcterms:created xsi:type="dcterms:W3CDTF">2006-08-16T00:00:00Z</dcterms:created>
  <dcterms:modified xsi:type="dcterms:W3CDTF">2025-09-18T08:15:32Z</dcterms:modified>
  <dc:identifier>DAGxVtXEPnE</dc:identifier>
</cp:coreProperties>
</file>
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media/image7.svg" ContentType="image/svg"/>
  <Override PartName="/ppt/media/image5.svg" ContentType="image/svg"/>
  <Override PartName="/ppt/media/image9.svg" ContentType="image/svg"/>
  <Override PartName="/ppt/media/image16.svg" ContentType="image/svg"/>
  <Override PartName="/ppt/media/image18.svg" ContentType="image/svg"/>
  <Override PartName="/ppt/media/image20.svg" ContentType="image/svg"/>
  <Override PartName="/ppt/media/image22.svg" ContentType="image/svg"/>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4630400" cy="8229600"/>
  <p:notesSz cx="7559675" cy="10691813"/>
  <p:embeddedFontLst>
    <p:embeddedFont>
      <p:font typeface="Poppins ExtraBold"/>
    </p:embeddedFont>
    <p:embeddedFont>
      <p:font typeface="Calibri Light"/>
      <p:regular r:id="rId15"/>
    </p:embeddedFont>
    <p:embeddedFont>
      <p:font typeface="Amiri"/>
      <p:regular r:id="rId16"/>
      <p:bold r:id="rId17"/>
      <p:italic r:id="rId18"/>
      <p:boldItalic r:id="rId19"/>
    </p:embeddedFont>
    <p:embeddedFont>
      <p:font typeface="Alice"/>
      <p:regular r:id="rId20"/>
      <p:bold r:id="rId20"/>
    </p:embeddedFont>
    <p:embeddedFont>
      <p:font typeface="Alexandria"/>
    </p:embeddedFont>
    <p:embeddedFont>
      <p:font typeface="Arial Rounded MT Bold"/>
      <p:regular r:id="rId21"/>
      <p:bold r:id="rId21"/>
    </p:embeddedFont>
    <p:embeddedFont>
      <p:font typeface="Traditional Arabic"/>
      <p:regular r:id="rId22"/>
      <p:bold r:id="rId23"/>
      <p:italic r:id="rId23"/>
    </p:embeddedFont>
    <p:embeddedFont>
      <p:font typeface="Lora"/>
      <p:regular r:id="rId24"/>
      <p:bold r:id="rId25"/>
      <p:italic r:id="rId26"/>
      <p:boldItalic r:id="rId27"/>
    </p:embeddedFont>
    <p:embeddedFont>
      <p:font typeface="DejaVu Sans"/>
      <p:regular r:id="rId28"/>
      <p:bold r:id="rId29"/>
      <p:italic r:id="rId30"/>
      <p:boldItalic r:id="rId31"/>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font" Target="fonts/Font_1_Calibri_Light_Regular.fntdata"/><Relationship Id="rId16" Type="http://schemas.openxmlformats.org/officeDocument/2006/relationships/font" Target="fonts/Font_2_Amiri_Regular.fntdata"/><Relationship Id="rId17" Type="http://schemas.openxmlformats.org/officeDocument/2006/relationships/font" Target="fonts/Font_3_Amiri_Bold.fntdata"/><Relationship Id="rId18" Type="http://schemas.openxmlformats.org/officeDocument/2006/relationships/font" Target="fonts/Font_4_Amiri_Italic.fntdata"/><Relationship Id="rId19" Type="http://schemas.openxmlformats.org/officeDocument/2006/relationships/font" Target="fonts/Font_5_Amiri_BoldItalic.fntdata"/><Relationship Id="rId20" Type="http://schemas.openxmlformats.org/officeDocument/2006/relationships/font" Target="fonts/Font_6_Alice_Regular.fntdata"/><Relationship Id="rId21" Type="http://schemas.openxmlformats.org/officeDocument/2006/relationships/font" Target="fonts/Font_7_Arial_Rounded_MT_Bold_Regular.fntdata"/><Relationship Id="rId22" Type="http://schemas.openxmlformats.org/officeDocument/2006/relationships/font" Target="fonts/Font_8_Traditional_Arabic_Regular.fntdata"/><Relationship Id="rId23" Type="http://schemas.openxmlformats.org/officeDocument/2006/relationships/font" Target="fonts/Font_9_Traditional_Arabic_Bold.fntdata"/><Relationship Id="rId24" Type="http://schemas.openxmlformats.org/officeDocument/2006/relationships/font" Target="fonts/Font_10_Lora_Regular.fntdata"/><Relationship Id="rId25" Type="http://schemas.openxmlformats.org/officeDocument/2006/relationships/font" Target="fonts/Font_11_Lora_Bold.fntdata"/><Relationship Id="rId26" Type="http://schemas.openxmlformats.org/officeDocument/2006/relationships/font" Target="fonts/Font_12_Lora_Italic.fntdata"/><Relationship Id="rId27" Type="http://schemas.openxmlformats.org/officeDocument/2006/relationships/font" Target="fonts/Font_13_Lora_BoldItalic.fntdata"/><Relationship Id="rId28" Type="http://schemas.openxmlformats.org/officeDocument/2006/relationships/font" Target="fonts/Font_14_DejaVu_Sans_Regular.fntdata"/><Relationship Id="rId29" Type="http://schemas.openxmlformats.org/officeDocument/2006/relationships/font" Target="fonts/Font_15_DejaVu_Sans_Bold.fntdata"/><Relationship Id="rId30" Type="http://schemas.openxmlformats.org/officeDocument/2006/relationships/font" Target="fonts/Font_16_DejaVu_Sans_Italic.fntdata"/><Relationship Id="rId31" Type="http://schemas.openxmlformats.org/officeDocument/2006/relationships/font" Target="fonts/Font_17_DejaVu_Sans_BoldItalic.fntdata"/><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a:tabLst>
                <a:tab pos="0" algn="l"/>
              </a:tabLst>
            </a:pPr>
            <a:r>
              <a:rPr lang="en-US" sz="4400" b="0" u="none" strike="noStrike">
                <a:solidFill>
                  <a:schemeClr val="dk1"/>
                </a:solidFill>
                <a:effectLst/>
                <a:uFillTx/>
                <a:latin typeface="Calibri Light"/>
              </a:rPr>
              <a:t>Click to move the slide</a:t>
            </a:r>
            <a:endParaRPr lang="en-US" sz="4400" b="0" u="none" strike="noStrike">
              <a:solidFill>
                <a:schemeClr val="dk1"/>
              </a:solidFill>
              <a:effectLst/>
              <a:uFillTx/>
              <a:latin typeface="Calibri Light"/>
            </a:endParaRPr>
          </a:p>
        </p:txBody>
      </p:sp>
      <p:sp>
        <p:nvSpPr>
          <p:cNvPr id="5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4"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AEEA99-DA1C-4EBE-988E-5A4243E45BA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4240" cy="3084120"/>
          </a:xfrm>
          <a:prstGeom prst="rect">
            <a:avLst/>
          </a:prstGeom>
          <a:ln w="0">
            <a:noFill/>
          </a:ln>
        </p:spPr>
      </p:sp>
      <p:sp>
        <p:nvSpPr>
          <p:cNvPr id="19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5" name="PlaceHolder 3"/>
          <p:cNvSpPr>
            <a:spLocks noGrp="1"/>
          </p:cNvSpPr>
          <p:nvPr>
            <p:ph type="sldNum" idx="4"/>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2D40183-00D3-46C2-8AE0-7E11F5D829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4240" cy="3084120"/>
          </a:xfrm>
          <a:prstGeom prst="rect">
            <a:avLst/>
          </a:prstGeom>
          <a:ln w="0">
            <a:noFill/>
          </a:ln>
        </p:spPr>
      </p:sp>
      <p:sp>
        <p:nvSpPr>
          <p:cNvPr id="19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8" name="PlaceHolder 3"/>
          <p:cNvSpPr>
            <a:spLocks noGrp="1"/>
          </p:cNvSpPr>
          <p:nvPr>
            <p:ph type="sldNum" idx="5"/>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35B1FF0-EB22-4AB4-BB5F-85F3258E4D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4240" cy="3084120"/>
          </a:xfrm>
          <a:prstGeom prst="rect">
            <a:avLst/>
          </a:prstGeom>
          <a:ln w="0">
            <a:noFill/>
          </a:ln>
        </p:spPr>
      </p:sp>
      <p:sp>
        <p:nvSpPr>
          <p:cNvPr id="20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1" name="PlaceHolder 3"/>
          <p:cNvSpPr>
            <a:spLocks noGrp="1"/>
          </p:cNvSpPr>
          <p:nvPr>
            <p:ph type="sldNum" idx="6"/>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284D632-24D0-4AF1-86C9-F87E76BBCD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4240" cy="3084120"/>
          </a:xfrm>
          <a:prstGeom prst="rect">
            <a:avLst/>
          </a:prstGeom>
          <a:ln w="0">
            <a:noFill/>
          </a:ln>
        </p:spPr>
      </p:sp>
      <p:sp>
        <p:nvSpPr>
          <p:cNvPr id="20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4" name="PlaceHolder 3"/>
          <p:cNvSpPr>
            <a:spLocks noGrp="1"/>
          </p:cNvSpPr>
          <p:nvPr>
            <p:ph type="sldNum" idx="7"/>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F75B270-6503-462C-BD7A-2225393D377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4240" cy="3084120"/>
          </a:xfrm>
          <a:prstGeom prst="rect">
            <a:avLst/>
          </a:prstGeom>
          <a:ln w="0">
            <a:noFill/>
          </a:ln>
        </p:spPr>
      </p:sp>
      <p:sp>
        <p:nvSpPr>
          <p:cNvPr id="20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7" name="PlaceHolder 3"/>
          <p:cNvSpPr>
            <a:spLocks noGrp="1"/>
          </p:cNvSpPr>
          <p:nvPr>
            <p:ph type="sldNum" idx="8"/>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2840258-9AAA-4C6F-8F4A-E8DF3F847E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4240" cy="3084120"/>
          </a:xfrm>
          <a:prstGeom prst="rect">
            <a:avLst/>
          </a:prstGeom>
          <a:ln w="0">
            <a:noFill/>
          </a:ln>
        </p:spPr>
      </p:sp>
      <p:sp>
        <p:nvSpPr>
          <p:cNvPr id="20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10" name="PlaceHolder 3"/>
          <p:cNvSpPr>
            <a:spLocks noGrp="1"/>
          </p:cNvSpPr>
          <p:nvPr>
            <p:ph type="sldNum" idx="9"/>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E360A03-5560-430B-9032-55683D5454B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4240" cy="3084120"/>
          </a:xfrm>
          <a:prstGeom prst="rect">
            <a:avLst/>
          </a:prstGeom>
          <a:ln w="0">
            <a:noFill/>
          </a:ln>
        </p:spPr>
      </p:sp>
      <p:sp>
        <p:nvSpPr>
          <p:cNvPr id="21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13" name="PlaceHolder 3"/>
          <p:cNvSpPr>
            <a:spLocks noGrp="1"/>
          </p:cNvSpPr>
          <p:nvPr>
            <p:ph type="sldNum" idx="10"/>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D69DC4C-E56F-4889-8F2B-891BD108EC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4240" cy="3084120"/>
          </a:xfrm>
          <a:prstGeom prst="rect">
            <a:avLst/>
          </a:prstGeom>
          <a:ln w="0">
            <a:noFill/>
          </a:ln>
        </p:spPr>
      </p:sp>
      <p:sp>
        <p:nvSpPr>
          <p:cNvPr id="215"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16" name="PlaceHolder 3"/>
          <p:cNvSpPr>
            <a:spLocks noGrp="1"/>
          </p:cNvSpPr>
          <p:nvPr>
            <p:ph type="sldNum" idx="11"/>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BE1BC8D-EADD-4665-967E-649F747E189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4240" cy="3084120"/>
          </a:xfrm>
          <a:prstGeom prst="rect">
            <a:avLst/>
          </a:prstGeom>
          <a:ln w="0">
            <a:noFill/>
          </a:ln>
        </p:spPr>
      </p:sp>
      <p:sp>
        <p:nvSpPr>
          <p:cNvPr id="21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19" name="PlaceHolder 3"/>
          <p:cNvSpPr>
            <a:spLocks noGrp="1"/>
          </p:cNvSpPr>
          <p:nvPr>
            <p:ph type="sldNum" idx="12"/>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49A454C-0B26-4BC5-8FCD-32E68941D4E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
        <p:nvSpPr>
          <p:cNvPr id="2"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
        <p:nvSpPr>
          <p:cNvPr id="7"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1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
        <p:nvSpPr>
          <p:cNvPr id="12"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1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
        <p:nvSpPr>
          <p:cNvPr id="17"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2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
        <p:nvSpPr>
          <p:cNvPr id="22"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2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
        <p:nvSpPr>
          <p:cNvPr id="27"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3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
        <p:nvSpPr>
          <p:cNvPr id="32"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3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
        <p:nvSpPr>
          <p:cNvPr id="37"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4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
        <p:nvSpPr>
          <p:cNvPr id="42"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4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
        <p:nvSpPr>
          <p:cNvPr id="47" name="Shape 0"/>
          <p:cNvSpPr/>
          <p:nvPr/>
        </p:nvSpPr>
        <p:spPr>
          <a:xfrm>
            <a:off x="0" y="0"/>
            <a:ext cx="14628240" cy="8227440"/>
          </a:xfrm>
          <a:prstGeom prst="rect">
            <a:avLst/>
          </a:prstGeom>
          <a:solidFill>
            <a:srgbClr val="F1F2DE"/>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Shape 1"/>
          <p:cNvSpPr/>
          <p:nvPr/>
        </p:nvSpPr>
        <p:spPr>
          <a:xfrm>
            <a:off x="0" y="0"/>
            <a:ext cx="14628240" cy="8227440"/>
          </a:xfrm>
          <a:prstGeom prst="rect">
            <a:avLst/>
          </a:prstGeom>
          <a:solidFill>
            <a:srgbClr val="FCFB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5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slideLayout" Target="../slideLayouts/slideLayout9.xml"/><Relationship Id="rId10"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0.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3.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svg"/><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png"/><Relationship Id="rId10" Type="http://schemas.openxmlformats.org/officeDocument/2006/relationships/image" Target="../media/image3.png"/><Relationship Id="rId11" Type="http://schemas.openxmlformats.org/officeDocument/2006/relationships/slideLayout" Target="../slideLayouts/slideLayout4.xml"/><Relationship Id="rId1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slideLayout" Target="../slideLayouts/slideLayout6.xml"/><Relationship Id="rId9"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TextBox 14"/>
          <p:cNvSpPr/>
          <p:nvPr/>
        </p:nvSpPr>
        <p:spPr>
          <a:xfrm>
            <a:off x="5220000" y="1080000"/>
            <a:ext cx="4645440" cy="609480"/>
          </a:xfrm>
          <a:prstGeom prst="rect">
            <a:avLst/>
          </a:prstGeom>
          <a:noFill/>
          <a:ln w="0">
            <a:solidFill>
              <a:srgbClr val="B5B5B5"/>
            </a:solidFill>
            <a:prstDash val="dash"/>
          </a:ln>
        </p:spPr>
        <p:style>
          <a:lnRef idx="0"/>
          <a:fillRef idx="0"/>
          <a:effectRef idx="0"/>
          <a:fontRef idx="minor"/>
        </p:style>
        <p:txBody>
          <a:bodyPr lIns="0" tIns="0" rIns="0" bIns="0" anchor="t">
            <a:spAutoFit/>
          </a:bodyPr>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a:t>
            </a:r>
            <a:r>
              <a:rPr lang="en-US" sz="2000" b="1" u="none" strike="noStrike">
                <a:solidFill>
                  <a:srgbClr val="0048CD"/>
                </a:solidFill>
                <a:effectLst/>
                <a:uFillTx/>
                <a:latin typeface="Arial Rounded MT Bold"/>
                <a:ea typeface="DejaVu Sans"/>
              </a:rPr>
              <a:t> </a:t>
            </a:r>
            <a:endParaRPr lang="en-US" sz="2000" b="0" u="none" strike="noStrike">
              <a:solidFill>
                <a:srgbClr val="000000"/>
              </a:solidFill>
              <a:effectLst/>
              <a:uFillTx/>
              <a:latin typeface="Arial"/>
            </a:endParaRPr>
          </a:p>
        </p:txBody>
      </p:sp>
      <p:sp>
        <p:nvSpPr>
          <p:cNvPr id="59" name="TextBox 2"/>
          <p:cNvSpPr/>
          <p:nvPr/>
        </p:nvSpPr>
        <p:spPr>
          <a:xfrm>
            <a:off x="2340000" y="2160000"/>
            <a:ext cx="10174320" cy="10954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a:t>
            </a:r>
            <a:r>
              <a:rPr lang="en-US" sz="4800" b="1" u="none" strike="noStrike">
                <a:solidFill>
                  <a:srgbClr val="0048CD"/>
                </a:solidFill>
                <a:effectLst/>
                <a:uFillTx/>
                <a:latin typeface="Amiri"/>
                <a:ea typeface="DejaVu Sans"/>
              </a:rPr>
              <a:t>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
        <p:nvSpPr>
          <p:cNvPr id="60" name="Text 13"/>
          <p:cNvSpPr/>
          <p:nvPr/>
        </p:nvSpPr>
        <p:spPr>
          <a:xfrm>
            <a:off x="3784680" y="5040000"/>
            <a:ext cx="7553520" cy="541440"/>
          </a:xfrm>
          <a:prstGeom prst="rect">
            <a:avLst/>
          </a:prstGeom>
          <a:noFill/>
          <a:ln w="0">
            <a:noFill/>
          </a:ln>
        </p:spPr>
        <p:style>
          <a:lnRef idx="0"/>
          <a:fillRef idx="0"/>
          <a:effectRef idx="0"/>
          <a:fontRef idx="minor"/>
        </p:style>
        <p:txBody>
          <a:bodyPr lIns="0" tIns="0" rIns="0" bIns="0" anchor="ctr" anchorCtr="1">
            <a:noAutofit/>
          </a:bodyPr>
          <a:p>
            <a:pPr algn="ctr" rtl="1">
              <a:lnSpc>
                <a:spcPct val="150000"/>
              </a:lnSpc>
              <a:tabLst>
                <a:tab pos="0" algn="l"/>
              </a:tabLst>
            </a:pPr>
            <a:r>
              <a:rPr lang="ar-EG" sz="3200" b="0" u="none" strike="noStrike">
                <a:solidFill>
                  <a:srgbClr val="272525"/>
                </a:solidFill>
                <a:effectLst/>
                <a:uFillTx/>
                <a:latin typeface="Amiri"/>
                <a:cs typeface="Amiri"/>
              </a:rPr>
              <a:t>دراسة مقارنة شاملة تبرز التحسينات الاستراتيجية للموقع الإلكتروني الجديد وتأثيرها المباشر على تجربة المستخدم وجودة الخدمات الحكومية</a:t>
            </a:r>
            <a:endParaRPr lang="en-US" sz="3200" b="0" u="none" strike="noStrike">
              <a:solidFill>
                <a:srgbClr val="000000"/>
              </a:solidFill>
              <a:effectLst/>
              <a:uFillTx/>
              <a:latin typeface="Arial"/>
            </a:endParaRPr>
          </a:p>
        </p:txBody>
      </p:sp>
      <p:pic>
        <p:nvPicPr>
          <p:cNvPr id="61" name="Picture 9"/>
          <p:cNvPicPr/>
          <p:nvPr/>
        </p:nvPicPr>
        <p:blipFill>
          <a:blip r:embed="rId1"/>
          <a:stretch/>
        </p:blipFill>
        <p:spPr>
          <a:xfrm>
            <a:off x="13257360" y="187560"/>
            <a:ext cx="780840" cy="710640"/>
          </a:xfrm>
          <a:prstGeom prst="rect">
            <a:avLst/>
          </a:prstGeom>
          <a:noFill/>
          <a:ln w="0">
            <a:noFill/>
          </a:ln>
        </p:spPr>
      </p:pic>
      <p:pic>
        <p:nvPicPr>
          <p:cNvPr id="62" name="Picture 11"/>
          <p:cNvPicPr/>
          <p:nvPr/>
        </p:nvPicPr>
        <p:blipFill>
          <a:blip r:embed="rId2"/>
          <a:stretch/>
        </p:blipFill>
        <p:spPr>
          <a:xfrm>
            <a:off x="313200" y="25704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 0"/>
          <p:cNvSpPr/>
          <p:nvPr/>
        </p:nvSpPr>
        <p:spPr>
          <a:xfrm>
            <a:off x="8165880" y="3359520"/>
            <a:ext cx="566856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000" b="0" u="none" strike="noStrike">
                <a:solidFill>
                  <a:srgbClr val="355269"/>
                </a:solidFill>
                <a:effectLst/>
                <a:uFillTx/>
                <a:latin typeface="Amiri"/>
                <a:cs typeface="Amiri"/>
              </a:rPr>
              <a:t>نظرة عامة على التحول</a:t>
            </a:r>
            <a:endParaRPr lang="en-US" sz="4000" b="0" u="none" strike="noStrike">
              <a:solidFill>
                <a:srgbClr val="000000"/>
              </a:solidFill>
              <a:effectLst/>
              <a:uFillTx/>
              <a:latin typeface="Arial"/>
            </a:endParaRPr>
          </a:p>
        </p:txBody>
      </p:sp>
      <p:sp>
        <p:nvSpPr>
          <p:cNvPr id="64" name="Shape 1"/>
          <p:cNvSpPr/>
          <p:nvPr/>
        </p:nvSpPr>
        <p:spPr>
          <a:xfrm>
            <a:off x="9460080" y="4665960"/>
            <a:ext cx="4194360" cy="2937960"/>
          </a:xfrm>
          <a:prstGeom prst="roundRect">
            <a:avLst>
              <a:gd name="adj" fmla="val 1157"/>
            </a:avLst>
          </a:prstGeom>
          <a:solidFill>
            <a:srgbClr val="F0EDE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Shape 2"/>
          <p:cNvSpPr/>
          <p:nvPr/>
        </p:nvSpPr>
        <p:spPr>
          <a:xfrm>
            <a:off x="12749400" y="4892760"/>
            <a:ext cx="678240" cy="678240"/>
          </a:xfrm>
          <a:prstGeom prst="roundRect">
            <a:avLst>
              <a:gd name="adj" fmla="val 13436980"/>
            </a:avLst>
          </a:prstGeom>
          <a:solidFill>
            <a:srgbClr val="355269"/>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6" name="Image 0" descr="preencoded.png"/>
          <p:cNvPicPr/>
          <p:nvPr/>
        </p:nvPicPr>
        <p:blipFill>
          <a:blip r:embed="rId1">
            <a:extLst>
              <a:ext uri="{96DAC541-7B7A-43D3-8B79-37D633B846F1}">
                <asvg:svgBlip xmlns:asvg="http://schemas.microsoft.com/office/drawing/2016/SVG/main" r:embed="rId2"/>
              </a:ext>
            </a:extLst>
          </a:blip>
          <a:stretch/>
        </p:blipFill>
        <p:spPr>
          <a:xfrm>
            <a:off x="12936600" y="5079960"/>
            <a:ext cx="303840" cy="303840"/>
          </a:xfrm>
          <a:prstGeom prst="rect">
            <a:avLst/>
          </a:prstGeom>
          <a:noFill/>
          <a:ln w="0">
            <a:noFill/>
          </a:ln>
        </p:spPr>
      </p:pic>
      <p:sp>
        <p:nvSpPr>
          <p:cNvPr id="67" name="Text 3"/>
          <p:cNvSpPr/>
          <p:nvPr/>
        </p:nvSpPr>
        <p:spPr>
          <a:xfrm>
            <a:off x="10594440" y="579996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المشكلة</a:t>
            </a:r>
            <a:endParaRPr lang="en-US" sz="2200" b="0" u="none" strike="noStrike">
              <a:solidFill>
                <a:srgbClr val="000000"/>
              </a:solidFill>
              <a:effectLst/>
              <a:uFillTx/>
              <a:latin typeface="Arial"/>
            </a:endParaRPr>
          </a:p>
        </p:txBody>
      </p:sp>
      <p:sp>
        <p:nvSpPr>
          <p:cNvPr id="68" name="Text 4"/>
          <p:cNvSpPr/>
          <p:nvPr/>
        </p:nvSpPr>
        <p:spPr>
          <a:xfrm>
            <a:off x="9687240" y="6290640"/>
            <a:ext cx="3740400" cy="108648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موقع إلكتروني قديم يعاني من بطء في الأداء وتصميم غير متجاوب، مما أثر على تجربة المستخدم وانخفاض التفاعل</a:t>
            </a:r>
            <a:endParaRPr lang="en-US" sz="2000" b="0" u="none" strike="noStrike">
              <a:solidFill>
                <a:srgbClr val="000000"/>
              </a:solidFill>
              <a:effectLst/>
              <a:uFillTx/>
              <a:latin typeface="Arial"/>
            </a:endParaRPr>
          </a:p>
        </p:txBody>
      </p:sp>
      <p:sp>
        <p:nvSpPr>
          <p:cNvPr id="69" name="Shape 5"/>
          <p:cNvSpPr/>
          <p:nvPr/>
        </p:nvSpPr>
        <p:spPr>
          <a:xfrm>
            <a:off x="5037120" y="4665960"/>
            <a:ext cx="4194360" cy="2937960"/>
          </a:xfrm>
          <a:prstGeom prst="roundRect">
            <a:avLst>
              <a:gd name="adj" fmla="val 1157"/>
            </a:avLst>
          </a:prstGeom>
          <a:solidFill>
            <a:srgbClr val="F0EDE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Shape 6"/>
          <p:cNvSpPr/>
          <p:nvPr/>
        </p:nvSpPr>
        <p:spPr>
          <a:xfrm>
            <a:off x="8326080" y="4892760"/>
            <a:ext cx="678240" cy="678240"/>
          </a:xfrm>
          <a:prstGeom prst="roundRect">
            <a:avLst>
              <a:gd name="adj" fmla="val 13436980"/>
            </a:avLst>
          </a:prstGeom>
          <a:solidFill>
            <a:srgbClr val="355269"/>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1" name="Image 1" descr="preencoded.png"/>
          <p:cNvPicPr/>
          <p:nvPr/>
        </p:nvPicPr>
        <p:blipFill>
          <a:blip r:embed="rId3">
            <a:extLst>
              <a:ext uri="{96DAC541-7B7A-43D3-8B79-37D633B846F1}">
                <asvg:svgBlip xmlns:asvg="http://schemas.microsoft.com/office/drawing/2016/SVG/main" r:embed="rId4"/>
              </a:ext>
            </a:extLst>
          </a:blip>
          <a:stretch/>
        </p:blipFill>
        <p:spPr>
          <a:xfrm>
            <a:off x="8513280" y="5079960"/>
            <a:ext cx="303840" cy="303840"/>
          </a:xfrm>
          <a:prstGeom prst="rect">
            <a:avLst/>
          </a:prstGeom>
          <a:noFill/>
          <a:ln w="0">
            <a:noFill/>
          </a:ln>
        </p:spPr>
      </p:pic>
      <p:sp>
        <p:nvSpPr>
          <p:cNvPr id="72" name="Text 7"/>
          <p:cNvSpPr/>
          <p:nvPr/>
        </p:nvSpPr>
        <p:spPr>
          <a:xfrm>
            <a:off x="6171480" y="579996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الحل</a:t>
            </a:r>
            <a:endParaRPr lang="en-US" sz="2200" b="0" u="none" strike="noStrike">
              <a:solidFill>
                <a:srgbClr val="000000"/>
              </a:solidFill>
              <a:effectLst/>
              <a:uFillTx/>
              <a:latin typeface="Arial"/>
            </a:endParaRPr>
          </a:p>
        </p:txBody>
      </p:sp>
      <p:sp>
        <p:nvSpPr>
          <p:cNvPr id="73" name="Text 8"/>
          <p:cNvSpPr/>
          <p:nvPr/>
        </p:nvSpPr>
        <p:spPr>
          <a:xfrm>
            <a:off x="5263920" y="6290640"/>
            <a:ext cx="3740400" cy="108648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إعادة تصميم شاملة باستخدام تقنيات حديثة، تحسين الأداء بنسبة </a:t>
            </a:r>
            <a:r>
              <a:rPr lang="en-US" sz="2000" b="0" u="none" strike="noStrike">
                <a:solidFill>
                  <a:srgbClr val="2C2821"/>
                </a:solidFill>
                <a:effectLst/>
                <a:uFillTx/>
                <a:latin typeface="Amiri"/>
                <a:ea typeface="Lora"/>
              </a:rPr>
              <a:t>66</a:t>
            </a:r>
            <a:r>
              <a:rPr lang="en-US" sz="2000" b="0" u="none" strike="noStrike">
                <a:solidFill>
                  <a:srgbClr val="2C2821"/>
                </a:solidFill>
                <a:effectLst/>
                <a:uFillTx/>
                <a:latin typeface="Amiri"/>
                <a:ea typeface="Lora"/>
              </a:rPr>
              <a:t>%، وتصميم تجربة مستخدم محسّنة بالكامل</a:t>
            </a:r>
            <a:endParaRPr lang="en-US" sz="2000" b="0" u="none" strike="noStrike">
              <a:solidFill>
                <a:srgbClr val="000000"/>
              </a:solidFill>
              <a:effectLst/>
              <a:uFillTx/>
              <a:latin typeface="Arial"/>
            </a:endParaRPr>
          </a:p>
        </p:txBody>
      </p:sp>
      <p:sp>
        <p:nvSpPr>
          <p:cNvPr id="74" name="Shape 9"/>
          <p:cNvSpPr/>
          <p:nvPr/>
        </p:nvSpPr>
        <p:spPr>
          <a:xfrm>
            <a:off x="613800" y="4665960"/>
            <a:ext cx="4194360" cy="2937960"/>
          </a:xfrm>
          <a:prstGeom prst="roundRect">
            <a:avLst>
              <a:gd name="adj" fmla="val 1157"/>
            </a:avLst>
          </a:prstGeom>
          <a:solidFill>
            <a:srgbClr val="F0EDE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Shape 10"/>
          <p:cNvSpPr/>
          <p:nvPr/>
        </p:nvSpPr>
        <p:spPr>
          <a:xfrm>
            <a:off x="3903120" y="4892760"/>
            <a:ext cx="678240" cy="678240"/>
          </a:xfrm>
          <a:prstGeom prst="roundRect">
            <a:avLst>
              <a:gd name="adj" fmla="val 13436980"/>
            </a:avLst>
          </a:prstGeom>
          <a:solidFill>
            <a:srgbClr val="355269"/>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6" name="Image 2" descr="preencoded.png"/>
          <p:cNvPicPr/>
          <p:nvPr/>
        </p:nvPicPr>
        <p:blipFill>
          <a:blip r:embed="rId5">
            <a:extLst>
              <a:ext uri="{96DAC541-7B7A-43D3-8B79-37D633B846F1}">
                <asvg:svgBlip xmlns:asvg="http://schemas.microsoft.com/office/drawing/2016/SVG/main" r:embed="rId6"/>
              </a:ext>
            </a:extLst>
          </a:blip>
          <a:stretch/>
        </p:blipFill>
        <p:spPr>
          <a:xfrm>
            <a:off x="4090320" y="5079960"/>
            <a:ext cx="303840" cy="303840"/>
          </a:xfrm>
          <a:prstGeom prst="rect">
            <a:avLst/>
          </a:prstGeom>
          <a:noFill/>
          <a:ln w="0">
            <a:noFill/>
          </a:ln>
        </p:spPr>
      </p:pic>
      <p:sp>
        <p:nvSpPr>
          <p:cNvPr id="77" name="Text 11"/>
          <p:cNvSpPr/>
          <p:nvPr/>
        </p:nvSpPr>
        <p:spPr>
          <a:xfrm>
            <a:off x="1748160" y="579996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النتيجة</a:t>
            </a:r>
            <a:endParaRPr lang="en-US" sz="2200" b="0" u="none" strike="noStrike">
              <a:solidFill>
                <a:srgbClr val="000000"/>
              </a:solidFill>
              <a:effectLst/>
              <a:uFillTx/>
              <a:latin typeface="Arial"/>
            </a:endParaRPr>
          </a:p>
        </p:txBody>
      </p:sp>
      <p:sp>
        <p:nvSpPr>
          <p:cNvPr id="78" name="Text 12"/>
          <p:cNvSpPr/>
          <p:nvPr/>
        </p:nvSpPr>
        <p:spPr>
          <a:xfrm>
            <a:off x="840600" y="6290640"/>
            <a:ext cx="3740400" cy="108648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تحسن في التفاعل، زيادة في كفاءة الخدمات، وتحسين الصورة الذهنية للمؤسسة</a:t>
            </a:r>
            <a:endParaRPr lang="en-US" sz="2000" b="0" u="none" strike="noStrike">
              <a:solidFill>
                <a:srgbClr val="000000"/>
              </a:solidFill>
              <a:effectLst/>
              <a:uFillTx/>
              <a:latin typeface="Arial"/>
            </a:endParaRPr>
          </a:p>
        </p:txBody>
      </p:sp>
      <p:sp>
        <p:nvSpPr>
          <p:cNvPr id="79" name="TextBox 1"/>
          <p:cNvSpPr/>
          <p:nvPr/>
        </p:nvSpPr>
        <p:spPr>
          <a:xfrm>
            <a:off x="5220000" y="1080000"/>
            <a:ext cx="4645440" cy="609480"/>
          </a:xfrm>
          <a:prstGeom prst="rect">
            <a:avLst/>
          </a:prstGeom>
          <a:noFill/>
          <a:ln w="0">
            <a:solidFill>
              <a:srgbClr val="B5B5B5"/>
            </a:solidFill>
            <a:prstDash val="dash"/>
          </a:ln>
        </p:spPr>
        <p:style>
          <a:lnRef idx="0"/>
          <a:fillRef idx="0"/>
          <a:effectRef idx="0"/>
          <a:fontRef idx="minor"/>
        </p:style>
        <p:txBody>
          <a:bodyPr lIns="0" tIns="0" rIns="0" bIns="0" anchor="t">
            <a:spAutoFit/>
          </a:bodyPr>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a:t>
            </a:r>
            <a:r>
              <a:rPr lang="en-US" sz="2000" b="1" u="none" strike="noStrike">
                <a:solidFill>
                  <a:srgbClr val="0048CD"/>
                </a:solidFill>
                <a:effectLst/>
                <a:uFillTx/>
                <a:latin typeface="Arial Rounded MT Bold"/>
                <a:ea typeface="DejaVu Sans"/>
              </a:rPr>
              <a:t> </a:t>
            </a:r>
            <a:endParaRPr lang="en-US" sz="2000" b="0" u="none" strike="noStrike">
              <a:solidFill>
                <a:srgbClr val="000000"/>
              </a:solidFill>
              <a:effectLst/>
              <a:uFillTx/>
              <a:latin typeface="Arial"/>
            </a:endParaRPr>
          </a:p>
        </p:txBody>
      </p:sp>
      <p:sp>
        <p:nvSpPr>
          <p:cNvPr id="80" name="TextBox 3"/>
          <p:cNvSpPr/>
          <p:nvPr/>
        </p:nvSpPr>
        <p:spPr>
          <a:xfrm>
            <a:off x="2196000" y="2160000"/>
            <a:ext cx="10174320" cy="10954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a:t>
            </a:r>
            <a:r>
              <a:rPr lang="en-US" sz="4800" b="1" u="none" strike="noStrike">
                <a:solidFill>
                  <a:srgbClr val="0048CD"/>
                </a:solidFill>
                <a:effectLst/>
                <a:uFillTx/>
                <a:latin typeface="Amiri"/>
                <a:ea typeface="DejaVu Sans"/>
              </a:rPr>
              <a:t>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81" name="Picture 1"/>
          <p:cNvPicPr/>
          <p:nvPr/>
        </p:nvPicPr>
        <p:blipFill>
          <a:blip r:embed="rId7"/>
          <a:stretch/>
        </p:blipFill>
        <p:spPr>
          <a:xfrm>
            <a:off x="13257360" y="187560"/>
            <a:ext cx="780840" cy="710640"/>
          </a:xfrm>
          <a:prstGeom prst="rect">
            <a:avLst/>
          </a:prstGeom>
          <a:noFill/>
          <a:ln w="0">
            <a:noFill/>
          </a:ln>
        </p:spPr>
      </p:pic>
      <p:pic>
        <p:nvPicPr>
          <p:cNvPr id="82" name="Picture 2"/>
          <p:cNvPicPr/>
          <p:nvPr/>
        </p:nvPicPr>
        <p:blipFill>
          <a:blip r:embed="rId8"/>
          <a:stretch/>
        </p:blipFill>
        <p:spPr>
          <a:xfrm>
            <a:off x="313200" y="25704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Image 0" descr="preencoded.png"/>
          <p:cNvPicPr/>
          <p:nvPr/>
        </p:nvPicPr>
        <p:blipFill>
          <a:blip r:embed="rId1"/>
          <a:stretch/>
        </p:blipFill>
        <p:spPr>
          <a:xfrm>
            <a:off x="0" y="0"/>
            <a:ext cx="5484240" cy="8227440"/>
          </a:xfrm>
          <a:prstGeom prst="rect">
            <a:avLst/>
          </a:prstGeom>
          <a:noFill/>
          <a:ln w="0">
            <a:noFill/>
          </a:ln>
        </p:spPr>
      </p:pic>
      <p:sp>
        <p:nvSpPr>
          <p:cNvPr id="84" name="Text 0"/>
          <p:cNvSpPr/>
          <p:nvPr/>
        </p:nvSpPr>
        <p:spPr>
          <a:xfrm>
            <a:off x="7947360" y="767160"/>
            <a:ext cx="588708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450" b="0" u="none" strike="noStrike">
                <a:solidFill>
                  <a:srgbClr val="233E32"/>
                </a:solidFill>
                <a:effectLst/>
                <a:uFillTx/>
                <a:latin typeface="Amiri"/>
                <a:cs typeface="Amiri"/>
              </a:rPr>
              <a:t>التحديات في الموقع القديم</a:t>
            </a:r>
            <a:endParaRPr lang="en-US" sz="4450" b="0" u="none" strike="noStrike">
              <a:solidFill>
                <a:srgbClr val="000000"/>
              </a:solidFill>
              <a:effectLst/>
              <a:uFillTx/>
              <a:latin typeface="Arial"/>
            </a:endParaRPr>
          </a:p>
        </p:txBody>
      </p:sp>
      <p:sp>
        <p:nvSpPr>
          <p:cNvPr id="85" name="Shape 1"/>
          <p:cNvSpPr/>
          <p:nvPr/>
        </p:nvSpPr>
        <p:spPr>
          <a:xfrm>
            <a:off x="6280200" y="1816200"/>
            <a:ext cx="7554240" cy="1728720"/>
          </a:xfrm>
          <a:prstGeom prst="roundRect">
            <a:avLst>
              <a:gd name="adj" fmla="val 1966"/>
            </a:avLst>
          </a:prstGeom>
          <a:solidFill>
            <a:srgbClr val="FCFBF8"/>
          </a:solidFill>
          <a:ln w="30480">
            <a:solidFill>
              <a:srgbClr val="3465A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Shape 2"/>
          <p:cNvSpPr/>
          <p:nvPr/>
        </p:nvSpPr>
        <p:spPr>
          <a:xfrm>
            <a:off x="6280200" y="1816200"/>
            <a:ext cx="119880" cy="1728720"/>
          </a:xfrm>
          <a:prstGeom prst="rect">
            <a:avLst/>
          </a:prstGeom>
          <a:solidFill>
            <a:srgbClr val="3465A4"/>
          </a:solidFill>
          <a:ln w="0">
            <a:noFill/>
          </a:ln>
        </p:spPr>
        <p:style>
          <a:lnRef idx="0"/>
          <a:fillRef idx="0"/>
          <a:effectRef idx="0"/>
          <a:fontRef idx="minor"/>
        </p:style>
        <p:txBody>
          <a:bodyPr lIns="60120" tIns="45000" rIns="60120" bIns="45000" anchor="t">
            <a:noAutofit/>
          </a:bodyPr>
          <a:p>
            <a:endParaRPr lang="en-US" sz="1800" b="0" u="none" strike="noStrike">
              <a:solidFill>
                <a:srgbClr val="FFFFFF"/>
              </a:solidFill>
              <a:effectLst/>
              <a:uFillTx/>
              <a:latin typeface="Arial"/>
            </a:endParaRPr>
          </a:p>
        </p:txBody>
      </p:sp>
      <p:sp>
        <p:nvSpPr>
          <p:cNvPr id="87" name="Text 3"/>
          <p:cNvSpPr/>
          <p:nvPr/>
        </p:nvSpPr>
        <p:spPr>
          <a:xfrm>
            <a:off x="10652760" y="207360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600" b="0" u="none" strike="noStrike">
                <a:solidFill>
                  <a:srgbClr val="2C2821"/>
                </a:solidFill>
                <a:effectLst/>
                <a:uFillTx/>
                <a:latin typeface="Amiri"/>
                <a:cs typeface="Amiri"/>
              </a:rPr>
              <a:t>ضعف التصميم البصري</a:t>
            </a:r>
            <a:endParaRPr lang="en-US" sz="2600" b="0" u="none" strike="noStrike">
              <a:solidFill>
                <a:srgbClr val="000000"/>
              </a:solidFill>
              <a:effectLst/>
              <a:uFillTx/>
              <a:latin typeface="Arial"/>
            </a:endParaRPr>
          </a:p>
        </p:txBody>
      </p:sp>
      <p:sp>
        <p:nvSpPr>
          <p:cNvPr id="88" name="Text 4"/>
          <p:cNvSpPr/>
          <p:nvPr/>
        </p:nvSpPr>
        <p:spPr>
          <a:xfrm>
            <a:off x="6537600" y="2563920"/>
            <a:ext cx="6948360" cy="723600"/>
          </a:xfrm>
          <a:prstGeom prst="rect">
            <a:avLst/>
          </a:prstGeom>
          <a:noFill/>
          <a:ln w="0">
            <a:noFill/>
          </a:ln>
        </p:spPr>
        <p:style>
          <a:lnRef idx="0"/>
          <a:fillRef idx="0"/>
          <a:effectRef idx="0"/>
          <a:fontRef idx="minor"/>
        </p:style>
        <p:txBody>
          <a:bodyPr lIns="0" tIns="0" rIns="0" bIns="0" anchor="t" anchorCtr="1">
            <a:noAutofit/>
          </a:bodyPr>
          <a:p>
            <a:pPr algn="r" rtl="1">
              <a:lnSpc>
                <a:spcPct val="115000"/>
              </a:lnSpc>
              <a:spcBef>
                <a:spcPts val="283"/>
              </a:spcBef>
              <a:spcAft>
                <a:spcPts val="283"/>
              </a:spcAft>
              <a:tabLst>
                <a:tab pos="0" algn="l"/>
              </a:tabLst>
            </a:pPr>
            <a:r>
              <a:rPr lang="ar-EG" sz="2000" b="0" u="none" strike="noStrike">
                <a:solidFill>
                  <a:srgbClr val="2C2821"/>
                </a:solidFill>
                <a:effectLst/>
                <a:uFillTx/>
                <a:latin typeface="Amiri"/>
                <a:cs typeface="Amiri"/>
              </a:rPr>
              <a:t>واجهة تقليدية تفتقر إلى التنظيم البصري الحديث، مما يصعّب على المستخدمين العثور على المعلومات بسرعة</a:t>
            </a:r>
            <a:endParaRPr lang="en-US" sz="2000" b="0" u="none" strike="noStrike">
              <a:solidFill>
                <a:srgbClr val="000000"/>
              </a:solidFill>
              <a:effectLst/>
              <a:uFillTx/>
              <a:latin typeface="Arial"/>
            </a:endParaRPr>
          </a:p>
        </p:txBody>
      </p:sp>
      <p:sp>
        <p:nvSpPr>
          <p:cNvPr id="89" name="Shape 5"/>
          <p:cNvSpPr/>
          <p:nvPr/>
        </p:nvSpPr>
        <p:spPr>
          <a:xfrm>
            <a:off x="6280200" y="3773880"/>
            <a:ext cx="7554240" cy="1728720"/>
          </a:xfrm>
          <a:prstGeom prst="roundRect">
            <a:avLst>
              <a:gd name="adj" fmla="val 1966"/>
            </a:avLst>
          </a:prstGeom>
          <a:solidFill>
            <a:srgbClr val="FCFBF8"/>
          </a:solidFill>
          <a:ln w="30480">
            <a:solidFill>
              <a:srgbClr val="3465A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 name="Shape 6"/>
          <p:cNvSpPr/>
          <p:nvPr/>
        </p:nvSpPr>
        <p:spPr>
          <a:xfrm>
            <a:off x="6280200" y="3773880"/>
            <a:ext cx="119880" cy="1728720"/>
          </a:xfrm>
          <a:prstGeom prst="rect">
            <a:avLst/>
          </a:prstGeom>
          <a:solidFill>
            <a:srgbClr val="3465A4"/>
          </a:solidFill>
          <a:ln w="0">
            <a:noFill/>
          </a:ln>
        </p:spPr>
        <p:style>
          <a:lnRef idx="0"/>
          <a:fillRef idx="0"/>
          <a:effectRef idx="0"/>
          <a:fontRef idx="minor"/>
        </p:style>
        <p:txBody>
          <a:bodyPr lIns="60120" tIns="45000" rIns="60120" bIns="45000" anchor="t">
            <a:noAutofit/>
          </a:bodyPr>
          <a:p>
            <a:endParaRPr lang="en-US" sz="1800" b="0" u="none" strike="noStrike">
              <a:solidFill>
                <a:srgbClr val="FFFFFF"/>
              </a:solidFill>
              <a:effectLst/>
              <a:uFillTx/>
              <a:latin typeface="Arial"/>
            </a:endParaRPr>
          </a:p>
        </p:txBody>
      </p:sp>
      <p:sp>
        <p:nvSpPr>
          <p:cNvPr id="91" name="Text 7"/>
          <p:cNvSpPr/>
          <p:nvPr/>
        </p:nvSpPr>
        <p:spPr>
          <a:xfrm>
            <a:off x="10652760" y="403092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600" b="0" u="none" strike="noStrike">
                <a:solidFill>
                  <a:srgbClr val="2C2821"/>
                </a:solidFill>
                <a:effectLst/>
                <a:uFillTx/>
                <a:latin typeface="Amiri"/>
                <a:cs typeface="Amiri"/>
              </a:rPr>
              <a:t>بطء شديد في الأداء</a:t>
            </a:r>
            <a:endParaRPr lang="en-US" sz="2600" b="0" u="none" strike="noStrike">
              <a:solidFill>
                <a:srgbClr val="000000"/>
              </a:solidFill>
              <a:effectLst/>
              <a:uFillTx/>
              <a:latin typeface="Arial"/>
            </a:endParaRPr>
          </a:p>
        </p:txBody>
      </p:sp>
      <p:sp>
        <p:nvSpPr>
          <p:cNvPr id="92" name="Text 8"/>
          <p:cNvSpPr/>
          <p:nvPr/>
        </p:nvSpPr>
        <p:spPr>
          <a:xfrm>
            <a:off x="8377200" y="4582440"/>
            <a:ext cx="5212080" cy="681120"/>
          </a:xfrm>
          <a:prstGeom prst="rect">
            <a:avLst/>
          </a:prstGeom>
          <a:noFill/>
          <a:ln w="0">
            <a:noFill/>
          </a:ln>
        </p:spPr>
        <p:style>
          <a:lnRef idx="0"/>
          <a:fillRef idx="0"/>
          <a:effectRef idx="0"/>
          <a:fontRef idx="minor"/>
        </p:style>
        <p:txBody>
          <a:bodyPr wrap="none" lIns="0" tIns="0" rIns="0" bIns="0" anchor="ctr" anchorCtr="1">
            <a:spAutoFit/>
          </a:bodyPr>
          <a:p>
            <a:pPr algn="r" rtl="1">
              <a:lnSpc>
                <a:spcPct val="100000"/>
              </a:lnSpc>
              <a:spcBef>
                <a:spcPts val="283"/>
              </a:spcBef>
              <a:spcAft>
                <a:spcPts val="283"/>
              </a:spcAft>
              <a:tabLst>
                <a:tab pos="0" algn="l"/>
              </a:tabLst>
            </a:pPr>
            <a:r>
              <a:rPr lang="ar-EG" sz="2000" b="0" u="none" strike="noStrike">
                <a:solidFill>
                  <a:srgbClr val="2C2821"/>
                </a:solidFill>
                <a:effectLst/>
                <a:uFillTx/>
                <a:latin typeface="Amiri"/>
                <a:cs typeface="Amiri"/>
              </a:rPr>
              <a:t>زمن تحميل الصفحة يتراوح بين </a:t>
            </a:r>
            <a:r>
              <a:rPr lang="en-US" sz="2000" b="0" u="none" strike="noStrike">
                <a:solidFill>
                  <a:srgbClr val="2C2821"/>
                </a:solidFill>
                <a:effectLst/>
                <a:uFillTx/>
                <a:latin typeface="Amiri"/>
              </a:rPr>
              <a:t>3</a:t>
            </a:r>
            <a:r>
              <a:rPr lang="en-US" sz="2000" b="0" u="none" strike="noStrike">
                <a:solidFill>
                  <a:srgbClr val="2C2821"/>
                </a:solidFill>
                <a:effectLst/>
                <a:uFillTx/>
                <a:latin typeface="Amiri"/>
              </a:rPr>
              <a:t>-</a:t>
            </a:r>
            <a:r>
              <a:rPr lang="en-US" sz="2000" b="0" u="none" strike="noStrike">
                <a:solidFill>
                  <a:srgbClr val="2C2821"/>
                </a:solidFill>
                <a:effectLst/>
                <a:uFillTx/>
                <a:latin typeface="Amiri"/>
              </a:rPr>
              <a:t>5</a:t>
            </a:r>
            <a:r>
              <a:rPr lang="en-US" sz="2000" b="0" u="none" strike="noStrike">
                <a:solidFill>
                  <a:srgbClr val="2C2821"/>
                </a:solidFill>
                <a:effectLst/>
                <a:uFillTx/>
                <a:latin typeface="Amiri"/>
              </a:rPr>
              <a:t> ثوانٍ، </a:t>
            </a:r>
            <a:endParaRPr lang="en-US" sz="2000" b="0" u="none" strike="noStrike">
              <a:solidFill>
                <a:srgbClr val="000000"/>
              </a:solidFill>
              <a:effectLst/>
              <a:uFillTx/>
              <a:latin typeface="Arial"/>
            </a:endParaRPr>
          </a:p>
          <a:p>
            <a:pPr algn="r" rtl="1">
              <a:lnSpc>
                <a:spcPct val="100000"/>
              </a:lnSpc>
              <a:spcBef>
                <a:spcPts val="283"/>
              </a:spcBef>
              <a:spcAft>
                <a:spcPts val="283"/>
              </a:spcAft>
              <a:tabLst>
                <a:tab pos="0" algn="l"/>
              </a:tabLst>
            </a:pPr>
            <a:r>
              <a:rPr lang="ar-EG" sz="2000" b="0" u="none" strike="noStrike">
                <a:solidFill>
                  <a:srgbClr val="2C2821"/>
                </a:solidFill>
                <a:effectLst/>
                <a:uFillTx/>
                <a:latin typeface="Amiri"/>
                <a:cs typeface="Amiri"/>
              </a:rPr>
              <a:t>مما يؤدي إلى ارتفاع معدل الارتداد وانخفاض معدلات التحويل</a:t>
            </a:r>
            <a:endParaRPr lang="en-US" sz="2000" b="0" u="none" strike="noStrike">
              <a:solidFill>
                <a:srgbClr val="000000"/>
              </a:solidFill>
              <a:effectLst/>
              <a:uFillTx/>
              <a:latin typeface="Arial"/>
            </a:endParaRPr>
          </a:p>
        </p:txBody>
      </p:sp>
      <p:sp>
        <p:nvSpPr>
          <p:cNvPr id="93" name="Shape 9"/>
          <p:cNvSpPr/>
          <p:nvPr/>
        </p:nvSpPr>
        <p:spPr>
          <a:xfrm>
            <a:off x="6280200" y="5731560"/>
            <a:ext cx="7554240" cy="1728720"/>
          </a:xfrm>
          <a:prstGeom prst="roundRect">
            <a:avLst>
              <a:gd name="adj" fmla="val 1966"/>
            </a:avLst>
          </a:prstGeom>
          <a:solidFill>
            <a:srgbClr val="FCFBF8"/>
          </a:solidFill>
          <a:ln w="30480">
            <a:solidFill>
              <a:srgbClr val="3465A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Shape 10"/>
          <p:cNvSpPr/>
          <p:nvPr/>
        </p:nvSpPr>
        <p:spPr>
          <a:xfrm>
            <a:off x="6280200" y="5731560"/>
            <a:ext cx="119880" cy="1728720"/>
          </a:xfrm>
          <a:prstGeom prst="rect">
            <a:avLst/>
          </a:prstGeom>
          <a:solidFill>
            <a:srgbClr val="3465A4"/>
          </a:solidFill>
          <a:ln w="0">
            <a:noFill/>
          </a:ln>
        </p:spPr>
        <p:style>
          <a:lnRef idx="0"/>
          <a:fillRef idx="0"/>
          <a:effectRef idx="0"/>
          <a:fontRef idx="minor"/>
        </p:style>
        <p:txBody>
          <a:bodyPr lIns="60120" tIns="45000" rIns="60120" bIns="45000" anchor="t">
            <a:noAutofit/>
          </a:bodyPr>
          <a:p>
            <a:endParaRPr lang="en-US" sz="1800" b="0" u="none" strike="noStrike">
              <a:solidFill>
                <a:srgbClr val="FFFFFF"/>
              </a:solidFill>
              <a:effectLst/>
              <a:uFillTx/>
              <a:latin typeface="Arial"/>
            </a:endParaRPr>
          </a:p>
        </p:txBody>
      </p:sp>
      <p:sp>
        <p:nvSpPr>
          <p:cNvPr id="95" name="Text 11"/>
          <p:cNvSpPr/>
          <p:nvPr/>
        </p:nvSpPr>
        <p:spPr>
          <a:xfrm>
            <a:off x="10652760" y="598860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600" b="0" u="none" strike="noStrike">
                <a:solidFill>
                  <a:srgbClr val="2C2821"/>
                </a:solidFill>
                <a:effectLst/>
                <a:uFillTx/>
                <a:latin typeface="Amiri"/>
                <a:cs typeface="Amiri"/>
              </a:rPr>
              <a:t>عدم التوافق مع الموبايل</a:t>
            </a:r>
            <a:endParaRPr lang="en-US" sz="2600" b="0" u="none" strike="noStrike">
              <a:solidFill>
                <a:srgbClr val="000000"/>
              </a:solidFill>
              <a:effectLst/>
              <a:uFillTx/>
              <a:latin typeface="Arial"/>
            </a:endParaRPr>
          </a:p>
        </p:txBody>
      </p:sp>
      <p:sp>
        <p:nvSpPr>
          <p:cNvPr id="96" name="Text 12"/>
          <p:cNvSpPr/>
          <p:nvPr/>
        </p:nvSpPr>
        <p:spPr>
          <a:xfrm>
            <a:off x="6537600" y="6479280"/>
            <a:ext cx="694836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تصميم غير متجاوب يخلق تجربة سيئة للمستخدمين على الهواتف الذكية، التي تمثل </a:t>
            </a:r>
            <a:r>
              <a:rPr lang="en-US" sz="2000" b="0" u="none" strike="noStrike">
                <a:solidFill>
                  <a:srgbClr val="2C2821"/>
                </a:solidFill>
                <a:effectLst/>
                <a:uFillTx/>
                <a:latin typeface="Amiri"/>
                <a:ea typeface="Lora"/>
              </a:rPr>
              <a:t>60</a:t>
            </a:r>
            <a:r>
              <a:rPr lang="en-US" sz="2000" b="0" u="none" strike="noStrike">
                <a:solidFill>
                  <a:srgbClr val="2C2821"/>
                </a:solidFill>
                <a:effectLst/>
                <a:uFillTx/>
                <a:latin typeface="Amiri"/>
                <a:ea typeface="Lora"/>
              </a:rPr>
              <a:t>% من الزوار</a:t>
            </a:r>
            <a:endParaRPr lang="en-US" sz="2000" b="0" u="none" strike="noStrike">
              <a:solidFill>
                <a:srgbClr val="000000"/>
              </a:solidFill>
              <a:effectLst/>
              <a:uFillTx/>
              <a:latin typeface="Arial"/>
            </a:endParaRPr>
          </a:p>
        </p:txBody>
      </p:sp>
      <p:pic>
        <p:nvPicPr>
          <p:cNvPr id="97" name="Picture 22"/>
          <p:cNvPicPr/>
          <p:nvPr/>
        </p:nvPicPr>
        <p:blipFill>
          <a:blip r:embed="rId2"/>
          <a:stretch/>
        </p:blipFill>
        <p:spPr>
          <a:xfrm>
            <a:off x="13257360" y="187920"/>
            <a:ext cx="780840" cy="710640"/>
          </a:xfrm>
          <a:prstGeom prst="rect">
            <a:avLst/>
          </a:prstGeom>
          <a:noFill/>
          <a:ln w="0">
            <a:noFill/>
          </a:ln>
        </p:spPr>
      </p:pic>
      <p:pic>
        <p:nvPicPr>
          <p:cNvPr id="98" name="Picture 23"/>
          <p:cNvPicPr/>
          <p:nvPr/>
        </p:nvPicPr>
        <p:blipFill>
          <a:blip r:embed="rId3"/>
          <a:stretch/>
        </p:blipFill>
        <p:spPr>
          <a:xfrm>
            <a:off x="5785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Image 0" descr="preencoded.png"/>
          <p:cNvPicPr/>
          <p:nvPr/>
        </p:nvPicPr>
        <p:blipFill>
          <a:blip r:embed="rId1"/>
          <a:stretch/>
        </p:blipFill>
        <p:spPr>
          <a:xfrm>
            <a:off x="9144000" y="0"/>
            <a:ext cx="5484240" cy="8227440"/>
          </a:xfrm>
          <a:prstGeom prst="rect">
            <a:avLst/>
          </a:prstGeom>
          <a:noFill/>
          <a:ln w="0">
            <a:noFill/>
          </a:ln>
        </p:spPr>
      </p:pic>
      <p:sp>
        <p:nvSpPr>
          <p:cNvPr id="100" name="Text 0"/>
          <p:cNvSpPr/>
          <p:nvPr/>
        </p:nvSpPr>
        <p:spPr>
          <a:xfrm>
            <a:off x="793800" y="1707480"/>
            <a:ext cx="7554240" cy="1415520"/>
          </a:xfrm>
          <a:prstGeom prst="rect">
            <a:avLst/>
          </a:prstGeom>
          <a:noFill/>
          <a:ln w="0">
            <a:noFill/>
          </a:ln>
        </p:spPr>
        <p:style>
          <a:lnRef idx="0"/>
          <a:fillRef idx="0"/>
          <a:effectRef idx="0"/>
          <a:fontRef idx="minor"/>
        </p:style>
        <p:txBody>
          <a:bodyPr lIns="0" tIns="0" rIns="0" bIns="0" anchor="t">
            <a:noAutofit/>
          </a:bodyPr>
          <a:p>
            <a:pPr algn="r" rtl="1">
              <a:lnSpc>
                <a:spcPts val="5550"/>
              </a:lnSpc>
              <a:tabLst>
                <a:tab pos="0" algn="l"/>
              </a:tabLst>
            </a:pPr>
            <a:r>
              <a:rPr lang="ar-EG" sz="4450" b="0" u="none" strike="noStrike">
                <a:solidFill>
                  <a:srgbClr val="233E32"/>
                </a:solidFill>
                <a:effectLst/>
                <a:uFillTx/>
                <a:latin typeface="Amiri"/>
                <a:cs typeface="Amiri"/>
              </a:rPr>
              <a:t>المقارنة البصرية: التحول في الواجهة</a:t>
            </a:r>
            <a:endParaRPr lang="en-US" sz="4450" b="0" u="none" strike="noStrike">
              <a:solidFill>
                <a:srgbClr val="000000"/>
              </a:solidFill>
              <a:effectLst/>
              <a:uFillTx/>
              <a:latin typeface="Arial"/>
            </a:endParaRPr>
          </a:p>
        </p:txBody>
      </p:sp>
      <p:sp>
        <p:nvSpPr>
          <p:cNvPr id="101" name="Shape 1"/>
          <p:cNvSpPr/>
          <p:nvPr/>
        </p:nvSpPr>
        <p:spPr>
          <a:xfrm>
            <a:off x="7840080" y="3465000"/>
            <a:ext cx="508320" cy="508320"/>
          </a:xfrm>
          <a:prstGeom prst="roundRect">
            <a:avLst>
              <a:gd name="adj" fmla="val 6667"/>
            </a:avLst>
          </a:prstGeom>
          <a:solidFill>
            <a:srgbClr val="F0EDE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Text 2"/>
          <p:cNvSpPr/>
          <p:nvPr/>
        </p:nvSpPr>
        <p:spPr>
          <a:xfrm>
            <a:off x="7925040" y="3507480"/>
            <a:ext cx="338040" cy="423000"/>
          </a:xfrm>
          <a:prstGeom prst="rect">
            <a:avLst/>
          </a:prstGeom>
          <a:noFill/>
          <a:ln w="0">
            <a:noFill/>
          </a:ln>
        </p:spPr>
        <p:style>
          <a:lnRef idx="0"/>
          <a:fillRef idx="0"/>
          <a:effectRef idx="0"/>
          <a:fontRef idx="minor"/>
        </p:style>
        <p:txBody>
          <a:bodyPr wrap="none" lIns="0" tIns="0" rIns="0" bIns="0" anchor="t">
            <a:noAutofit/>
          </a:bodyPr>
          <a:p>
            <a:pPr algn="ctr" rtl="1">
              <a:lnSpc>
                <a:spcPts val="2650"/>
              </a:lnSpc>
              <a:tabLst>
                <a:tab pos="0" algn="l"/>
              </a:tabLst>
            </a:pPr>
            <a:r>
              <a:rPr lang="en-US" sz="2650" b="0" u="none" strike="noStrike">
                <a:solidFill>
                  <a:srgbClr val="2C2821"/>
                </a:solidFill>
                <a:effectLst/>
                <a:uFillTx/>
                <a:latin typeface="Alice"/>
                <a:ea typeface="Alice"/>
              </a:rPr>
              <a:t>1</a:t>
            </a:r>
            <a:endParaRPr lang="en-US" sz="2650" b="0" u="none" strike="noStrike">
              <a:solidFill>
                <a:srgbClr val="000000"/>
              </a:solidFill>
              <a:effectLst/>
              <a:uFillTx/>
              <a:latin typeface="Arial"/>
            </a:endParaRPr>
          </a:p>
        </p:txBody>
      </p:sp>
      <p:sp>
        <p:nvSpPr>
          <p:cNvPr id="103" name="Text 3"/>
          <p:cNvSpPr/>
          <p:nvPr/>
        </p:nvSpPr>
        <p:spPr>
          <a:xfrm>
            <a:off x="4777920" y="3543120"/>
            <a:ext cx="2833200" cy="3596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en-US" sz="2600" b="0" u="none" strike="noStrike">
                <a:solidFill>
                  <a:srgbClr val="000000"/>
                </a:solidFill>
                <a:effectLst/>
                <a:uFillTx/>
                <a:latin typeface="Amiri"/>
                <a:ea typeface="Alice"/>
              </a:rPr>
              <a:t>❌</a:t>
            </a:r>
            <a:r>
              <a:rPr lang="en-US" sz="2600" b="0" u="none" strike="noStrike">
                <a:solidFill>
                  <a:srgbClr val="2C2821"/>
                </a:solidFill>
                <a:effectLst/>
                <a:uFillTx/>
                <a:latin typeface="Amiri"/>
                <a:ea typeface="Alice"/>
              </a:rPr>
              <a:t> </a:t>
            </a:r>
            <a:r>
              <a:rPr lang="ar-EG" sz="3600" b="0" u="none" strike="noStrike">
                <a:solidFill>
                  <a:srgbClr val="000000"/>
                </a:solidFill>
                <a:effectLst/>
                <a:uFillTx/>
                <a:latin typeface="Traditional Arabic"/>
                <a:cs typeface="Traditional Arabic"/>
              </a:rPr>
              <a:t>الموقع</a:t>
            </a:r>
            <a:r>
              <a:rPr lang="en-US" sz="2600" b="0" u="none" strike="noStrike">
                <a:solidFill>
                  <a:srgbClr val="2C2821"/>
                </a:solidFill>
                <a:effectLst/>
                <a:uFillTx/>
                <a:latin typeface="Amiri"/>
                <a:ea typeface="Alice"/>
              </a:rPr>
              <a:t> </a:t>
            </a:r>
            <a:r>
              <a:rPr lang="ar-EG" sz="3600" b="0" u="none" strike="noStrike">
                <a:solidFill>
                  <a:srgbClr val="000000"/>
                </a:solidFill>
                <a:effectLst/>
                <a:uFillTx/>
                <a:latin typeface="Traditional Arabic"/>
                <a:cs typeface="Traditional Arabic"/>
              </a:rPr>
              <a:t>القديم</a:t>
            </a:r>
            <a:endParaRPr lang="en-US" sz="3600" b="0" u="none" strike="noStrike">
              <a:solidFill>
                <a:srgbClr val="000000"/>
              </a:solidFill>
              <a:effectLst/>
              <a:uFillTx/>
              <a:latin typeface="Arial"/>
            </a:endParaRPr>
          </a:p>
        </p:txBody>
      </p:sp>
      <p:sp>
        <p:nvSpPr>
          <p:cNvPr id="104" name="Text 4"/>
          <p:cNvSpPr/>
          <p:nvPr/>
        </p:nvSpPr>
        <p:spPr>
          <a:xfrm>
            <a:off x="793800" y="4041000"/>
            <a:ext cx="681732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400" b="0" u="none" strike="noStrike">
                <a:solidFill>
                  <a:srgbClr val="2C2821"/>
                </a:solidFill>
                <a:effectLst/>
                <a:uFillTx/>
                <a:latin typeface="Amiri"/>
                <a:cs typeface="Amiri"/>
              </a:rPr>
              <a:t>تصميم متشتت، ألوان غير متناسقة، تسلسل هرمي غير واضح، صعوبة في التنقل والوصول للمحتوى المطلوب</a:t>
            </a:r>
            <a:endParaRPr lang="en-US" sz="2400" b="0" u="none" strike="noStrike">
              <a:solidFill>
                <a:srgbClr val="000000"/>
              </a:solidFill>
              <a:effectLst/>
              <a:uFillTx/>
              <a:latin typeface="Arial"/>
            </a:endParaRPr>
          </a:p>
        </p:txBody>
      </p:sp>
      <p:sp>
        <p:nvSpPr>
          <p:cNvPr id="105" name="Shape 5"/>
          <p:cNvSpPr/>
          <p:nvPr/>
        </p:nvSpPr>
        <p:spPr>
          <a:xfrm>
            <a:off x="7840080" y="5220360"/>
            <a:ext cx="508320" cy="508320"/>
          </a:xfrm>
          <a:prstGeom prst="roundRect">
            <a:avLst>
              <a:gd name="adj" fmla="val 6667"/>
            </a:avLst>
          </a:prstGeom>
          <a:solidFill>
            <a:srgbClr val="F0EDE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Text 6"/>
          <p:cNvSpPr/>
          <p:nvPr/>
        </p:nvSpPr>
        <p:spPr>
          <a:xfrm>
            <a:off x="7925040" y="5262840"/>
            <a:ext cx="338040" cy="423000"/>
          </a:xfrm>
          <a:prstGeom prst="rect">
            <a:avLst/>
          </a:prstGeom>
          <a:noFill/>
          <a:ln w="0">
            <a:noFill/>
          </a:ln>
        </p:spPr>
        <p:style>
          <a:lnRef idx="0"/>
          <a:fillRef idx="0"/>
          <a:effectRef idx="0"/>
          <a:fontRef idx="minor"/>
        </p:style>
        <p:txBody>
          <a:bodyPr wrap="none" lIns="0" tIns="0" rIns="0" bIns="0" anchor="t">
            <a:noAutofit/>
          </a:bodyPr>
          <a:p>
            <a:pPr algn="ctr" rtl="1">
              <a:lnSpc>
                <a:spcPts val="2650"/>
              </a:lnSpc>
              <a:tabLst>
                <a:tab pos="0" algn="l"/>
              </a:tabLst>
            </a:pPr>
            <a:r>
              <a:rPr lang="en-US" sz="2650" b="0" u="none" strike="noStrike">
                <a:solidFill>
                  <a:srgbClr val="2C2821"/>
                </a:solidFill>
                <a:effectLst/>
                <a:uFillTx/>
                <a:latin typeface="Alice"/>
                <a:ea typeface="Alice"/>
              </a:rPr>
              <a:t>2</a:t>
            </a:r>
            <a:endParaRPr lang="en-US" sz="2650" b="0" u="none" strike="noStrike">
              <a:solidFill>
                <a:srgbClr val="000000"/>
              </a:solidFill>
              <a:effectLst/>
              <a:uFillTx/>
              <a:latin typeface="Arial"/>
            </a:endParaRPr>
          </a:p>
        </p:txBody>
      </p:sp>
      <p:sp>
        <p:nvSpPr>
          <p:cNvPr id="107" name="Text 7"/>
          <p:cNvSpPr/>
          <p:nvPr/>
        </p:nvSpPr>
        <p:spPr>
          <a:xfrm>
            <a:off x="4777920" y="5298120"/>
            <a:ext cx="2833200" cy="3596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en-US" sz="3600" b="0" u="none" strike="noStrike">
                <a:solidFill>
                  <a:srgbClr val="000000"/>
                </a:solidFill>
                <a:effectLst/>
                <a:uFillTx/>
                <a:latin typeface="Traditional Arabic"/>
                <a:ea typeface="Alice"/>
              </a:rPr>
              <a:t>✅</a:t>
            </a:r>
            <a:r>
              <a:rPr lang="en-US" sz="3600" b="0" u="none" strike="noStrike">
                <a:solidFill>
                  <a:srgbClr val="2C2821"/>
                </a:solidFill>
                <a:effectLst/>
                <a:uFillTx/>
                <a:latin typeface="Traditional Arabic"/>
                <a:ea typeface="Alice"/>
              </a:rPr>
              <a:t> الموقع الجديد</a:t>
            </a:r>
            <a:endParaRPr lang="en-US" sz="3600" b="0" u="none" strike="noStrike">
              <a:solidFill>
                <a:srgbClr val="000000"/>
              </a:solidFill>
              <a:effectLst/>
              <a:uFillTx/>
              <a:latin typeface="Arial"/>
            </a:endParaRPr>
          </a:p>
        </p:txBody>
      </p:sp>
      <p:sp>
        <p:nvSpPr>
          <p:cNvPr id="108" name="Text 8"/>
          <p:cNvSpPr/>
          <p:nvPr/>
        </p:nvSpPr>
        <p:spPr>
          <a:xfrm>
            <a:off x="793800" y="5796360"/>
            <a:ext cx="681732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400" b="0" u="none" strike="noStrike">
                <a:solidFill>
                  <a:srgbClr val="2C2821"/>
                </a:solidFill>
                <a:effectLst/>
                <a:uFillTx/>
                <a:latin typeface="Amiri"/>
                <a:cs typeface="Amiri"/>
              </a:rPr>
              <a:t>تصميم عصري ومنظم، ألوان متناسقة، تسلسل هرمي واضح، سهولة في التنقل والوصول الفوري للمحتوى</a:t>
            </a:r>
            <a:endParaRPr lang="en-US" sz="2400" b="0" u="none" strike="noStrike">
              <a:solidFill>
                <a:srgbClr val="000000"/>
              </a:solidFill>
              <a:effectLst/>
              <a:uFillTx/>
              <a:latin typeface="Arial"/>
            </a:endParaRPr>
          </a:p>
        </p:txBody>
      </p:sp>
      <p:pic>
        <p:nvPicPr>
          <p:cNvPr id="109" name="Picture 20"/>
          <p:cNvPicPr/>
          <p:nvPr/>
        </p:nvPicPr>
        <p:blipFill>
          <a:blip r:embed="rId2"/>
          <a:stretch/>
        </p:blipFill>
        <p:spPr>
          <a:xfrm>
            <a:off x="7821360" y="187920"/>
            <a:ext cx="780840" cy="710640"/>
          </a:xfrm>
          <a:prstGeom prst="rect">
            <a:avLst/>
          </a:prstGeom>
          <a:noFill/>
          <a:ln w="0">
            <a:noFill/>
          </a:ln>
        </p:spPr>
      </p:pic>
      <p:pic>
        <p:nvPicPr>
          <p:cNvPr id="110" name="Picture 21"/>
          <p:cNvPicPr/>
          <p:nvPr/>
        </p:nvPicPr>
        <p:blipFill>
          <a:blip r:embed="rId3"/>
          <a:stretch/>
        </p:blipFill>
        <p:spPr>
          <a:xfrm>
            <a:off x="313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 0"/>
          <p:cNvSpPr/>
          <p:nvPr/>
        </p:nvSpPr>
        <p:spPr>
          <a:xfrm>
            <a:off x="8165880" y="2352960"/>
            <a:ext cx="566856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000" b="0" u="none" strike="noStrike">
                <a:solidFill>
                  <a:srgbClr val="233E32"/>
                </a:solidFill>
                <a:effectLst/>
                <a:uFillTx/>
                <a:latin typeface="Amiri"/>
                <a:cs typeface="Amiri"/>
              </a:rPr>
              <a:t>تحسن مذهل في الأداء</a:t>
            </a:r>
            <a:endParaRPr lang="en-US" sz="4000" b="0" u="none" strike="noStrike">
              <a:solidFill>
                <a:srgbClr val="000000"/>
              </a:solidFill>
              <a:effectLst/>
              <a:uFillTx/>
              <a:latin typeface="Arial"/>
            </a:endParaRPr>
          </a:p>
        </p:txBody>
      </p:sp>
      <p:sp>
        <p:nvSpPr>
          <p:cNvPr id="112" name="Text 1"/>
          <p:cNvSpPr/>
          <p:nvPr/>
        </p:nvSpPr>
        <p:spPr>
          <a:xfrm>
            <a:off x="10788480" y="3628800"/>
            <a:ext cx="3045960" cy="746280"/>
          </a:xfrm>
          <a:prstGeom prst="rect">
            <a:avLst/>
          </a:prstGeom>
          <a:noFill/>
          <a:ln w="0">
            <a:noFill/>
          </a:ln>
        </p:spPr>
        <p:style>
          <a:lnRef idx="0"/>
          <a:fillRef idx="0"/>
          <a:effectRef idx="0"/>
          <a:fontRef idx="minor"/>
        </p:style>
        <p:txBody>
          <a:bodyPr wrap="none" lIns="0" tIns="0" rIns="0" bIns="0" anchor="t">
            <a:noAutofit/>
          </a:bodyPr>
          <a:p>
            <a:pPr algn="ctr" rtl="1">
              <a:lnSpc>
                <a:spcPts val="5851"/>
              </a:lnSpc>
              <a:tabLst>
                <a:tab pos="0" algn="l"/>
              </a:tabLst>
            </a:pPr>
            <a:r>
              <a:rPr lang="en-US" sz="5850" b="0" u="none" strike="noStrike">
                <a:solidFill>
                  <a:srgbClr val="2C2821"/>
                </a:solidFill>
                <a:effectLst/>
                <a:uFillTx/>
                <a:latin typeface="Alice"/>
                <a:ea typeface="Alice"/>
              </a:rPr>
              <a:t>3.5s</a:t>
            </a:r>
            <a:endParaRPr lang="en-US" sz="5850" b="0" u="none" strike="noStrike">
              <a:solidFill>
                <a:srgbClr val="000000"/>
              </a:solidFill>
              <a:effectLst/>
              <a:uFillTx/>
              <a:latin typeface="Arial"/>
            </a:endParaRPr>
          </a:p>
        </p:txBody>
      </p:sp>
      <p:sp>
        <p:nvSpPr>
          <p:cNvPr id="113" name="Text 2"/>
          <p:cNvSpPr/>
          <p:nvPr/>
        </p:nvSpPr>
        <p:spPr>
          <a:xfrm>
            <a:off x="10895040" y="466056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0" u="none" strike="noStrike">
                <a:solidFill>
                  <a:srgbClr val="2C2821"/>
                </a:solidFill>
                <a:effectLst/>
                <a:uFillTx/>
                <a:latin typeface="Amiri"/>
                <a:cs typeface="Amiri"/>
              </a:rPr>
              <a:t>زمن التحميل القديم</a:t>
            </a:r>
            <a:endParaRPr lang="en-US" sz="2800" b="0" u="none" strike="noStrike">
              <a:solidFill>
                <a:srgbClr val="000000"/>
              </a:solidFill>
              <a:effectLst/>
              <a:uFillTx/>
              <a:latin typeface="Arial"/>
            </a:endParaRPr>
          </a:p>
        </p:txBody>
      </p:sp>
      <p:sp>
        <p:nvSpPr>
          <p:cNvPr id="114" name="Text 3"/>
          <p:cNvSpPr/>
          <p:nvPr/>
        </p:nvSpPr>
        <p:spPr>
          <a:xfrm>
            <a:off x="10788480" y="5150880"/>
            <a:ext cx="3045960" cy="723600"/>
          </a:xfrm>
          <a:prstGeom prst="rect">
            <a:avLst/>
          </a:prstGeom>
          <a:noFill/>
          <a:ln w="0">
            <a:noFill/>
          </a:ln>
        </p:spPr>
        <p:style>
          <a:lnRef idx="0"/>
          <a:fillRef idx="0"/>
          <a:effectRef idx="0"/>
          <a:fontRef idx="minor"/>
        </p:style>
        <p:txBody>
          <a:bodyPr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وقت انتظار طويل يدفع المستخدمين للخروج</a:t>
            </a:r>
            <a:endParaRPr lang="en-US" sz="2400" b="0" u="none" strike="noStrike">
              <a:solidFill>
                <a:srgbClr val="000000"/>
              </a:solidFill>
              <a:effectLst/>
              <a:uFillTx/>
              <a:latin typeface="Arial"/>
            </a:endParaRPr>
          </a:p>
        </p:txBody>
      </p:sp>
      <p:sp>
        <p:nvSpPr>
          <p:cNvPr id="115" name="Text 4"/>
          <p:cNvSpPr/>
          <p:nvPr/>
        </p:nvSpPr>
        <p:spPr>
          <a:xfrm>
            <a:off x="7457040" y="3628800"/>
            <a:ext cx="3045960" cy="746280"/>
          </a:xfrm>
          <a:prstGeom prst="rect">
            <a:avLst/>
          </a:prstGeom>
          <a:noFill/>
          <a:ln w="0">
            <a:noFill/>
          </a:ln>
        </p:spPr>
        <p:style>
          <a:lnRef idx="0"/>
          <a:fillRef idx="0"/>
          <a:effectRef idx="0"/>
          <a:fontRef idx="minor"/>
        </p:style>
        <p:txBody>
          <a:bodyPr wrap="none" lIns="0" tIns="0" rIns="0" bIns="0" anchor="t">
            <a:noAutofit/>
          </a:bodyPr>
          <a:p>
            <a:pPr algn="ctr" rtl="1">
              <a:lnSpc>
                <a:spcPts val="5851"/>
              </a:lnSpc>
              <a:tabLst>
                <a:tab pos="0" algn="l"/>
              </a:tabLst>
            </a:pPr>
            <a:r>
              <a:rPr lang="en-US" sz="5850" b="0" u="none" strike="noStrike">
                <a:solidFill>
                  <a:srgbClr val="2C2821"/>
                </a:solidFill>
                <a:effectLst/>
                <a:uFillTx/>
                <a:latin typeface="Alice"/>
                <a:ea typeface="Alice"/>
              </a:rPr>
              <a:t>1.2s</a:t>
            </a:r>
            <a:endParaRPr lang="en-US" sz="5850" b="0" u="none" strike="noStrike">
              <a:solidFill>
                <a:srgbClr val="000000"/>
              </a:solidFill>
              <a:effectLst/>
              <a:uFillTx/>
              <a:latin typeface="Arial"/>
            </a:endParaRPr>
          </a:p>
        </p:txBody>
      </p:sp>
      <p:sp>
        <p:nvSpPr>
          <p:cNvPr id="116" name="Text 5"/>
          <p:cNvSpPr/>
          <p:nvPr/>
        </p:nvSpPr>
        <p:spPr>
          <a:xfrm>
            <a:off x="7563600" y="466056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0" u="none" strike="noStrike">
                <a:solidFill>
                  <a:srgbClr val="2C2821"/>
                </a:solidFill>
                <a:effectLst/>
                <a:uFillTx/>
                <a:latin typeface="Amiri"/>
                <a:cs typeface="Amiri"/>
              </a:rPr>
              <a:t>زمن التحميل الجديد</a:t>
            </a:r>
            <a:endParaRPr lang="en-US" sz="2800" b="0" u="none" strike="noStrike">
              <a:solidFill>
                <a:srgbClr val="000000"/>
              </a:solidFill>
              <a:effectLst/>
              <a:uFillTx/>
              <a:latin typeface="Arial"/>
            </a:endParaRPr>
          </a:p>
        </p:txBody>
      </p:sp>
      <p:sp>
        <p:nvSpPr>
          <p:cNvPr id="117" name="Text 6"/>
          <p:cNvSpPr/>
          <p:nvPr/>
        </p:nvSpPr>
        <p:spPr>
          <a:xfrm>
            <a:off x="7457040" y="5150880"/>
            <a:ext cx="3045960" cy="723600"/>
          </a:xfrm>
          <a:prstGeom prst="rect">
            <a:avLst/>
          </a:prstGeom>
          <a:noFill/>
          <a:ln w="0">
            <a:noFill/>
          </a:ln>
        </p:spPr>
        <p:style>
          <a:lnRef idx="0"/>
          <a:fillRef idx="0"/>
          <a:effectRef idx="0"/>
          <a:fontRef idx="minor"/>
        </p:style>
        <p:txBody>
          <a:bodyPr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سرعة فائقة تعزز من تجربة المستخدم</a:t>
            </a:r>
            <a:endParaRPr lang="en-US" sz="2400" b="0" u="none" strike="noStrike">
              <a:solidFill>
                <a:srgbClr val="000000"/>
              </a:solidFill>
              <a:effectLst/>
              <a:uFillTx/>
              <a:latin typeface="Arial"/>
            </a:endParaRPr>
          </a:p>
        </p:txBody>
      </p:sp>
      <p:sp>
        <p:nvSpPr>
          <p:cNvPr id="118" name="Text 7"/>
          <p:cNvSpPr/>
          <p:nvPr/>
        </p:nvSpPr>
        <p:spPr>
          <a:xfrm>
            <a:off x="4125240" y="3628800"/>
            <a:ext cx="3045960" cy="746280"/>
          </a:xfrm>
          <a:prstGeom prst="rect">
            <a:avLst/>
          </a:prstGeom>
          <a:noFill/>
          <a:ln w="0">
            <a:noFill/>
          </a:ln>
        </p:spPr>
        <p:style>
          <a:lnRef idx="0"/>
          <a:fillRef idx="0"/>
          <a:effectRef idx="0"/>
          <a:fontRef idx="minor"/>
        </p:style>
        <p:txBody>
          <a:bodyPr wrap="none" lIns="0" tIns="0" rIns="0" bIns="0" anchor="t">
            <a:noAutofit/>
          </a:bodyPr>
          <a:p>
            <a:pPr algn="ctr" rtl="1">
              <a:lnSpc>
                <a:spcPts val="5851"/>
              </a:lnSpc>
              <a:tabLst>
                <a:tab pos="0" algn="l"/>
              </a:tabLst>
            </a:pPr>
            <a:r>
              <a:rPr lang="en-US" sz="5850" b="0" u="none" strike="noStrike">
                <a:solidFill>
                  <a:srgbClr val="2C2821"/>
                </a:solidFill>
                <a:effectLst/>
                <a:uFillTx/>
                <a:latin typeface="Alice"/>
                <a:ea typeface="Alice"/>
              </a:rPr>
              <a:t>+</a:t>
            </a:r>
            <a:r>
              <a:rPr lang="en-US" sz="5850" b="0" u="none" strike="noStrike">
                <a:solidFill>
                  <a:srgbClr val="2C2821"/>
                </a:solidFill>
                <a:effectLst/>
                <a:uFillTx/>
                <a:latin typeface="Alice"/>
                <a:ea typeface="Alice"/>
              </a:rPr>
              <a:t>66%</a:t>
            </a:r>
            <a:endParaRPr lang="en-US" sz="5850" b="0" u="none" strike="noStrike">
              <a:solidFill>
                <a:srgbClr val="000000"/>
              </a:solidFill>
              <a:effectLst/>
              <a:uFillTx/>
              <a:latin typeface="Arial"/>
            </a:endParaRPr>
          </a:p>
        </p:txBody>
      </p:sp>
      <p:sp>
        <p:nvSpPr>
          <p:cNvPr id="119" name="Text 8"/>
          <p:cNvSpPr/>
          <p:nvPr/>
        </p:nvSpPr>
        <p:spPr>
          <a:xfrm>
            <a:off x="4231800" y="466056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0" u="none" strike="noStrike">
                <a:solidFill>
                  <a:srgbClr val="2C2821"/>
                </a:solidFill>
                <a:effectLst/>
                <a:uFillTx/>
                <a:latin typeface="Amiri"/>
                <a:cs typeface="Amiri"/>
              </a:rPr>
              <a:t>تحسن في الأداء</a:t>
            </a:r>
            <a:endParaRPr lang="en-US" sz="2800" b="0" u="none" strike="noStrike">
              <a:solidFill>
                <a:srgbClr val="000000"/>
              </a:solidFill>
              <a:effectLst/>
              <a:uFillTx/>
              <a:latin typeface="Arial"/>
            </a:endParaRPr>
          </a:p>
        </p:txBody>
      </p:sp>
      <p:sp>
        <p:nvSpPr>
          <p:cNvPr id="120" name="Text 9"/>
          <p:cNvSpPr/>
          <p:nvPr/>
        </p:nvSpPr>
        <p:spPr>
          <a:xfrm>
            <a:off x="4125240" y="5150880"/>
            <a:ext cx="3045960" cy="360720"/>
          </a:xfrm>
          <a:prstGeom prst="rect">
            <a:avLst/>
          </a:prstGeom>
          <a:noFill/>
          <a:ln w="0">
            <a:noFill/>
          </a:ln>
        </p:spPr>
        <p:style>
          <a:lnRef idx="0"/>
          <a:fillRef idx="0"/>
          <a:effectRef idx="0"/>
          <a:fontRef idx="minor"/>
        </p:style>
        <p:txBody>
          <a:bodyPr wrap="none"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زيادة ملحوظة في سرعة الاستجابة</a:t>
            </a:r>
            <a:endParaRPr lang="en-US" sz="2400" b="0" u="none" strike="noStrike">
              <a:solidFill>
                <a:srgbClr val="000000"/>
              </a:solidFill>
              <a:effectLst/>
              <a:uFillTx/>
              <a:latin typeface="Arial"/>
            </a:endParaRPr>
          </a:p>
        </p:txBody>
      </p:sp>
      <p:sp>
        <p:nvSpPr>
          <p:cNvPr id="121" name="Text 10"/>
          <p:cNvSpPr/>
          <p:nvPr/>
        </p:nvSpPr>
        <p:spPr>
          <a:xfrm>
            <a:off x="793800" y="3628800"/>
            <a:ext cx="3045960" cy="746280"/>
          </a:xfrm>
          <a:prstGeom prst="rect">
            <a:avLst/>
          </a:prstGeom>
          <a:noFill/>
          <a:ln w="0">
            <a:noFill/>
          </a:ln>
        </p:spPr>
        <p:style>
          <a:lnRef idx="0"/>
          <a:fillRef idx="0"/>
          <a:effectRef idx="0"/>
          <a:fontRef idx="minor"/>
        </p:style>
        <p:txBody>
          <a:bodyPr wrap="none" lIns="0" tIns="0" rIns="0" bIns="0" anchor="t">
            <a:noAutofit/>
          </a:bodyPr>
          <a:p>
            <a:pPr algn="ctr" rtl="1">
              <a:lnSpc>
                <a:spcPts val="5851"/>
              </a:lnSpc>
              <a:tabLst>
                <a:tab pos="0" algn="l"/>
              </a:tabLst>
            </a:pPr>
            <a:r>
              <a:rPr lang="en-US" sz="5850" b="0" u="none" strike="noStrike">
                <a:solidFill>
                  <a:srgbClr val="2C2821"/>
                </a:solidFill>
                <a:effectLst/>
                <a:uFillTx/>
                <a:latin typeface="Alice"/>
                <a:ea typeface="Alice"/>
              </a:rPr>
              <a:t>+</a:t>
            </a:r>
            <a:r>
              <a:rPr lang="en-US" sz="5850" b="0" u="none" strike="noStrike">
                <a:solidFill>
                  <a:srgbClr val="2C2821"/>
                </a:solidFill>
                <a:effectLst/>
                <a:uFillTx/>
                <a:latin typeface="Alice"/>
                <a:ea typeface="Alice"/>
              </a:rPr>
              <a:t>40%</a:t>
            </a:r>
            <a:endParaRPr lang="en-US" sz="5850" b="0" u="none" strike="noStrike">
              <a:solidFill>
                <a:srgbClr val="000000"/>
              </a:solidFill>
              <a:effectLst/>
              <a:uFillTx/>
              <a:latin typeface="Arial"/>
            </a:endParaRPr>
          </a:p>
        </p:txBody>
      </p:sp>
      <p:sp>
        <p:nvSpPr>
          <p:cNvPr id="122" name="Text 11"/>
          <p:cNvSpPr/>
          <p:nvPr/>
        </p:nvSpPr>
        <p:spPr>
          <a:xfrm>
            <a:off x="900360" y="466056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0" u="none" strike="noStrike">
                <a:solidFill>
                  <a:srgbClr val="2C2821"/>
                </a:solidFill>
                <a:effectLst/>
                <a:uFillTx/>
                <a:latin typeface="Amiri"/>
                <a:cs typeface="Amiri"/>
              </a:rPr>
              <a:t>زيادة التفاعل</a:t>
            </a:r>
            <a:endParaRPr lang="en-US" sz="2800" b="0" u="none" strike="noStrike">
              <a:solidFill>
                <a:srgbClr val="000000"/>
              </a:solidFill>
              <a:effectLst/>
              <a:uFillTx/>
              <a:latin typeface="Arial"/>
            </a:endParaRPr>
          </a:p>
        </p:txBody>
      </p:sp>
      <p:sp>
        <p:nvSpPr>
          <p:cNvPr id="123" name="Text 12"/>
          <p:cNvSpPr/>
          <p:nvPr/>
        </p:nvSpPr>
        <p:spPr>
          <a:xfrm>
            <a:off x="793800" y="5150880"/>
            <a:ext cx="3045960" cy="723600"/>
          </a:xfrm>
          <a:prstGeom prst="rect">
            <a:avLst/>
          </a:prstGeom>
          <a:noFill/>
          <a:ln w="0">
            <a:noFill/>
          </a:ln>
        </p:spPr>
        <p:style>
          <a:lnRef idx="0"/>
          <a:fillRef idx="0"/>
          <a:effectRef idx="0"/>
          <a:fontRef idx="minor"/>
        </p:style>
        <p:txBody>
          <a:bodyPr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تحسن في معدلات التحويل والارتباط</a:t>
            </a:r>
            <a:endParaRPr lang="en-US" sz="2400" b="0" u="none" strike="noStrike">
              <a:solidFill>
                <a:srgbClr val="000000"/>
              </a:solidFill>
              <a:effectLst/>
              <a:uFillTx/>
              <a:latin typeface="Arial"/>
            </a:endParaRPr>
          </a:p>
        </p:txBody>
      </p:sp>
      <p:pic>
        <p:nvPicPr>
          <p:cNvPr id="124" name="Picture 18"/>
          <p:cNvPicPr/>
          <p:nvPr/>
        </p:nvPicPr>
        <p:blipFill>
          <a:blip r:embed="rId1"/>
          <a:stretch/>
        </p:blipFill>
        <p:spPr>
          <a:xfrm>
            <a:off x="13257360" y="187920"/>
            <a:ext cx="780840" cy="710640"/>
          </a:xfrm>
          <a:prstGeom prst="rect">
            <a:avLst/>
          </a:prstGeom>
          <a:noFill/>
          <a:ln w="0">
            <a:noFill/>
          </a:ln>
        </p:spPr>
      </p:pic>
      <p:pic>
        <p:nvPicPr>
          <p:cNvPr id="125" name="Picture 19"/>
          <p:cNvPicPr/>
          <p:nvPr/>
        </p:nvPicPr>
        <p:blipFill>
          <a:blip r:embed="rId2"/>
          <a:stretch/>
        </p:blipFill>
        <p:spPr>
          <a:xfrm>
            <a:off x="313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Image 0" descr="preencoded.png"/>
          <p:cNvPicPr/>
          <p:nvPr/>
        </p:nvPicPr>
        <p:blipFill>
          <a:blip r:embed="rId1"/>
          <a:stretch/>
        </p:blipFill>
        <p:spPr>
          <a:xfrm>
            <a:off x="0" y="0"/>
            <a:ext cx="5484240" cy="8227440"/>
          </a:xfrm>
          <a:prstGeom prst="rect">
            <a:avLst/>
          </a:prstGeom>
          <a:noFill/>
          <a:ln w="0">
            <a:noFill/>
          </a:ln>
        </p:spPr>
      </p:pic>
      <p:sp>
        <p:nvSpPr>
          <p:cNvPr id="127" name="Text 0"/>
          <p:cNvSpPr/>
          <p:nvPr/>
        </p:nvSpPr>
        <p:spPr>
          <a:xfrm>
            <a:off x="7105320" y="2298240"/>
            <a:ext cx="672912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450" b="0" u="none" strike="noStrike">
                <a:solidFill>
                  <a:srgbClr val="233E32"/>
                </a:solidFill>
                <a:effectLst/>
                <a:uFillTx/>
                <a:latin typeface="Amiri"/>
                <a:cs typeface="Amiri"/>
              </a:rPr>
              <a:t>تجربة مستخدم محسّنة بالكامل</a:t>
            </a:r>
            <a:endParaRPr lang="en-US" sz="4450" b="0" u="none" strike="noStrike">
              <a:solidFill>
                <a:srgbClr val="000000"/>
              </a:solidFill>
              <a:effectLst/>
              <a:uFillTx/>
              <a:latin typeface="Arial"/>
            </a:endParaRPr>
          </a:p>
        </p:txBody>
      </p:sp>
      <p:sp>
        <p:nvSpPr>
          <p:cNvPr id="128" name="Text 1"/>
          <p:cNvSpPr/>
          <p:nvPr/>
        </p:nvSpPr>
        <p:spPr>
          <a:xfrm>
            <a:off x="11001240" y="3573720"/>
            <a:ext cx="2833200" cy="3596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القديم</a:t>
            </a:r>
            <a:endParaRPr lang="en-US" sz="3200" b="0" u="none" strike="noStrike">
              <a:solidFill>
                <a:srgbClr val="000000"/>
              </a:solidFill>
              <a:effectLst/>
              <a:uFillTx/>
              <a:latin typeface="Arial"/>
            </a:endParaRPr>
          </a:p>
        </p:txBody>
      </p:sp>
      <p:sp>
        <p:nvSpPr>
          <p:cNvPr id="129" name="Text 2"/>
          <p:cNvSpPr/>
          <p:nvPr/>
        </p:nvSpPr>
        <p:spPr>
          <a:xfrm>
            <a:off x="10335240" y="4162680"/>
            <a:ext cx="3499200" cy="1687320"/>
          </a:xfrm>
          <a:prstGeom prst="rect">
            <a:avLst/>
          </a:prstGeom>
          <a:noFill/>
          <a:ln w="0">
            <a:noFill/>
          </a:ln>
        </p:spPr>
        <p:style>
          <a:lnRef idx="0"/>
          <a:fillRef idx="0"/>
          <a:effectRef idx="0"/>
          <a:fontRef idx="minor"/>
        </p:style>
        <p:txBody>
          <a:bodyPr lIns="0" tIns="0" rIns="0" bIns="0" anchor="t">
            <a:noAutofit/>
          </a:bodyPr>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تعقيد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تشتت في التصميم والهيكل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صعوبة في الوصول للمحتوى</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غير متناسقة عبر الأجهزة</a:t>
            </a:r>
            <a:endParaRPr lang="en-US" sz="2400" b="0" u="none" strike="noStrike">
              <a:solidFill>
                <a:srgbClr val="000000"/>
              </a:solidFill>
              <a:effectLst/>
              <a:uFillTx/>
              <a:latin typeface="Arial"/>
            </a:endParaRPr>
          </a:p>
        </p:txBody>
      </p:sp>
      <p:sp>
        <p:nvSpPr>
          <p:cNvPr id="130" name="Text 3"/>
          <p:cNvSpPr/>
          <p:nvPr/>
        </p:nvSpPr>
        <p:spPr>
          <a:xfrm>
            <a:off x="6939000" y="3573720"/>
            <a:ext cx="2833200" cy="3596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الجديد</a:t>
            </a:r>
            <a:endParaRPr lang="en-US" sz="3200" b="0" u="none" strike="noStrike">
              <a:solidFill>
                <a:srgbClr val="000000"/>
              </a:solidFill>
              <a:effectLst/>
              <a:uFillTx/>
              <a:latin typeface="Arial"/>
            </a:endParaRPr>
          </a:p>
        </p:txBody>
      </p:sp>
      <p:sp>
        <p:nvSpPr>
          <p:cNvPr id="131" name="Text 4"/>
          <p:cNvSpPr/>
          <p:nvPr/>
        </p:nvSpPr>
        <p:spPr>
          <a:xfrm>
            <a:off x="6272640" y="4162680"/>
            <a:ext cx="3499200" cy="1687320"/>
          </a:xfrm>
          <a:prstGeom prst="rect">
            <a:avLst/>
          </a:prstGeom>
          <a:noFill/>
          <a:ln w="0">
            <a:noFill/>
          </a:ln>
        </p:spPr>
        <p:style>
          <a:lnRef idx="0"/>
          <a:fillRef idx="0"/>
          <a:effectRef idx="0"/>
          <a:fontRef idx="minor"/>
        </p:style>
        <p:txBody>
          <a:bodyPr lIns="0" tIns="0" rIns="0" bIns="0" anchor="t">
            <a:noAutofit/>
          </a:bodyPr>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سهولة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تنظيم متناسق في 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وصول سريع للمحتوى المطلوب</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موحدة عبر جميع الأجهزة</a:t>
            </a:r>
            <a:endParaRPr lang="en-US" sz="2400" b="0" u="none" strike="noStrike">
              <a:solidFill>
                <a:srgbClr val="000000"/>
              </a:solidFill>
              <a:effectLst/>
              <a:uFillTx/>
              <a:latin typeface="Arial"/>
            </a:endParaRPr>
          </a:p>
        </p:txBody>
      </p:sp>
      <p:pic>
        <p:nvPicPr>
          <p:cNvPr id="132" name="Picture 16"/>
          <p:cNvPicPr/>
          <p:nvPr/>
        </p:nvPicPr>
        <p:blipFill>
          <a:blip r:embed="rId2"/>
          <a:stretch/>
        </p:blipFill>
        <p:spPr>
          <a:xfrm>
            <a:off x="13257360" y="187920"/>
            <a:ext cx="780840" cy="710640"/>
          </a:xfrm>
          <a:prstGeom prst="rect">
            <a:avLst/>
          </a:prstGeom>
          <a:noFill/>
          <a:ln w="0">
            <a:noFill/>
          </a:ln>
        </p:spPr>
      </p:pic>
      <p:pic>
        <p:nvPicPr>
          <p:cNvPr id="133" name="Picture 17"/>
          <p:cNvPicPr/>
          <p:nvPr/>
        </p:nvPicPr>
        <p:blipFill>
          <a:blip r:embed="rId3"/>
          <a:stretch/>
        </p:blipFill>
        <p:spPr>
          <a:xfrm>
            <a:off x="5749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 0"/>
          <p:cNvSpPr/>
          <p:nvPr/>
        </p:nvSpPr>
        <p:spPr>
          <a:xfrm>
            <a:off x="8025120" y="926640"/>
            <a:ext cx="580932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450" b="0" u="none" strike="noStrike">
                <a:solidFill>
                  <a:srgbClr val="233E32"/>
                </a:solidFill>
                <a:effectLst/>
                <a:uFillTx/>
                <a:latin typeface="Amiri"/>
                <a:cs typeface="Amiri"/>
              </a:rPr>
              <a:t>التوافق الكامل مع الموبايل</a:t>
            </a:r>
            <a:endParaRPr lang="en-US" sz="4450" b="0" u="none" strike="noStrike">
              <a:solidFill>
                <a:srgbClr val="000000"/>
              </a:solidFill>
              <a:effectLst/>
              <a:uFillTx/>
              <a:latin typeface="Arial"/>
            </a:endParaRPr>
          </a:p>
        </p:txBody>
      </p:sp>
      <p:sp>
        <p:nvSpPr>
          <p:cNvPr id="135" name="Text 1"/>
          <p:cNvSpPr/>
          <p:nvPr/>
        </p:nvSpPr>
        <p:spPr>
          <a:xfrm>
            <a:off x="9252000" y="3563280"/>
            <a:ext cx="2787840" cy="564840"/>
          </a:xfrm>
          <a:prstGeom prst="rect">
            <a:avLst/>
          </a:prstGeom>
          <a:noFill/>
          <a:ln w="0">
            <a:noFill/>
          </a:ln>
        </p:spPr>
        <p:style>
          <a:lnRef idx="0"/>
          <a:fillRef idx="0"/>
          <a:effectRef idx="0"/>
          <a:fontRef idx="minor"/>
        </p:style>
        <p:txBody>
          <a:bodyPr wrap="none" lIns="0" tIns="0" rIns="0" bIns="0" anchor="t">
            <a:noAutofit/>
          </a:bodyPr>
          <a:p>
            <a:pPr algn="ctr" rtl="1">
              <a:lnSpc>
                <a:spcPts val="4450"/>
              </a:lnSpc>
              <a:tabLst>
                <a:tab pos="0" algn="l"/>
              </a:tabLst>
            </a:pPr>
            <a:r>
              <a:rPr lang="en-US" sz="4450" b="0" u="none" strike="noStrike">
                <a:solidFill>
                  <a:srgbClr val="2C2821"/>
                </a:solidFill>
                <a:effectLst/>
                <a:uFillTx/>
                <a:latin typeface="Alice"/>
                <a:ea typeface="Alice"/>
              </a:rPr>
              <a:t>60%</a:t>
            </a:r>
            <a:endParaRPr lang="en-US" sz="4450" b="0" u="none" strike="noStrike">
              <a:solidFill>
                <a:srgbClr val="000000"/>
              </a:solidFill>
              <a:effectLst/>
              <a:uFillTx/>
              <a:latin typeface="Arial"/>
            </a:endParaRPr>
          </a:p>
        </p:txBody>
      </p:sp>
      <p:pic>
        <p:nvPicPr>
          <p:cNvPr id="136" name="Image 0" descr="preencoded.png"/>
          <p:cNvPicPr/>
          <p:nvPr/>
        </p:nvPicPr>
        <p:blipFill>
          <a:blip r:embed="rId1"/>
          <a:stretch/>
        </p:blipFill>
        <p:spPr>
          <a:xfrm>
            <a:off x="8945640" y="2145600"/>
            <a:ext cx="3400200" cy="3400200"/>
          </a:xfrm>
          <a:prstGeom prst="rect">
            <a:avLst/>
          </a:prstGeom>
          <a:noFill/>
          <a:ln w="0">
            <a:noFill/>
          </a:ln>
        </p:spPr>
      </p:pic>
      <p:sp>
        <p:nvSpPr>
          <p:cNvPr id="137" name="Text 2"/>
          <p:cNvSpPr/>
          <p:nvPr/>
        </p:nvSpPr>
        <p:spPr>
          <a:xfrm>
            <a:off x="9229320" y="583164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1" u="none" strike="noStrike">
                <a:solidFill>
                  <a:srgbClr val="2C2821"/>
                </a:solidFill>
                <a:effectLst/>
                <a:uFillTx/>
                <a:latin typeface="Amiri"/>
                <a:cs typeface="Amiri"/>
              </a:rPr>
              <a:t>نسبة المستخدمين</a:t>
            </a:r>
            <a:endParaRPr lang="en-US" sz="2800" b="0" u="none" strike="noStrike">
              <a:solidFill>
                <a:srgbClr val="000000"/>
              </a:solidFill>
              <a:effectLst/>
              <a:uFillTx/>
              <a:latin typeface="Arial"/>
            </a:endParaRPr>
          </a:p>
        </p:txBody>
      </p:sp>
      <p:sp>
        <p:nvSpPr>
          <p:cNvPr id="138" name="Text 3"/>
          <p:cNvSpPr/>
          <p:nvPr/>
        </p:nvSpPr>
        <p:spPr>
          <a:xfrm>
            <a:off x="7457040" y="6321960"/>
            <a:ext cx="6377400" cy="360720"/>
          </a:xfrm>
          <a:prstGeom prst="rect">
            <a:avLst/>
          </a:prstGeom>
          <a:noFill/>
          <a:ln w="0">
            <a:noFill/>
          </a:ln>
        </p:spPr>
        <p:style>
          <a:lnRef idx="0"/>
          <a:fillRef idx="0"/>
          <a:effectRef idx="0"/>
          <a:fontRef idx="minor"/>
        </p:style>
        <p:txBody>
          <a:bodyPr wrap="none"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يستخدمون الهواتف الذكية للوصول للموقع</a:t>
            </a:r>
            <a:endParaRPr lang="en-US" sz="2400" b="0" u="none" strike="noStrike">
              <a:solidFill>
                <a:srgbClr val="000000"/>
              </a:solidFill>
              <a:effectLst/>
              <a:uFillTx/>
              <a:latin typeface="Arial"/>
            </a:endParaRPr>
          </a:p>
        </p:txBody>
      </p:sp>
      <p:sp>
        <p:nvSpPr>
          <p:cNvPr id="139" name="Text 4"/>
          <p:cNvSpPr/>
          <p:nvPr/>
        </p:nvSpPr>
        <p:spPr>
          <a:xfrm>
            <a:off x="2588760" y="3563280"/>
            <a:ext cx="2787840" cy="564840"/>
          </a:xfrm>
          <a:prstGeom prst="rect">
            <a:avLst/>
          </a:prstGeom>
          <a:noFill/>
          <a:ln w="0">
            <a:noFill/>
          </a:ln>
        </p:spPr>
        <p:style>
          <a:lnRef idx="0"/>
          <a:fillRef idx="0"/>
          <a:effectRef idx="0"/>
          <a:fontRef idx="minor"/>
        </p:style>
        <p:txBody>
          <a:bodyPr wrap="none" lIns="0" tIns="0" rIns="0" bIns="0" anchor="t">
            <a:noAutofit/>
          </a:bodyPr>
          <a:p>
            <a:pPr algn="ctr" rtl="1">
              <a:lnSpc>
                <a:spcPts val="4450"/>
              </a:lnSpc>
              <a:tabLst>
                <a:tab pos="0" algn="l"/>
              </a:tabLst>
            </a:pPr>
            <a:r>
              <a:rPr lang="en-US" sz="4450" b="0" u="none" strike="noStrike">
                <a:solidFill>
                  <a:srgbClr val="2C2821"/>
                </a:solidFill>
                <a:effectLst/>
                <a:uFillTx/>
                <a:latin typeface="Alice"/>
                <a:ea typeface="Alice"/>
              </a:rPr>
              <a:t>100%</a:t>
            </a:r>
            <a:endParaRPr lang="en-US" sz="4450" b="0" u="none" strike="noStrike">
              <a:solidFill>
                <a:srgbClr val="000000"/>
              </a:solidFill>
              <a:effectLst/>
              <a:uFillTx/>
              <a:latin typeface="Arial"/>
            </a:endParaRPr>
          </a:p>
        </p:txBody>
      </p:sp>
      <p:pic>
        <p:nvPicPr>
          <p:cNvPr id="140" name="Image 1" descr="preencoded.png"/>
          <p:cNvPicPr/>
          <p:nvPr/>
        </p:nvPicPr>
        <p:blipFill>
          <a:blip r:embed="rId2"/>
          <a:stretch/>
        </p:blipFill>
        <p:spPr>
          <a:xfrm>
            <a:off x="2282400" y="2145600"/>
            <a:ext cx="3400200" cy="3400200"/>
          </a:xfrm>
          <a:prstGeom prst="rect">
            <a:avLst/>
          </a:prstGeom>
          <a:noFill/>
          <a:ln w="0">
            <a:noFill/>
          </a:ln>
        </p:spPr>
      </p:pic>
      <p:sp>
        <p:nvSpPr>
          <p:cNvPr id="141" name="Text 5"/>
          <p:cNvSpPr/>
          <p:nvPr/>
        </p:nvSpPr>
        <p:spPr>
          <a:xfrm>
            <a:off x="2566080" y="5831640"/>
            <a:ext cx="2833200" cy="352080"/>
          </a:xfrm>
          <a:prstGeom prst="rect">
            <a:avLst/>
          </a:prstGeom>
          <a:noFill/>
          <a:ln w="0">
            <a:noFill/>
          </a:ln>
        </p:spPr>
        <p:style>
          <a:lnRef idx="0"/>
          <a:fillRef idx="0"/>
          <a:effectRef idx="0"/>
          <a:fontRef idx="minor"/>
        </p:style>
        <p:txBody>
          <a:bodyPr wrap="none" lIns="0" tIns="0" rIns="0" bIns="0" anchor="t">
            <a:noAutofit/>
          </a:bodyPr>
          <a:p>
            <a:pPr algn="ctr" rtl="1">
              <a:lnSpc>
                <a:spcPts val="2750"/>
              </a:lnSpc>
              <a:tabLst>
                <a:tab pos="0" algn="l"/>
              </a:tabLst>
            </a:pPr>
            <a:r>
              <a:rPr lang="ar-EG" sz="2800" b="1" u="none" strike="noStrike">
                <a:solidFill>
                  <a:srgbClr val="2C2821"/>
                </a:solidFill>
                <a:effectLst/>
                <a:uFillTx/>
                <a:latin typeface="Amiri"/>
                <a:cs typeface="Amiri"/>
              </a:rPr>
              <a:t>التوافق</a:t>
            </a:r>
            <a:endParaRPr lang="en-US" sz="2800" b="0" u="none" strike="noStrike">
              <a:solidFill>
                <a:srgbClr val="000000"/>
              </a:solidFill>
              <a:effectLst/>
              <a:uFillTx/>
              <a:latin typeface="Arial"/>
            </a:endParaRPr>
          </a:p>
        </p:txBody>
      </p:sp>
      <p:sp>
        <p:nvSpPr>
          <p:cNvPr id="142" name="Text 6"/>
          <p:cNvSpPr/>
          <p:nvPr/>
        </p:nvSpPr>
        <p:spPr>
          <a:xfrm>
            <a:off x="793800" y="6321960"/>
            <a:ext cx="6377400" cy="360720"/>
          </a:xfrm>
          <a:prstGeom prst="rect">
            <a:avLst/>
          </a:prstGeom>
          <a:noFill/>
          <a:ln w="0">
            <a:noFill/>
          </a:ln>
        </p:spPr>
        <p:style>
          <a:lnRef idx="0"/>
          <a:fillRef idx="0"/>
          <a:effectRef idx="0"/>
          <a:fontRef idx="minor"/>
        </p:style>
        <p:txBody>
          <a:bodyPr wrap="none" lIns="0" tIns="0" rIns="0" bIns="0" anchor="t">
            <a:noAutofit/>
          </a:bodyPr>
          <a:p>
            <a:pPr algn="ctr" rtl="1">
              <a:lnSpc>
                <a:spcPts val="2849"/>
              </a:lnSpc>
              <a:tabLst>
                <a:tab pos="0" algn="l"/>
              </a:tabLst>
            </a:pPr>
            <a:r>
              <a:rPr lang="ar-EG" sz="2400" b="0" u="none" strike="noStrike">
                <a:solidFill>
                  <a:srgbClr val="2C2821"/>
                </a:solidFill>
                <a:effectLst/>
                <a:uFillTx/>
                <a:latin typeface="Amiri"/>
                <a:cs typeface="Amiri"/>
              </a:rPr>
              <a:t>تصميم متجاوب يتناسب مع جميع الشاشات</a:t>
            </a:r>
            <a:endParaRPr lang="en-US" sz="2400" b="0" u="none" strike="noStrike">
              <a:solidFill>
                <a:srgbClr val="000000"/>
              </a:solidFill>
              <a:effectLst/>
              <a:uFillTx/>
              <a:latin typeface="Arial"/>
            </a:endParaRPr>
          </a:p>
        </p:txBody>
      </p:sp>
      <p:sp>
        <p:nvSpPr>
          <p:cNvPr id="143" name="Text 7"/>
          <p:cNvSpPr/>
          <p:nvPr/>
        </p:nvSpPr>
        <p:spPr>
          <a:xfrm>
            <a:off x="793800" y="6940080"/>
            <a:ext cx="13040640" cy="360720"/>
          </a:xfrm>
          <a:prstGeom prst="rect">
            <a:avLst/>
          </a:prstGeom>
          <a:noFill/>
          <a:ln w="0">
            <a:noFill/>
          </a:ln>
        </p:spPr>
        <p:style>
          <a:lnRef idx="0"/>
          <a:fillRef idx="0"/>
          <a:effectRef idx="0"/>
          <a:fontRef idx="minor"/>
        </p:style>
        <p:txBody>
          <a:bodyPr wrap="none" lIns="0" tIns="0" rIns="0" bIns="0" anchor="t" anchorCtr="1">
            <a:noAutofit/>
          </a:bodyPr>
          <a:p>
            <a:pPr algn="ctr" rtl="1">
              <a:lnSpc>
                <a:spcPts val="2849"/>
              </a:lnSpc>
              <a:tabLst>
                <a:tab pos="0" algn="l"/>
              </a:tabLst>
            </a:pPr>
            <a:r>
              <a:rPr lang="ar-EG" sz="2600" b="0" u="none" strike="noStrike">
                <a:solidFill>
                  <a:srgbClr val="2C2821"/>
                </a:solidFill>
                <a:effectLst/>
                <a:uFillTx/>
                <a:latin typeface="Amiri"/>
                <a:cs typeface="Amiri"/>
              </a:rPr>
              <a:t>تصميم متجاوب يوفر تجربة مثالية على الهواتف الذكية والأجهزة اللوحية، مع الحفاظ على جميع الوظائف والتصميم الكامل للموقع</a:t>
            </a:r>
            <a:endParaRPr lang="en-US" sz="2600" b="0" u="none" strike="noStrike">
              <a:solidFill>
                <a:srgbClr val="000000"/>
              </a:solidFill>
              <a:effectLst/>
              <a:uFillTx/>
              <a:latin typeface="Arial"/>
            </a:endParaRPr>
          </a:p>
        </p:txBody>
      </p:sp>
      <p:pic>
        <p:nvPicPr>
          <p:cNvPr id="144" name="Picture 14"/>
          <p:cNvPicPr/>
          <p:nvPr/>
        </p:nvPicPr>
        <p:blipFill>
          <a:blip r:embed="rId3"/>
          <a:stretch/>
        </p:blipFill>
        <p:spPr>
          <a:xfrm>
            <a:off x="13257360" y="187920"/>
            <a:ext cx="780840" cy="710640"/>
          </a:xfrm>
          <a:prstGeom prst="rect">
            <a:avLst/>
          </a:prstGeom>
          <a:noFill/>
          <a:ln w="0">
            <a:noFill/>
          </a:ln>
        </p:spPr>
      </p:pic>
      <p:pic>
        <p:nvPicPr>
          <p:cNvPr id="145" name="Picture 15"/>
          <p:cNvPicPr/>
          <p:nvPr/>
        </p:nvPicPr>
        <p:blipFill>
          <a:blip r:embed="rId4"/>
          <a:stretch/>
        </p:blipFill>
        <p:spPr>
          <a:xfrm>
            <a:off x="313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 0"/>
          <p:cNvSpPr/>
          <p:nvPr/>
        </p:nvSpPr>
        <p:spPr>
          <a:xfrm>
            <a:off x="7650720" y="2090520"/>
            <a:ext cx="6183720" cy="706680"/>
          </a:xfrm>
          <a:prstGeom prst="rect">
            <a:avLst/>
          </a:prstGeom>
          <a:noFill/>
          <a:ln w="0">
            <a:noFill/>
          </a:ln>
        </p:spPr>
        <p:style>
          <a:lnRef idx="0"/>
          <a:fillRef idx="0"/>
          <a:effectRef idx="0"/>
          <a:fontRef idx="minor"/>
        </p:style>
        <p:txBody>
          <a:bodyPr wrap="none" lIns="0" tIns="0" rIns="0" bIns="0" anchor="t">
            <a:noAutofit/>
          </a:bodyPr>
          <a:p>
            <a:pPr algn="r" rtl="1">
              <a:lnSpc>
                <a:spcPts val="5550"/>
              </a:lnSpc>
              <a:tabLst>
                <a:tab pos="0" algn="l"/>
              </a:tabLst>
            </a:pPr>
            <a:r>
              <a:rPr lang="ar-EG" sz="4450" b="0" u="none" strike="noStrike">
                <a:solidFill>
                  <a:srgbClr val="233E32"/>
                </a:solidFill>
                <a:effectLst/>
                <a:uFillTx/>
                <a:latin typeface="Amiri"/>
                <a:cs typeface="Amiri"/>
              </a:rPr>
              <a:t>المميزات الجديدة في الموقع</a:t>
            </a:r>
            <a:endParaRPr lang="en-US" sz="4450" b="0" u="none" strike="noStrike">
              <a:solidFill>
                <a:srgbClr val="000000"/>
              </a:solidFill>
              <a:effectLst/>
              <a:uFillTx/>
              <a:latin typeface="Arial"/>
            </a:endParaRPr>
          </a:p>
        </p:txBody>
      </p:sp>
      <p:pic>
        <p:nvPicPr>
          <p:cNvPr id="147" name="Image 0" descr="preencoded.png"/>
          <p:cNvPicPr/>
          <p:nvPr/>
        </p:nvPicPr>
        <p:blipFill>
          <a:blip r:embed="rId1">
            <a:extLst>
              <a:ext uri="{96DAC541-7B7A-43D3-8B79-37D633B846F1}">
                <asvg:svgBlip xmlns:asvg="http://schemas.microsoft.com/office/drawing/2016/SVG/main" r:embed="rId2"/>
              </a:ext>
            </a:extLst>
          </a:blip>
          <a:stretch/>
        </p:blipFill>
        <p:spPr>
          <a:xfrm>
            <a:off x="13269600" y="3252960"/>
            <a:ext cx="564840" cy="564840"/>
          </a:xfrm>
          <a:prstGeom prst="rect">
            <a:avLst/>
          </a:prstGeom>
          <a:noFill/>
          <a:ln w="0">
            <a:noFill/>
          </a:ln>
        </p:spPr>
      </p:pic>
      <p:sp>
        <p:nvSpPr>
          <p:cNvPr id="148" name="Text 1"/>
          <p:cNvSpPr/>
          <p:nvPr/>
        </p:nvSpPr>
        <p:spPr>
          <a:xfrm>
            <a:off x="10150920" y="325296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أرشيف الأخبار</a:t>
            </a:r>
            <a:endParaRPr lang="en-US" sz="2200" b="0" u="none" strike="noStrike">
              <a:solidFill>
                <a:srgbClr val="000000"/>
              </a:solidFill>
              <a:effectLst/>
              <a:uFillTx/>
              <a:latin typeface="Arial"/>
            </a:endParaRPr>
          </a:p>
        </p:txBody>
      </p:sp>
      <p:sp>
        <p:nvSpPr>
          <p:cNvPr id="149" name="Text 2"/>
          <p:cNvSpPr/>
          <p:nvPr/>
        </p:nvSpPr>
        <p:spPr>
          <a:xfrm>
            <a:off x="7457040" y="3743280"/>
            <a:ext cx="552708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نظام متكامل للأخبار والبيانات الصحفية مع إمكانية البحث والتصفية حسب التواريخ والأقسام</a:t>
            </a:r>
            <a:endParaRPr lang="en-US" sz="2000" b="0" u="none" strike="noStrike">
              <a:solidFill>
                <a:srgbClr val="000000"/>
              </a:solidFill>
              <a:effectLst/>
              <a:uFillTx/>
              <a:latin typeface="Arial"/>
            </a:endParaRPr>
          </a:p>
        </p:txBody>
      </p:sp>
      <p:pic>
        <p:nvPicPr>
          <p:cNvPr id="150" name="Image 1" descr="preencoded.png"/>
          <p:cNvPicPr/>
          <p:nvPr/>
        </p:nvPicPr>
        <p:blipFill>
          <a:blip r:embed="rId3">
            <a:extLst>
              <a:ext uri="{96DAC541-7B7A-43D3-8B79-37D633B846F1}">
                <asvg:svgBlip xmlns:asvg="http://schemas.microsoft.com/office/drawing/2016/SVG/main" r:embed="rId4"/>
              </a:ext>
            </a:extLst>
          </a:blip>
          <a:stretch/>
        </p:blipFill>
        <p:spPr>
          <a:xfrm>
            <a:off x="6606720" y="3252960"/>
            <a:ext cx="564840" cy="564840"/>
          </a:xfrm>
          <a:prstGeom prst="rect">
            <a:avLst/>
          </a:prstGeom>
          <a:noFill/>
          <a:ln w="0">
            <a:noFill/>
          </a:ln>
        </p:spPr>
      </p:pic>
      <p:sp>
        <p:nvSpPr>
          <p:cNvPr id="151" name="Text 3"/>
          <p:cNvSpPr/>
          <p:nvPr/>
        </p:nvSpPr>
        <p:spPr>
          <a:xfrm>
            <a:off x="3487680" y="325296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أرشيف المشروعات</a:t>
            </a:r>
            <a:endParaRPr lang="en-US" sz="2200" b="0" u="none" strike="noStrike">
              <a:solidFill>
                <a:srgbClr val="000000"/>
              </a:solidFill>
              <a:effectLst/>
              <a:uFillTx/>
              <a:latin typeface="Arial"/>
            </a:endParaRPr>
          </a:p>
        </p:txBody>
      </p:sp>
      <p:sp>
        <p:nvSpPr>
          <p:cNvPr id="152" name="Text 4"/>
          <p:cNvSpPr/>
          <p:nvPr/>
        </p:nvSpPr>
        <p:spPr>
          <a:xfrm>
            <a:off x="793800" y="3743280"/>
            <a:ext cx="552708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قاعدة بيانات شاملة للمشروعات مع معلومات مفصلة عن كل مشروع ووثائق مرفقة</a:t>
            </a:r>
            <a:endParaRPr lang="en-US" sz="2000" b="0" u="none" strike="noStrike">
              <a:solidFill>
                <a:srgbClr val="000000"/>
              </a:solidFill>
              <a:effectLst/>
              <a:uFillTx/>
              <a:latin typeface="Arial"/>
            </a:endParaRPr>
          </a:p>
        </p:txBody>
      </p:sp>
      <p:pic>
        <p:nvPicPr>
          <p:cNvPr id="153" name="Image 2" descr="preencoded.png"/>
          <p:cNvPicPr/>
          <p:nvPr/>
        </p:nvPicPr>
        <p:blipFill>
          <a:blip r:embed="rId5">
            <a:extLst>
              <a:ext uri="{96DAC541-7B7A-43D3-8B79-37D633B846F1}">
                <asvg:svgBlip xmlns:asvg="http://schemas.microsoft.com/office/drawing/2016/SVG/main" r:embed="rId6"/>
              </a:ext>
            </a:extLst>
          </a:blip>
          <a:stretch/>
        </p:blipFill>
        <p:spPr>
          <a:xfrm>
            <a:off x="13269600" y="4922640"/>
            <a:ext cx="564840" cy="564840"/>
          </a:xfrm>
          <a:prstGeom prst="rect">
            <a:avLst/>
          </a:prstGeom>
          <a:noFill/>
          <a:ln w="0">
            <a:noFill/>
          </a:ln>
        </p:spPr>
      </p:pic>
      <p:sp>
        <p:nvSpPr>
          <p:cNvPr id="154" name="Text 5"/>
          <p:cNvSpPr/>
          <p:nvPr/>
        </p:nvSpPr>
        <p:spPr>
          <a:xfrm>
            <a:off x="10150920" y="492264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أرشيف المناقصات</a:t>
            </a:r>
            <a:endParaRPr lang="en-US" sz="2200" b="0" u="none" strike="noStrike">
              <a:solidFill>
                <a:srgbClr val="000000"/>
              </a:solidFill>
              <a:effectLst/>
              <a:uFillTx/>
              <a:latin typeface="Arial"/>
            </a:endParaRPr>
          </a:p>
        </p:txBody>
      </p:sp>
      <p:sp>
        <p:nvSpPr>
          <p:cNvPr id="155" name="Text 6"/>
          <p:cNvSpPr/>
          <p:nvPr/>
        </p:nvSpPr>
        <p:spPr>
          <a:xfrm>
            <a:off x="7457040" y="5413320"/>
            <a:ext cx="552708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نظام إلكتروني لعرض وتحميل وثائق المناقصات والفرص الاستثمارية المتاحة</a:t>
            </a:r>
            <a:endParaRPr lang="en-US" sz="2000" b="0" u="none" strike="noStrike">
              <a:solidFill>
                <a:srgbClr val="000000"/>
              </a:solidFill>
              <a:effectLst/>
              <a:uFillTx/>
              <a:latin typeface="Arial"/>
            </a:endParaRPr>
          </a:p>
        </p:txBody>
      </p:sp>
      <p:pic>
        <p:nvPicPr>
          <p:cNvPr id="156" name="Image 3" descr="preencoded.png"/>
          <p:cNvPicPr/>
          <p:nvPr/>
        </p:nvPicPr>
        <p:blipFill>
          <a:blip r:embed="rId7">
            <a:extLst>
              <a:ext uri="{96DAC541-7B7A-43D3-8B79-37D633B846F1}">
                <asvg:svgBlip xmlns:asvg="http://schemas.microsoft.com/office/drawing/2016/SVG/main" r:embed="rId8"/>
              </a:ext>
            </a:extLst>
          </a:blip>
          <a:stretch/>
        </p:blipFill>
        <p:spPr>
          <a:xfrm>
            <a:off x="6606720" y="4922640"/>
            <a:ext cx="564840" cy="564840"/>
          </a:xfrm>
          <a:prstGeom prst="rect">
            <a:avLst/>
          </a:prstGeom>
          <a:noFill/>
          <a:ln w="0">
            <a:noFill/>
          </a:ln>
        </p:spPr>
      </p:pic>
      <p:sp>
        <p:nvSpPr>
          <p:cNvPr id="157" name="Text 7"/>
          <p:cNvSpPr/>
          <p:nvPr/>
        </p:nvSpPr>
        <p:spPr>
          <a:xfrm>
            <a:off x="3487680" y="4922640"/>
            <a:ext cx="2833200" cy="35208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2200" b="0" u="none" strike="noStrike">
                <a:solidFill>
                  <a:srgbClr val="2C2821"/>
                </a:solidFill>
                <a:effectLst/>
                <a:uFillTx/>
                <a:latin typeface="Amiri"/>
                <a:cs typeface="Amiri"/>
              </a:rPr>
              <a:t>عرض </a:t>
            </a:r>
            <a:r>
              <a:rPr lang="en-US" sz="2200" b="0" u="none" strike="noStrike">
                <a:solidFill>
                  <a:srgbClr val="2C2821"/>
                </a:solidFill>
                <a:effectLst/>
                <a:uFillTx/>
                <a:latin typeface="Amiri"/>
                <a:ea typeface="Alice"/>
              </a:rPr>
              <a:t>PDF</a:t>
            </a:r>
            <a:r>
              <a:rPr lang="en-US" sz="2200" b="0" u="none" strike="noStrike">
                <a:solidFill>
                  <a:srgbClr val="2C2821"/>
                </a:solidFill>
                <a:effectLst/>
                <a:uFillTx/>
                <a:latin typeface="Amiri"/>
                <a:ea typeface="Alice"/>
              </a:rPr>
              <a:t> داخل الموقع</a:t>
            </a:r>
            <a:endParaRPr lang="en-US" sz="2200" b="0" u="none" strike="noStrike">
              <a:solidFill>
                <a:srgbClr val="000000"/>
              </a:solidFill>
              <a:effectLst/>
              <a:uFillTx/>
              <a:latin typeface="Arial"/>
            </a:endParaRPr>
          </a:p>
        </p:txBody>
      </p:sp>
      <p:sp>
        <p:nvSpPr>
          <p:cNvPr id="158" name="Text 8"/>
          <p:cNvSpPr/>
          <p:nvPr/>
        </p:nvSpPr>
        <p:spPr>
          <a:xfrm>
            <a:off x="793800" y="5413320"/>
            <a:ext cx="5527080" cy="723600"/>
          </a:xfrm>
          <a:prstGeom prst="rect">
            <a:avLst/>
          </a:prstGeom>
          <a:noFill/>
          <a:ln w="0">
            <a:noFill/>
          </a:ln>
        </p:spPr>
        <p:style>
          <a:lnRef idx="0"/>
          <a:fillRef idx="0"/>
          <a:effectRef idx="0"/>
          <a:fontRef idx="minor"/>
        </p:style>
        <p:txBody>
          <a:bodyPr lIns="0" tIns="0" rIns="0" bIns="0" anchor="t">
            <a:noAutofit/>
          </a:bodyPr>
          <a:p>
            <a:pPr algn="r" rtl="1">
              <a:lnSpc>
                <a:spcPts val="2849"/>
              </a:lnSpc>
              <a:tabLst>
                <a:tab pos="0" algn="l"/>
              </a:tabLst>
            </a:pPr>
            <a:r>
              <a:rPr lang="ar-EG" sz="2000" b="0" u="none" strike="noStrike">
                <a:solidFill>
                  <a:srgbClr val="2C2821"/>
                </a:solidFill>
                <a:effectLst/>
                <a:uFillTx/>
                <a:latin typeface="Amiri"/>
                <a:cs typeface="Amiri"/>
              </a:rPr>
              <a:t>إمكانية عرض وثائق </a:t>
            </a:r>
            <a:r>
              <a:rPr lang="en-US" sz="2000" b="0" u="none" strike="noStrike">
                <a:solidFill>
                  <a:srgbClr val="2C2821"/>
                </a:solidFill>
                <a:effectLst/>
                <a:uFillTx/>
                <a:latin typeface="Amiri"/>
                <a:ea typeface="Lora"/>
              </a:rPr>
              <a:t>PDF</a:t>
            </a:r>
            <a:r>
              <a:rPr lang="en-US" sz="2000" b="0" u="none" strike="noStrike">
                <a:solidFill>
                  <a:srgbClr val="2C2821"/>
                </a:solidFill>
                <a:effectLst/>
                <a:uFillTx/>
                <a:latin typeface="Amiri"/>
                <a:ea typeface="Lora"/>
              </a:rPr>
              <a:t> مباشرة دون الحاجة للتنزيل، مع خيارات البحث والتصفح</a:t>
            </a:r>
            <a:endParaRPr lang="en-US" sz="2000" b="0" u="none" strike="noStrike">
              <a:solidFill>
                <a:srgbClr val="000000"/>
              </a:solidFill>
              <a:effectLst/>
              <a:uFillTx/>
              <a:latin typeface="Arial"/>
            </a:endParaRPr>
          </a:p>
        </p:txBody>
      </p:sp>
      <p:pic>
        <p:nvPicPr>
          <p:cNvPr id="159" name="Picture 5"/>
          <p:cNvPicPr/>
          <p:nvPr/>
        </p:nvPicPr>
        <p:blipFill>
          <a:blip r:embed="rId9"/>
          <a:stretch/>
        </p:blipFill>
        <p:spPr>
          <a:xfrm>
            <a:off x="13257360" y="187920"/>
            <a:ext cx="780840" cy="710640"/>
          </a:xfrm>
          <a:prstGeom prst="rect">
            <a:avLst/>
          </a:prstGeom>
          <a:noFill/>
          <a:ln w="0">
            <a:noFill/>
          </a:ln>
        </p:spPr>
      </p:pic>
      <p:pic>
        <p:nvPicPr>
          <p:cNvPr id="160" name="Picture 7"/>
          <p:cNvPicPr/>
          <p:nvPr/>
        </p:nvPicPr>
        <p:blipFill>
          <a:blip r:embed="rId10"/>
          <a:stretch/>
        </p:blipFill>
        <p:spPr>
          <a:xfrm>
            <a:off x="313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1" name="Image 0" descr="preencoded.png"/>
          <p:cNvPicPr/>
          <p:nvPr/>
        </p:nvPicPr>
        <p:blipFill>
          <a:blip r:embed="rId1"/>
          <a:stretch/>
        </p:blipFill>
        <p:spPr>
          <a:xfrm>
            <a:off x="0" y="0"/>
            <a:ext cx="5484240" cy="8227440"/>
          </a:xfrm>
          <a:prstGeom prst="rect">
            <a:avLst/>
          </a:prstGeom>
          <a:noFill/>
          <a:ln w="0">
            <a:noFill/>
          </a:ln>
        </p:spPr>
      </p:pic>
      <p:sp>
        <p:nvSpPr>
          <p:cNvPr id="162" name="Text 0"/>
          <p:cNvSpPr/>
          <p:nvPr/>
        </p:nvSpPr>
        <p:spPr>
          <a:xfrm>
            <a:off x="8266320" y="773280"/>
            <a:ext cx="5580720" cy="695520"/>
          </a:xfrm>
          <a:prstGeom prst="rect">
            <a:avLst/>
          </a:prstGeom>
          <a:noFill/>
          <a:ln w="0">
            <a:noFill/>
          </a:ln>
        </p:spPr>
        <p:style>
          <a:lnRef idx="0"/>
          <a:fillRef idx="0"/>
          <a:effectRef idx="0"/>
          <a:fontRef idx="minor"/>
        </p:style>
        <p:txBody>
          <a:bodyPr wrap="none" lIns="0" tIns="0" rIns="0" bIns="0" anchor="t">
            <a:noAutofit/>
          </a:bodyPr>
          <a:p>
            <a:pPr algn="r" rtl="1">
              <a:lnSpc>
                <a:spcPts val="5451"/>
              </a:lnSpc>
              <a:tabLst>
                <a:tab pos="0" algn="l"/>
              </a:tabLst>
            </a:pPr>
            <a:r>
              <a:rPr lang="ar-EG" sz="4350" b="0" u="none" strike="noStrike">
                <a:solidFill>
                  <a:srgbClr val="233E32"/>
                </a:solidFill>
                <a:effectLst/>
                <a:uFillTx/>
                <a:latin typeface="Amiri"/>
                <a:cs typeface="Amiri"/>
              </a:rPr>
              <a:t>التأثير المؤسسي الشامل</a:t>
            </a:r>
            <a:endParaRPr lang="en-US" sz="4350" b="0" u="none" strike="noStrike">
              <a:solidFill>
                <a:srgbClr val="000000"/>
              </a:solidFill>
              <a:effectLst/>
              <a:uFillTx/>
              <a:latin typeface="Arial"/>
            </a:endParaRPr>
          </a:p>
        </p:txBody>
      </p:sp>
      <p:pic>
        <p:nvPicPr>
          <p:cNvPr id="163" name="Image 1" descr="preencoded.png"/>
          <p:cNvPicPr/>
          <p:nvPr/>
        </p:nvPicPr>
        <p:blipFill>
          <a:blip r:embed="rId2"/>
          <a:stretch/>
        </p:blipFill>
        <p:spPr>
          <a:xfrm>
            <a:off x="12732480" y="1800720"/>
            <a:ext cx="1114200" cy="1634040"/>
          </a:xfrm>
          <a:prstGeom prst="rect">
            <a:avLst/>
          </a:prstGeom>
          <a:noFill/>
          <a:ln w="0">
            <a:noFill/>
          </a:ln>
        </p:spPr>
      </p:pic>
      <p:sp>
        <p:nvSpPr>
          <p:cNvPr id="164" name="Text 1"/>
          <p:cNvSpPr/>
          <p:nvPr/>
        </p:nvSpPr>
        <p:spPr>
          <a:xfrm>
            <a:off x="9721440" y="2023920"/>
            <a:ext cx="2789280" cy="346680"/>
          </a:xfrm>
          <a:prstGeom prst="rect">
            <a:avLst/>
          </a:prstGeom>
          <a:noFill/>
          <a:ln w="0">
            <a:noFill/>
          </a:ln>
        </p:spPr>
        <p:style>
          <a:lnRef idx="0"/>
          <a:fillRef idx="0"/>
          <a:effectRef idx="0"/>
          <a:fontRef idx="minor"/>
        </p:style>
        <p:txBody>
          <a:bodyPr wrap="none" lIns="0" tIns="0" rIns="0" bIns="0" anchor="t">
            <a:noAutofit/>
          </a:bodyPr>
          <a:p>
            <a:pPr algn="r" rtl="1">
              <a:lnSpc>
                <a:spcPts val="2701"/>
              </a:lnSpc>
              <a:tabLst>
                <a:tab pos="0" algn="l"/>
              </a:tabLst>
            </a:pPr>
            <a:r>
              <a:rPr lang="ar-EG" sz="2150" b="0" u="none" strike="noStrike">
                <a:solidFill>
                  <a:srgbClr val="2C2821"/>
                </a:solidFill>
                <a:effectLst/>
                <a:uFillTx/>
                <a:latin typeface="Amiri"/>
                <a:cs typeface="Amiri"/>
              </a:rPr>
              <a:t>تقليل التكاليف</a:t>
            </a:r>
            <a:endParaRPr lang="en-US" sz="2150" b="0" u="none" strike="noStrike">
              <a:solidFill>
                <a:srgbClr val="000000"/>
              </a:solidFill>
              <a:effectLst/>
              <a:uFillTx/>
              <a:latin typeface="Arial"/>
            </a:endParaRPr>
          </a:p>
        </p:txBody>
      </p:sp>
      <p:sp>
        <p:nvSpPr>
          <p:cNvPr id="165" name="Text 2"/>
          <p:cNvSpPr/>
          <p:nvPr/>
        </p:nvSpPr>
        <p:spPr>
          <a:xfrm>
            <a:off x="6267960" y="2504520"/>
            <a:ext cx="6242400" cy="707040"/>
          </a:xfrm>
          <a:prstGeom prst="rect">
            <a:avLst/>
          </a:prstGeom>
          <a:noFill/>
          <a:ln w="0">
            <a:noFill/>
          </a:ln>
        </p:spPr>
        <p:style>
          <a:lnRef idx="0"/>
          <a:fillRef idx="0"/>
          <a:effectRef idx="0"/>
          <a:fontRef idx="minor"/>
        </p:style>
        <p:txBody>
          <a:bodyPr lIns="0" tIns="0" rIns="0" bIns="0" anchor="t">
            <a:noAutofit/>
          </a:bodyPr>
          <a:p>
            <a:pPr algn="r" rtl="1">
              <a:lnSpc>
                <a:spcPts val="2750"/>
              </a:lnSpc>
              <a:tabLst>
                <a:tab pos="0" algn="l"/>
              </a:tabLst>
            </a:pPr>
            <a:r>
              <a:rPr lang="ar-EG" sz="1750" b="0" u="none" strike="noStrike">
                <a:solidFill>
                  <a:srgbClr val="2C2821"/>
                </a:solidFill>
                <a:effectLst/>
                <a:uFillTx/>
                <a:latin typeface="Amiri"/>
                <a:cs typeface="Amiri"/>
              </a:rPr>
              <a:t>خفض في تكاليف الصيانة والدعم الفني من خلال النظام المركزي المتكامل</a:t>
            </a:r>
            <a:endParaRPr lang="en-US" sz="1750" b="0" u="none" strike="noStrike">
              <a:solidFill>
                <a:srgbClr val="000000"/>
              </a:solidFill>
              <a:effectLst/>
              <a:uFillTx/>
              <a:latin typeface="Arial"/>
            </a:endParaRPr>
          </a:p>
        </p:txBody>
      </p:sp>
      <p:pic>
        <p:nvPicPr>
          <p:cNvPr id="166" name="Image 2" descr="preencoded.png"/>
          <p:cNvPicPr/>
          <p:nvPr/>
        </p:nvPicPr>
        <p:blipFill>
          <a:blip r:embed="rId3"/>
          <a:stretch/>
        </p:blipFill>
        <p:spPr>
          <a:xfrm>
            <a:off x="12732480" y="3436920"/>
            <a:ext cx="1114200" cy="1337760"/>
          </a:xfrm>
          <a:prstGeom prst="rect">
            <a:avLst/>
          </a:prstGeom>
          <a:noFill/>
          <a:ln w="0">
            <a:noFill/>
          </a:ln>
        </p:spPr>
      </p:pic>
      <p:sp>
        <p:nvSpPr>
          <p:cNvPr id="167" name="Text 3"/>
          <p:cNvSpPr/>
          <p:nvPr/>
        </p:nvSpPr>
        <p:spPr>
          <a:xfrm>
            <a:off x="9721440" y="3660120"/>
            <a:ext cx="2789280" cy="346680"/>
          </a:xfrm>
          <a:prstGeom prst="rect">
            <a:avLst/>
          </a:prstGeom>
          <a:noFill/>
          <a:ln w="0">
            <a:noFill/>
          </a:ln>
        </p:spPr>
        <p:style>
          <a:lnRef idx="0"/>
          <a:fillRef idx="0"/>
          <a:effectRef idx="0"/>
          <a:fontRef idx="minor"/>
        </p:style>
        <p:txBody>
          <a:bodyPr wrap="none" lIns="0" tIns="0" rIns="0" bIns="0" anchor="t">
            <a:noAutofit/>
          </a:bodyPr>
          <a:p>
            <a:pPr algn="r" rtl="1">
              <a:lnSpc>
                <a:spcPts val="2701"/>
              </a:lnSpc>
              <a:tabLst>
                <a:tab pos="0" algn="l"/>
              </a:tabLst>
            </a:pPr>
            <a:r>
              <a:rPr lang="ar-EG" sz="2150" b="0" u="none" strike="noStrike">
                <a:solidFill>
                  <a:srgbClr val="2C2821"/>
                </a:solidFill>
                <a:effectLst/>
                <a:uFillTx/>
                <a:latin typeface="Amiri"/>
                <a:cs typeface="Amiri"/>
              </a:rPr>
              <a:t>تحسين التحصيل</a:t>
            </a:r>
            <a:endParaRPr lang="en-US" sz="2150" b="0" u="none" strike="noStrike">
              <a:solidFill>
                <a:srgbClr val="000000"/>
              </a:solidFill>
              <a:effectLst/>
              <a:uFillTx/>
              <a:latin typeface="Arial"/>
            </a:endParaRPr>
          </a:p>
        </p:txBody>
      </p:sp>
      <p:sp>
        <p:nvSpPr>
          <p:cNvPr id="168" name="Text 4"/>
          <p:cNvSpPr/>
          <p:nvPr/>
        </p:nvSpPr>
        <p:spPr>
          <a:xfrm>
            <a:off x="6267960" y="4140720"/>
            <a:ext cx="6242400" cy="3524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1750" b="0" u="none" strike="noStrike">
                <a:solidFill>
                  <a:srgbClr val="2C2821"/>
                </a:solidFill>
                <a:effectLst/>
                <a:uFillTx/>
                <a:latin typeface="Amiri"/>
                <a:cs typeface="Amiri"/>
              </a:rPr>
              <a:t>زيادة في كفاءة عمليات التحصيل من خلال تحسين الوصول والتفاعل</a:t>
            </a:r>
            <a:endParaRPr lang="en-US" sz="1750" b="0" u="none" strike="noStrike">
              <a:solidFill>
                <a:srgbClr val="000000"/>
              </a:solidFill>
              <a:effectLst/>
              <a:uFillTx/>
              <a:latin typeface="Arial"/>
            </a:endParaRPr>
          </a:p>
        </p:txBody>
      </p:sp>
      <p:pic>
        <p:nvPicPr>
          <p:cNvPr id="169" name="Image 3" descr="preencoded.png"/>
          <p:cNvPicPr/>
          <p:nvPr/>
        </p:nvPicPr>
        <p:blipFill>
          <a:blip r:embed="rId4"/>
          <a:stretch/>
        </p:blipFill>
        <p:spPr>
          <a:xfrm>
            <a:off x="12732480" y="4776840"/>
            <a:ext cx="1114200" cy="1337760"/>
          </a:xfrm>
          <a:prstGeom prst="rect">
            <a:avLst/>
          </a:prstGeom>
          <a:noFill/>
          <a:ln w="0">
            <a:noFill/>
          </a:ln>
        </p:spPr>
      </p:pic>
      <p:sp>
        <p:nvSpPr>
          <p:cNvPr id="170" name="Text 5"/>
          <p:cNvSpPr/>
          <p:nvPr/>
        </p:nvSpPr>
        <p:spPr>
          <a:xfrm>
            <a:off x="9721440" y="5000040"/>
            <a:ext cx="2789280" cy="346680"/>
          </a:xfrm>
          <a:prstGeom prst="rect">
            <a:avLst/>
          </a:prstGeom>
          <a:noFill/>
          <a:ln w="0">
            <a:noFill/>
          </a:ln>
        </p:spPr>
        <p:style>
          <a:lnRef idx="0"/>
          <a:fillRef idx="0"/>
          <a:effectRef idx="0"/>
          <a:fontRef idx="minor"/>
        </p:style>
        <p:txBody>
          <a:bodyPr wrap="none" lIns="0" tIns="0" rIns="0" bIns="0" anchor="t">
            <a:noAutofit/>
          </a:bodyPr>
          <a:p>
            <a:pPr algn="r" rtl="1">
              <a:lnSpc>
                <a:spcPts val="2701"/>
              </a:lnSpc>
              <a:tabLst>
                <a:tab pos="0" algn="l"/>
              </a:tabLst>
            </a:pPr>
            <a:r>
              <a:rPr lang="ar-EG" sz="2150" b="0" u="none" strike="noStrike">
                <a:solidFill>
                  <a:srgbClr val="2C2821"/>
                </a:solidFill>
                <a:effectLst/>
                <a:uFillTx/>
                <a:latin typeface="Amiri"/>
                <a:cs typeface="Amiri"/>
              </a:rPr>
              <a:t>رفع الكفاءة</a:t>
            </a:r>
            <a:endParaRPr lang="en-US" sz="2150" b="0" u="none" strike="noStrike">
              <a:solidFill>
                <a:srgbClr val="000000"/>
              </a:solidFill>
              <a:effectLst/>
              <a:uFillTx/>
              <a:latin typeface="Arial"/>
            </a:endParaRPr>
          </a:p>
        </p:txBody>
      </p:sp>
      <p:sp>
        <p:nvSpPr>
          <p:cNvPr id="171" name="Text 6"/>
          <p:cNvSpPr/>
          <p:nvPr/>
        </p:nvSpPr>
        <p:spPr>
          <a:xfrm>
            <a:off x="6267960" y="5480640"/>
            <a:ext cx="6242400" cy="3524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1750" b="0" u="none" strike="noStrike">
                <a:solidFill>
                  <a:srgbClr val="2C2821"/>
                </a:solidFill>
                <a:effectLst/>
                <a:uFillTx/>
                <a:latin typeface="Amiri"/>
                <a:cs typeface="Amiri"/>
              </a:rPr>
              <a:t>تحسين في كفاءة الخدمات المقدمة وتقليل الوقت المستغرق للعمليات</a:t>
            </a:r>
            <a:endParaRPr lang="en-US" sz="1750" b="0" u="none" strike="noStrike">
              <a:solidFill>
                <a:srgbClr val="000000"/>
              </a:solidFill>
              <a:effectLst/>
              <a:uFillTx/>
              <a:latin typeface="Arial"/>
            </a:endParaRPr>
          </a:p>
        </p:txBody>
      </p:sp>
      <p:pic>
        <p:nvPicPr>
          <p:cNvPr id="172" name="Image 4" descr="preencoded.png"/>
          <p:cNvPicPr/>
          <p:nvPr/>
        </p:nvPicPr>
        <p:blipFill>
          <a:blip r:embed="rId5"/>
          <a:stretch/>
        </p:blipFill>
        <p:spPr>
          <a:xfrm>
            <a:off x="12732480" y="6116760"/>
            <a:ext cx="1114200" cy="1337760"/>
          </a:xfrm>
          <a:prstGeom prst="rect">
            <a:avLst/>
          </a:prstGeom>
          <a:noFill/>
          <a:ln w="0">
            <a:noFill/>
          </a:ln>
        </p:spPr>
      </p:pic>
      <p:sp>
        <p:nvSpPr>
          <p:cNvPr id="173" name="Text 7"/>
          <p:cNvSpPr/>
          <p:nvPr/>
        </p:nvSpPr>
        <p:spPr>
          <a:xfrm>
            <a:off x="9721440" y="6339960"/>
            <a:ext cx="2789280" cy="346680"/>
          </a:xfrm>
          <a:prstGeom prst="rect">
            <a:avLst/>
          </a:prstGeom>
          <a:noFill/>
          <a:ln w="0">
            <a:noFill/>
          </a:ln>
        </p:spPr>
        <p:style>
          <a:lnRef idx="0"/>
          <a:fillRef idx="0"/>
          <a:effectRef idx="0"/>
          <a:fontRef idx="minor"/>
        </p:style>
        <p:txBody>
          <a:bodyPr wrap="none" lIns="0" tIns="0" rIns="0" bIns="0" anchor="t">
            <a:noAutofit/>
          </a:bodyPr>
          <a:p>
            <a:pPr algn="r" rtl="1">
              <a:lnSpc>
                <a:spcPts val="2701"/>
              </a:lnSpc>
              <a:tabLst>
                <a:tab pos="0" algn="l"/>
              </a:tabLst>
            </a:pPr>
            <a:r>
              <a:rPr lang="ar-EG" sz="2150" b="0" u="none" strike="noStrike">
                <a:solidFill>
                  <a:srgbClr val="2C2821"/>
                </a:solidFill>
                <a:effectLst/>
                <a:uFillTx/>
                <a:latin typeface="Amiri"/>
                <a:cs typeface="Amiri"/>
              </a:rPr>
              <a:t>تحسين الصورة</a:t>
            </a:r>
            <a:endParaRPr lang="en-US" sz="2150" b="0" u="none" strike="noStrike">
              <a:solidFill>
                <a:srgbClr val="000000"/>
              </a:solidFill>
              <a:effectLst/>
              <a:uFillTx/>
              <a:latin typeface="Arial"/>
            </a:endParaRPr>
          </a:p>
        </p:txBody>
      </p:sp>
      <p:sp>
        <p:nvSpPr>
          <p:cNvPr id="174" name="Text 8"/>
          <p:cNvSpPr/>
          <p:nvPr/>
        </p:nvSpPr>
        <p:spPr>
          <a:xfrm>
            <a:off x="6267960" y="6820560"/>
            <a:ext cx="6242400" cy="352440"/>
          </a:xfrm>
          <a:prstGeom prst="rect">
            <a:avLst/>
          </a:prstGeom>
          <a:noFill/>
          <a:ln w="0">
            <a:noFill/>
          </a:ln>
        </p:spPr>
        <p:style>
          <a:lnRef idx="0"/>
          <a:fillRef idx="0"/>
          <a:effectRef idx="0"/>
          <a:fontRef idx="minor"/>
        </p:style>
        <p:txBody>
          <a:bodyPr wrap="none" lIns="0" tIns="0" rIns="0" bIns="0" anchor="t">
            <a:noAutofit/>
          </a:bodyPr>
          <a:p>
            <a:pPr algn="r" rtl="1">
              <a:lnSpc>
                <a:spcPts val="2750"/>
              </a:lnSpc>
              <a:tabLst>
                <a:tab pos="0" algn="l"/>
              </a:tabLst>
            </a:pPr>
            <a:r>
              <a:rPr lang="ar-EG" sz="1750" b="0" u="none" strike="noStrike">
                <a:solidFill>
                  <a:srgbClr val="2C2821"/>
                </a:solidFill>
                <a:effectLst/>
                <a:uFillTx/>
                <a:latin typeface="Amiri"/>
                <a:cs typeface="Amiri"/>
              </a:rPr>
              <a:t>تعزيز الصورة الذهنية للمؤسسة من خلال الحضور الرقمي الحديث</a:t>
            </a:r>
            <a:endParaRPr lang="en-US" sz="1750" b="0" u="none" strike="noStrike">
              <a:solidFill>
                <a:srgbClr val="000000"/>
              </a:solidFill>
              <a:effectLst/>
              <a:uFillTx/>
              <a:latin typeface="Arial"/>
            </a:endParaRPr>
          </a:p>
        </p:txBody>
      </p:sp>
      <p:pic>
        <p:nvPicPr>
          <p:cNvPr id="175" name="Picture 8"/>
          <p:cNvPicPr/>
          <p:nvPr/>
        </p:nvPicPr>
        <p:blipFill>
          <a:blip r:embed="rId6"/>
          <a:stretch/>
        </p:blipFill>
        <p:spPr>
          <a:xfrm>
            <a:off x="13257360" y="79920"/>
            <a:ext cx="780840" cy="710640"/>
          </a:xfrm>
          <a:prstGeom prst="rect">
            <a:avLst/>
          </a:prstGeom>
          <a:noFill/>
          <a:ln w="0">
            <a:noFill/>
          </a:ln>
        </p:spPr>
      </p:pic>
      <p:pic>
        <p:nvPicPr>
          <p:cNvPr id="176" name="Picture 10"/>
          <p:cNvPicPr/>
          <p:nvPr/>
        </p:nvPicPr>
        <p:blipFill>
          <a:blip r:embed="rId7"/>
          <a:stretch/>
        </p:blipFill>
        <p:spPr>
          <a:xfrm>
            <a:off x="313200" y="149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Image 0" descr="preencoded.png"/>
          <p:cNvPicPr/>
          <p:nvPr/>
        </p:nvPicPr>
        <p:blipFill>
          <a:blip r:embed="rId1"/>
          <a:stretch/>
        </p:blipFill>
        <p:spPr>
          <a:xfrm>
            <a:off x="9144000" y="0"/>
            <a:ext cx="5484240" cy="8227440"/>
          </a:xfrm>
          <a:prstGeom prst="rect">
            <a:avLst/>
          </a:prstGeom>
          <a:noFill/>
          <a:ln w="0">
            <a:noFill/>
          </a:ln>
        </p:spPr>
      </p:pic>
      <p:sp>
        <p:nvSpPr>
          <p:cNvPr id="178" name="Text 0"/>
          <p:cNvSpPr/>
          <p:nvPr/>
        </p:nvSpPr>
        <p:spPr>
          <a:xfrm>
            <a:off x="793800" y="2926800"/>
            <a:ext cx="7554240" cy="1086480"/>
          </a:xfrm>
          <a:prstGeom prst="rect">
            <a:avLst/>
          </a:prstGeom>
          <a:noFill/>
          <a:ln w="0">
            <a:noFill/>
          </a:ln>
        </p:spPr>
        <p:style>
          <a:lnRef idx="0"/>
          <a:fillRef idx="0"/>
          <a:effectRef idx="0"/>
          <a:fontRef idx="minor"/>
        </p:style>
        <p:txBody>
          <a:bodyPr lIns="0" tIns="0" rIns="0" bIns="0" anchor="t">
            <a:noAutofit/>
          </a:bodyPr>
          <a:p>
            <a:pPr algn="r" rtl="1">
              <a:lnSpc>
                <a:spcPct val="150000"/>
              </a:lnSpc>
              <a:tabLst>
                <a:tab pos="0" algn="l"/>
              </a:tabLst>
            </a:pPr>
            <a:r>
              <a:rPr lang="ar-EG" sz="2400" b="0" u="none" strike="noStrike">
                <a:solidFill>
                  <a:srgbClr val="2C2821"/>
                </a:solidFill>
                <a:effectLst/>
                <a:uFillTx/>
                <a:latin typeface="Amiri"/>
                <a:cs typeface="Amiri"/>
              </a:rPr>
              <a:t>في عصرنا الحالي، أصبح التحول الرقمي عنصرًا حيويًا لاستدامة المؤسسات وتعزيز كفاءتها. هذا المشروع يمثل خطوة استباقية نحو مستقبل رقمي متكامل يخدم جميع المعنيين ويعزز من قدرة المؤسسة على تحقيق أهدافها الاستراتيجية</a:t>
            </a:r>
            <a:endParaRPr lang="en-US" sz="2400" b="0" u="none" strike="noStrike">
              <a:solidFill>
                <a:srgbClr val="000000"/>
              </a:solidFill>
              <a:effectLst/>
              <a:uFillTx/>
              <a:latin typeface="Arial"/>
            </a:endParaRPr>
          </a:p>
        </p:txBody>
      </p:sp>
      <p:sp>
        <p:nvSpPr>
          <p:cNvPr id="179" name="Text 1"/>
          <p:cNvSpPr/>
          <p:nvPr/>
        </p:nvSpPr>
        <p:spPr>
          <a:xfrm>
            <a:off x="793800" y="5497920"/>
            <a:ext cx="7214040" cy="723600"/>
          </a:xfrm>
          <a:prstGeom prst="rect">
            <a:avLst/>
          </a:prstGeom>
          <a:noFill/>
          <a:ln w="0">
            <a:noFill/>
          </a:ln>
        </p:spPr>
        <p:style>
          <a:lnRef idx="0"/>
          <a:fillRef idx="0"/>
          <a:effectRef idx="0"/>
          <a:fontRef idx="minor"/>
        </p:style>
        <p:txBody>
          <a:bodyPr lIns="0" tIns="0" rIns="0" bIns="0" anchor="t">
            <a:noAutofit/>
          </a:bodyPr>
          <a:p>
            <a:pPr algn="r" rtl="1">
              <a:lnSpc>
                <a:spcPct val="150000"/>
              </a:lnSpc>
              <a:tabLst>
                <a:tab pos="0" algn="l"/>
              </a:tabLst>
            </a:pPr>
            <a:r>
              <a:rPr lang="ar-EG" sz="2600" b="1" u="none" strike="noStrike">
                <a:solidFill>
                  <a:srgbClr val="2C2821"/>
                </a:solidFill>
                <a:effectLst/>
                <a:uFillTx/>
                <a:latin typeface="Amiri"/>
                <a:cs typeface="Amiri"/>
              </a:rPr>
              <a:t>الاستثمار في التحول الرقمي اليوم هو استثمار في مستقبل المؤسسة وتميزها في المستقبل</a:t>
            </a:r>
            <a:endParaRPr lang="en-US" sz="2600" b="0" u="none" strike="noStrike">
              <a:solidFill>
                <a:srgbClr val="000000"/>
              </a:solidFill>
              <a:effectLst/>
              <a:uFillTx/>
              <a:latin typeface="Arial"/>
            </a:endParaRPr>
          </a:p>
        </p:txBody>
      </p:sp>
      <p:sp>
        <p:nvSpPr>
          <p:cNvPr id="180" name="Shape 2"/>
          <p:cNvSpPr/>
          <p:nvPr/>
        </p:nvSpPr>
        <p:spPr>
          <a:xfrm>
            <a:off x="8319600" y="5638680"/>
            <a:ext cx="28440" cy="1234080"/>
          </a:xfrm>
          <a:prstGeom prst="rect">
            <a:avLst/>
          </a:prstGeom>
          <a:solidFill>
            <a:srgbClr val="729FCF"/>
          </a:solidFill>
          <a:ln w="0">
            <a:noFill/>
          </a:ln>
        </p:spPr>
        <p:style>
          <a:lnRef idx="0"/>
          <a:fillRef idx="0"/>
          <a:effectRef idx="0"/>
          <a:fontRef idx="minor"/>
        </p:style>
        <p:txBody>
          <a:bodyPr lIns="14400" tIns="45000" rIns="14400" bIns="45000" anchor="t">
            <a:noAutofit/>
          </a:bodyPr>
          <a:p>
            <a:endParaRPr lang="en-US" sz="1800" b="0" u="none" strike="noStrike">
              <a:solidFill>
                <a:srgbClr val="000000"/>
              </a:solidFill>
              <a:effectLst/>
              <a:uFillTx/>
              <a:latin typeface="Arial"/>
            </a:endParaRPr>
          </a:p>
        </p:txBody>
      </p:sp>
      <p:pic>
        <p:nvPicPr>
          <p:cNvPr id="181" name="Picture 12"/>
          <p:cNvPicPr/>
          <p:nvPr/>
        </p:nvPicPr>
        <p:blipFill>
          <a:blip r:embed="rId2"/>
          <a:stretch/>
        </p:blipFill>
        <p:spPr>
          <a:xfrm>
            <a:off x="7929360" y="187920"/>
            <a:ext cx="780840" cy="710640"/>
          </a:xfrm>
          <a:prstGeom prst="rect">
            <a:avLst/>
          </a:prstGeom>
          <a:noFill/>
          <a:ln w="0">
            <a:noFill/>
          </a:ln>
        </p:spPr>
      </p:pic>
      <p:pic>
        <p:nvPicPr>
          <p:cNvPr id="182" name="Picture 13"/>
          <p:cNvPicPr/>
          <p:nvPr/>
        </p:nvPicPr>
        <p:blipFill>
          <a:blip r:embed="rId3"/>
          <a:stretch/>
        </p:blipFill>
        <p:spPr>
          <a:xfrm>
            <a:off x="313200" y="25740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3" name="Picture 6"/>
          <p:cNvPicPr/>
          <p:nvPr/>
        </p:nvPicPr>
        <p:blipFill>
          <a:blip r:embed="rId1">
            <a:biLevel thresh="50000"/>
            <a:alphaModFix amt="50000"/>
          </a:blip>
        </p:blipFill>
        <p:spPr>
          <a:xfrm>
            <a:off x="1486440" y="3528000"/>
            <a:ext cx="3696480" cy="2752200"/>
          </a:xfrm>
          <a:prstGeom prst="rect">
            <a:avLst/>
          </a:prstGeom>
          <a:blipFill rotWithShape="0">
            <a:blip r:embed="rId2">
              <a:biLevel thresh="50000"/>
              <a:alphaModFix amt="50000"/>
            </a:blip>
            <a:tile tx="0" ty="0" sx="100000" sy="100000" algn="ctr"/>
          </a:blipFill>
          <a:ln w="0">
            <a:noFill/>
          </a:ln>
        </p:spPr>
      </p:pic>
      <p:sp>
        <p:nvSpPr>
          <p:cNvPr id="184" name="TextBox 11"/>
          <p:cNvSpPr/>
          <p:nvPr/>
        </p:nvSpPr>
        <p:spPr>
          <a:xfrm>
            <a:off x="1546200" y="3815280"/>
            <a:ext cx="4208760" cy="1362960"/>
          </a:xfrm>
          <a:prstGeom prst="rect">
            <a:avLst/>
          </a:prstGeom>
          <a:noFill/>
          <a:ln w="0">
            <a:noFill/>
          </a:ln>
        </p:spPr>
        <p:style>
          <a:lnRef idx="0"/>
          <a:fillRef idx="0"/>
          <a:effectRef idx="0"/>
          <a:fontRef idx="minor"/>
        </p:style>
        <p:txBody>
          <a:bodyPr lIns="0" tIns="0" rIns="0" bIns="0" anchor="t">
            <a:spAutoFit/>
          </a:bodyPr>
          <a:p>
            <a:pPr defTabSz="914400">
              <a:lnSpc>
                <a:spcPts val="10735"/>
              </a:lnSpc>
            </a:pPr>
            <a:r>
              <a:rPr lang="en-US" sz="5400" b="0" u="none" spc="-456" strike="noStrike">
                <a:solidFill>
                  <a:srgbClr val="00A933"/>
                </a:solidFill>
                <a:effectLst/>
                <a:uFillTx/>
                <a:latin typeface="Poppins ExtraBold"/>
                <a:ea typeface="DejaVu Sans"/>
              </a:rPr>
              <a:t>Thank You</a:t>
            </a:r>
            <a:endParaRPr lang="en-US" sz="5400" b="0" u="none" strike="noStrike">
              <a:solidFill>
                <a:srgbClr val="000000"/>
              </a:solidFill>
              <a:effectLst/>
              <a:uFillTx/>
              <a:latin typeface="Arial"/>
            </a:endParaRPr>
          </a:p>
        </p:txBody>
      </p:sp>
      <p:sp>
        <p:nvSpPr>
          <p:cNvPr id="185" name="TextBox 7"/>
          <p:cNvSpPr/>
          <p:nvPr/>
        </p:nvSpPr>
        <p:spPr>
          <a:xfrm>
            <a:off x="3816000" y="6660000"/>
            <a:ext cx="7007400" cy="8816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ar-EG" sz="2600" b="0" u="none" strike="noStrike">
                <a:solidFill>
                  <a:srgbClr val="0048CD"/>
                </a:solidFill>
                <a:effectLst/>
                <a:uFillTx/>
                <a:latin typeface="Amiri"/>
                <a:cs typeface="Amiri"/>
              </a:rPr>
              <a:t>مع تحيات الإدارة العامة لتكنولوجيا المعلومات والتحول الرقمى بشركة مياه الشرب والصرف الصحى بأسيوط والوادى الجديد</a:t>
            </a:r>
            <a:endParaRPr lang="en-US" sz="2600" b="0" u="none" strike="noStrike">
              <a:solidFill>
                <a:srgbClr val="000000"/>
              </a:solidFill>
              <a:effectLst/>
              <a:uFillTx/>
              <a:latin typeface="Arial"/>
            </a:endParaRPr>
          </a:p>
        </p:txBody>
      </p:sp>
      <p:grpSp>
        <p:nvGrpSpPr>
          <p:cNvPr id="186" name="Group 15"/>
          <p:cNvGrpSpPr/>
          <p:nvPr/>
        </p:nvGrpSpPr>
        <p:grpSpPr>
          <a:xfrm>
            <a:off x="10743840" y="3589920"/>
            <a:ext cx="2430360" cy="2164320"/>
            <a:chOff x="10743840" y="3589920"/>
            <a:chExt cx="2430360" cy="2164320"/>
          </a:xfrm>
        </p:grpSpPr>
        <p:sp>
          <p:nvSpPr>
            <p:cNvPr id="187" name="Freeform 8"/>
            <p:cNvSpPr/>
            <p:nvPr/>
          </p:nvSpPr>
          <p:spPr>
            <a:xfrm>
              <a:off x="10743840" y="3646440"/>
              <a:ext cx="2430360" cy="2107800"/>
            </a:xfrm>
            <a:custGeom>
              <a:avLst/>
              <a:gdLst>
                <a:gd name="textAreaLeft" fmla="*/ 0 w 2430360"/>
                <a:gd name="textAreaRight" fmla="*/ 2433240 w 2430360"/>
                <a:gd name="textAreaTop" fmla="*/ 0 h 2107800"/>
                <a:gd name="textAreaBottom" fmla="*/ 2110680 h 2107800"/>
              </a:gdLst>
              <a:ahLst/>
              <a:cxnLst/>
              <a:rect l="textAreaLeft" t="textAreaTop" r="textAreaRight" b="textAreaBottom"/>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5C7FB"/>
            </a:solidFill>
            <a:ln w="0">
              <a:noFill/>
            </a:ln>
          </p:spPr>
          <p:style>
            <a:lnRef idx="0"/>
            <a:fillRef idx="0"/>
            <a:effectRef idx="0"/>
            <a:fontRef idx="minor"/>
          </p:style>
          <p:txBody>
            <a:bodyPr lIns="90000" tIns="45000" rIns="90000" bIns="45000" anchor="t">
              <a:noAutofit/>
            </a:bodyPr>
            <a:p>
              <a:pPr defTabSz="914400">
                <a:lnSpc>
                  <a:spcPct val="100000"/>
                </a:lnSpc>
              </a:pPr>
              <a:endParaRPr lang="en-US" sz="1800" b="0" u="none" strike="noStrike">
                <a:solidFill>
                  <a:srgbClr val="000000"/>
                </a:solidFill>
                <a:effectLst/>
                <a:uFillTx/>
                <a:latin typeface="Arial"/>
              </a:endParaRPr>
            </a:p>
            <a:p>
              <a:pPr algn="ctr" defTabSz="914400" rtl="1">
                <a:lnSpc>
                  <a:spcPct val="100000"/>
                </a:lnSpc>
              </a:pPr>
              <a:endParaRPr lang="en-US" sz="2200" b="0" u="none" strike="noStrike">
                <a:solidFill>
                  <a:srgbClr val="000000"/>
                </a:solidFill>
                <a:effectLst/>
                <a:uFillTx/>
                <a:latin typeface="Arial"/>
              </a:endParaRPr>
            </a:p>
            <a:p>
              <a:pPr defTabSz="914400" rtl="1">
                <a:lnSpc>
                  <a:spcPct val="100000"/>
                </a:lnSpc>
              </a:pPr>
              <a:endParaRPr lang="en-US" sz="1800" b="0" u="none" strike="noStrike">
                <a:solidFill>
                  <a:srgbClr val="000000"/>
                </a:solidFill>
                <a:effectLst/>
                <a:uFillTx/>
                <a:latin typeface="Arial"/>
              </a:endParaRPr>
            </a:p>
          </p:txBody>
        </p:sp>
        <p:sp>
          <p:nvSpPr>
            <p:cNvPr id="188" name="TextBox 4"/>
            <p:cNvSpPr/>
            <p:nvPr/>
          </p:nvSpPr>
          <p:spPr>
            <a:xfrm>
              <a:off x="10947600" y="3589920"/>
              <a:ext cx="2002320" cy="1673280"/>
            </a:xfrm>
            <a:prstGeom prst="rect">
              <a:avLst/>
            </a:prstGeom>
            <a:noFill/>
            <a:ln w="0">
              <a:noFill/>
            </a:ln>
          </p:spPr>
          <p:style>
            <a:lnRef idx="0"/>
            <a:fillRef idx="0"/>
            <a:effectRef idx="0"/>
            <a:fontRef idx="minor"/>
          </p:style>
          <p:txBody>
            <a:bodyPr wrap="none" lIns="90000" tIns="45000" rIns="90000" bIns="45000" anchor="ctr">
              <a:spAutoFit/>
            </a:bodyPr>
            <a:p>
              <a:pPr algn="ctr" defTabSz="914400">
                <a:lnSpc>
                  <a:spcPct val="200000"/>
                </a:lnSpc>
              </a:pPr>
              <a:r>
                <a:rPr lang="ar-EG" sz="2600" b="1" u="none" strike="noStrike">
                  <a:solidFill>
                    <a:srgbClr val="443205"/>
                  </a:solidFill>
                  <a:effectLst/>
                  <a:highlight>
                    <a:srgbClr val="FFFFFF"/>
                  </a:highlight>
                  <a:uFillTx/>
                  <a:latin typeface="Alexandria"/>
                  <a:cs typeface="Alexandria"/>
                </a:rPr>
                <a:t>الاسئلة</a:t>
              </a:r>
              <a:r>
                <a:rPr lang="en-US" sz="2600" b="1" u="none" strike="noStrike">
                  <a:solidFill>
                    <a:srgbClr val="443205"/>
                  </a:solidFill>
                  <a:effectLst/>
                  <a:highlight>
                    <a:srgbClr val="FFFFFF"/>
                  </a:highlight>
                  <a:uFillTx/>
                  <a:latin typeface="Alexandria"/>
                  <a:ea typeface="DejaVu Sans"/>
                </a:rPr>
                <a:t> </a:t>
              </a:r>
              <a:endParaRPr lang="en-US" sz="2600" b="0" u="none" strike="noStrike">
                <a:solidFill>
                  <a:srgbClr val="000000"/>
                </a:solidFill>
                <a:effectLst/>
                <a:uFillTx/>
                <a:latin typeface="Arial"/>
              </a:endParaRPr>
            </a:p>
            <a:p>
              <a:pPr algn="ctr" defTabSz="914400">
                <a:lnSpc>
                  <a:spcPct val="200000"/>
                </a:lnSpc>
              </a:pPr>
              <a:r>
                <a:rPr lang="ar-EG" sz="2600" b="1" u="none" strike="noStrike">
                  <a:solidFill>
                    <a:srgbClr val="1E3A5F"/>
                  </a:solidFill>
                  <a:effectLst/>
                  <a:highlight>
                    <a:srgbClr val="FFFFFF"/>
                  </a:highlight>
                  <a:uFillTx/>
                  <a:latin typeface="Alexandria"/>
                  <a:cs typeface="Alexandria"/>
                </a:rPr>
                <a:t>والمناقشات</a:t>
              </a:r>
              <a:endParaRPr lang="en-US" sz="2600" b="0" u="none" strike="noStrike">
                <a:solidFill>
                  <a:srgbClr val="000000"/>
                </a:solidFill>
                <a:effectLst/>
                <a:uFillTx/>
                <a:latin typeface="Arial"/>
              </a:endParaRPr>
            </a:p>
          </p:txBody>
        </p:sp>
      </p:grpSp>
      <p:sp>
        <p:nvSpPr>
          <p:cNvPr id="189" name="TextBox 5"/>
          <p:cNvSpPr/>
          <p:nvPr/>
        </p:nvSpPr>
        <p:spPr>
          <a:xfrm>
            <a:off x="5004000" y="1080000"/>
            <a:ext cx="4645440" cy="609480"/>
          </a:xfrm>
          <a:prstGeom prst="rect">
            <a:avLst/>
          </a:prstGeom>
          <a:noFill/>
          <a:ln w="0">
            <a:solidFill>
              <a:srgbClr val="B5B5B5"/>
            </a:solidFill>
            <a:prstDash val="dash"/>
          </a:ln>
        </p:spPr>
        <p:style>
          <a:lnRef idx="0"/>
          <a:fillRef idx="0"/>
          <a:effectRef idx="0"/>
          <a:fontRef idx="minor"/>
        </p:style>
        <p:txBody>
          <a:bodyPr lIns="0" tIns="0" rIns="0" bIns="0" anchor="t">
            <a:spAutoFit/>
          </a:bodyPr>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a:t>
            </a:r>
            <a:r>
              <a:rPr lang="en-US" sz="2000" b="1" u="none" strike="noStrike">
                <a:solidFill>
                  <a:srgbClr val="0048CD"/>
                </a:solidFill>
                <a:effectLst/>
                <a:uFillTx/>
                <a:latin typeface="Arial Rounded MT Bold"/>
                <a:ea typeface="DejaVu Sans"/>
              </a:rPr>
              <a:t> </a:t>
            </a:r>
            <a:endParaRPr lang="en-US" sz="2000" b="0" u="none" strike="noStrike">
              <a:solidFill>
                <a:srgbClr val="000000"/>
              </a:solidFill>
              <a:effectLst/>
              <a:uFillTx/>
              <a:latin typeface="Arial"/>
            </a:endParaRPr>
          </a:p>
        </p:txBody>
      </p:sp>
      <p:sp>
        <p:nvSpPr>
          <p:cNvPr id="190" name="TextBox 6"/>
          <p:cNvSpPr/>
          <p:nvPr/>
        </p:nvSpPr>
        <p:spPr>
          <a:xfrm>
            <a:off x="2196000" y="2160000"/>
            <a:ext cx="10174320" cy="10954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a:t>
            </a:r>
            <a:r>
              <a:rPr lang="en-US" sz="4800" b="1" u="none" strike="noStrike">
                <a:solidFill>
                  <a:srgbClr val="0048CD"/>
                </a:solidFill>
                <a:effectLst/>
                <a:uFillTx/>
                <a:latin typeface="Amiri"/>
                <a:ea typeface="DejaVu Sans"/>
              </a:rPr>
              <a:t>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191" name="Picture 3"/>
          <p:cNvPicPr/>
          <p:nvPr/>
        </p:nvPicPr>
        <p:blipFill>
          <a:blip r:embed="rId3"/>
          <a:stretch/>
        </p:blipFill>
        <p:spPr>
          <a:xfrm>
            <a:off x="13257360" y="187560"/>
            <a:ext cx="780840" cy="710640"/>
          </a:xfrm>
          <a:prstGeom prst="rect">
            <a:avLst/>
          </a:prstGeom>
          <a:noFill/>
          <a:ln w="0">
            <a:noFill/>
          </a:ln>
        </p:spPr>
      </p:pic>
      <p:pic>
        <p:nvPicPr>
          <p:cNvPr id="192" name="Picture 4"/>
          <p:cNvPicPr/>
          <p:nvPr/>
        </p:nvPicPr>
        <p:blipFill>
          <a:blip r:embed="rId4"/>
          <a:stretch/>
        </p:blipFill>
        <p:spPr>
          <a:xfrm>
            <a:off x="313200" y="257040"/>
            <a:ext cx="1045080" cy="7434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59</TotalTime>
  <Application>LibreOffice/26.2.2.2$Windows_X86_64 LibreOffice_project/1f77d10d6938fd34972958f64b2bcfa54f8b1ba5</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2026-03-28T16:17:59Z</dcterms:created>
  <dc:creator/>
  <dc:description/>
  <dc:language>ar-EG</dc:language>
  <cp:lastModifiedBy/>
  <dcterms:modified xsi:type="dcterms:W3CDTF">2026-03-29T21:13:47Z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